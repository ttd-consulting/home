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8" r:id="rId7"/>
    <p:sldId id="263" r:id="rId8"/>
    <p:sldId id="269"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4" autoAdjust="0"/>
    <p:restoredTop sz="87382" autoAdjust="0"/>
  </p:normalViewPr>
  <p:slideViewPr>
    <p:cSldViewPr snapToGrid="0">
      <p:cViewPr varScale="1">
        <p:scale>
          <a:sx n="84" d="100"/>
          <a:sy n="84" d="100"/>
        </p:scale>
        <p:origin x="1088" y="56"/>
      </p:cViewPr>
      <p:guideLst/>
    </p:cSldViewPr>
  </p:slideViewPr>
  <p:notesTextViewPr>
    <p:cViewPr>
      <p:scale>
        <a:sx n="1" d="1"/>
        <a:sy n="1" d="1"/>
      </p:scale>
      <p:origin x="0" y="-128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A5E8E-8205-4621-ACFE-68395A0DA0A2}" type="datetimeFigureOut">
              <a:rPr lang="en-ZA" smtClean="0"/>
              <a:t>2025/07/17</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12B91-E0CD-4A27-8E94-3FFCFB4FB363}" type="slidenum">
              <a:rPr lang="en-ZA" smtClean="0"/>
              <a:t>‹#›</a:t>
            </a:fld>
            <a:endParaRPr lang="en-ZA"/>
          </a:p>
        </p:txBody>
      </p:sp>
    </p:spTree>
    <p:extLst>
      <p:ext uri="{BB962C8B-B14F-4D97-AF65-F5344CB8AC3E}">
        <p14:creationId xmlns:p14="http://schemas.microsoft.com/office/powerpoint/2010/main" val="77034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Notes:</a:t>
            </a:r>
            <a:r>
              <a:rPr lang="en-US" dirty="0"/>
              <a:t> Welcome back to Week 2 of our internal learning series. Today we begin building a basic rule engine framework in code, starting with the structure of individual rules. We'll keep it simple, modular, and extensible.</a:t>
            </a:r>
          </a:p>
          <a:p>
            <a:endParaRPr lang="en-ZA" dirty="0"/>
          </a:p>
        </p:txBody>
      </p:sp>
      <p:sp>
        <p:nvSpPr>
          <p:cNvPr id="4" name="Slide Number Placeholder 3"/>
          <p:cNvSpPr>
            <a:spLocks noGrp="1"/>
          </p:cNvSpPr>
          <p:nvPr>
            <p:ph type="sldNum" sz="quarter" idx="5"/>
          </p:nvPr>
        </p:nvSpPr>
        <p:spPr/>
        <p:txBody>
          <a:bodyPr/>
          <a:lstStyle/>
          <a:p>
            <a:fld id="{B8212B91-E0CD-4A27-8E94-3FFCFB4FB363}" type="slidenum">
              <a:rPr lang="en-ZA" smtClean="0"/>
              <a:t>1</a:t>
            </a:fld>
            <a:endParaRPr lang="en-ZA"/>
          </a:p>
        </p:txBody>
      </p:sp>
    </p:spTree>
    <p:extLst>
      <p:ext uri="{BB962C8B-B14F-4D97-AF65-F5344CB8AC3E}">
        <p14:creationId xmlns:p14="http://schemas.microsoft.com/office/powerpoint/2010/main" val="3929235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Notes:</a:t>
            </a:r>
            <a:r>
              <a:rPr lang="en-US" dirty="0"/>
              <a:t> Remind the team that last week, we created testable individual rules like AgeUnder25Rule. This week, we’ll bundle those rules together, control how they're run, and keep track of what happened. This lays the foundation for a production-ready rule engine.</a:t>
            </a:r>
          </a:p>
        </p:txBody>
      </p:sp>
      <p:sp>
        <p:nvSpPr>
          <p:cNvPr id="4" name="Slide Number Placeholder 3"/>
          <p:cNvSpPr>
            <a:spLocks noGrp="1"/>
          </p:cNvSpPr>
          <p:nvPr>
            <p:ph type="sldNum" sz="quarter" idx="5"/>
          </p:nvPr>
        </p:nvSpPr>
        <p:spPr/>
        <p:txBody>
          <a:bodyPr/>
          <a:lstStyle/>
          <a:p>
            <a:fld id="{B8212B91-E0CD-4A27-8E94-3FFCFB4FB363}" type="slidenum">
              <a:rPr lang="en-ZA" smtClean="0"/>
              <a:t>2</a:t>
            </a:fld>
            <a:endParaRPr lang="en-ZA"/>
          </a:p>
        </p:txBody>
      </p:sp>
    </p:spTree>
    <p:extLst>
      <p:ext uri="{BB962C8B-B14F-4D97-AF65-F5344CB8AC3E}">
        <p14:creationId xmlns:p14="http://schemas.microsoft.com/office/powerpoint/2010/main" val="279587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E2E4-28F8-ADD3-DD24-DBEA5FE52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EC7AE-DD74-C484-DB2D-00559D0F3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57B24-29EA-4E97-C9B7-323D73FCE367}"/>
              </a:ext>
            </a:extLst>
          </p:cNvPr>
          <p:cNvSpPr>
            <a:spLocks noGrp="1"/>
          </p:cNvSpPr>
          <p:nvPr>
            <p:ph type="body" idx="1"/>
          </p:nvPr>
        </p:nvSpPr>
        <p:spPr/>
        <p:txBody>
          <a:bodyPr/>
          <a:lstStyle/>
          <a:p>
            <a:r>
              <a:rPr lang="en-US" b="1" dirty="0"/>
              <a:t>Slide Notes:</a:t>
            </a:r>
            <a:r>
              <a:rPr lang="en-US" dirty="0"/>
              <a:t> Execution modes give us control over how rules are evaluated.</a:t>
            </a:r>
          </a:p>
          <a:p>
            <a:r>
              <a:rPr lang="en-US" dirty="0" err="1"/>
              <a:t>AllPass</a:t>
            </a:r>
            <a:r>
              <a:rPr lang="en-US" dirty="0"/>
              <a:t> is useful when all validations must succeed.</a:t>
            </a:r>
          </a:p>
          <a:p>
            <a:r>
              <a:rPr lang="en-US" dirty="0" err="1"/>
              <a:t>FirstFail</a:t>
            </a:r>
            <a:r>
              <a:rPr lang="en-US" dirty="0"/>
              <a:t> is faster when one failure is enough to reject.</a:t>
            </a:r>
          </a:p>
          <a:p>
            <a:r>
              <a:rPr lang="en-US" dirty="0"/>
              <a:t>Scored is more flexible: maybe 3 out of 5 rules are enough to pass. Explain that these options can be adapted to different business cases.</a:t>
            </a:r>
          </a:p>
        </p:txBody>
      </p:sp>
      <p:sp>
        <p:nvSpPr>
          <p:cNvPr id="4" name="Slide Number Placeholder 3">
            <a:extLst>
              <a:ext uri="{FF2B5EF4-FFF2-40B4-BE49-F238E27FC236}">
                <a16:creationId xmlns:a16="http://schemas.microsoft.com/office/drawing/2014/main" id="{C1E74477-1EE3-5B35-CD19-11396B362C92}"/>
              </a:ext>
            </a:extLst>
          </p:cNvPr>
          <p:cNvSpPr>
            <a:spLocks noGrp="1"/>
          </p:cNvSpPr>
          <p:nvPr>
            <p:ph type="sldNum" sz="quarter" idx="5"/>
          </p:nvPr>
        </p:nvSpPr>
        <p:spPr/>
        <p:txBody>
          <a:bodyPr/>
          <a:lstStyle/>
          <a:p>
            <a:fld id="{B8212B91-E0CD-4A27-8E94-3FFCFB4FB363}" type="slidenum">
              <a:rPr lang="en-ZA" smtClean="0"/>
              <a:t>3</a:t>
            </a:fld>
            <a:endParaRPr lang="en-ZA"/>
          </a:p>
        </p:txBody>
      </p:sp>
    </p:spTree>
    <p:extLst>
      <p:ext uri="{BB962C8B-B14F-4D97-AF65-F5344CB8AC3E}">
        <p14:creationId xmlns:p14="http://schemas.microsoft.com/office/powerpoint/2010/main" val="285341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7F2D-099B-010F-23B4-34A6E86EB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91688-002C-DD1A-B948-7014D04F7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9BFDB-721C-CBFC-3382-AD25145BF94A}"/>
              </a:ext>
            </a:extLst>
          </p:cNvPr>
          <p:cNvSpPr>
            <a:spLocks noGrp="1"/>
          </p:cNvSpPr>
          <p:nvPr>
            <p:ph type="body" idx="1"/>
          </p:nvPr>
        </p:nvSpPr>
        <p:spPr/>
        <p:txBody>
          <a:bodyPr/>
          <a:lstStyle/>
          <a:p>
            <a:r>
              <a:rPr lang="en-US" b="1" dirty="0"/>
              <a:t>Slide Notes:</a:t>
            </a:r>
            <a:r>
              <a:rPr lang="en-US" dirty="0"/>
              <a:t> This fluent pattern lets us chain rule registration in a clean, readable way. It supports modular design and makes the code more expressive, especially in tests or configuration-based scenarios.</a:t>
            </a:r>
          </a:p>
        </p:txBody>
      </p:sp>
      <p:sp>
        <p:nvSpPr>
          <p:cNvPr id="4" name="Slide Number Placeholder 3">
            <a:extLst>
              <a:ext uri="{FF2B5EF4-FFF2-40B4-BE49-F238E27FC236}">
                <a16:creationId xmlns:a16="http://schemas.microsoft.com/office/drawing/2014/main" id="{2AAD47B5-5EF0-5279-0F41-03724FDC961B}"/>
              </a:ext>
            </a:extLst>
          </p:cNvPr>
          <p:cNvSpPr>
            <a:spLocks noGrp="1"/>
          </p:cNvSpPr>
          <p:nvPr>
            <p:ph type="sldNum" sz="quarter" idx="5"/>
          </p:nvPr>
        </p:nvSpPr>
        <p:spPr/>
        <p:txBody>
          <a:bodyPr/>
          <a:lstStyle/>
          <a:p>
            <a:fld id="{B8212B91-E0CD-4A27-8E94-3FFCFB4FB363}" type="slidenum">
              <a:rPr lang="en-ZA" smtClean="0"/>
              <a:t>4</a:t>
            </a:fld>
            <a:endParaRPr lang="en-ZA"/>
          </a:p>
        </p:txBody>
      </p:sp>
    </p:spTree>
    <p:extLst>
      <p:ext uri="{BB962C8B-B14F-4D97-AF65-F5344CB8AC3E}">
        <p14:creationId xmlns:p14="http://schemas.microsoft.com/office/powerpoint/2010/main" val="3141254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17198-D964-CC3C-EDB7-581CD778F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221EA-1306-3A2E-6814-12CB337D9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D1FCE-0B30-0159-96B9-46903B2615E5}"/>
              </a:ext>
            </a:extLst>
          </p:cNvPr>
          <p:cNvSpPr>
            <a:spLocks noGrp="1"/>
          </p:cNvSpPr>
          <p:nvPr>
            <p:ph type="body" idx="1"/>
          </p:nvPr>
        </p:nvSpPr>
        <p:spPr/>
        <p:txBody>
          <a:bodyPr/>
          <a:lstStyle/>
          <a:p>
            <a:r>
              <a:rPr lang="en-US" dirty="0"/>
              <a:t>Traceability is critical in regulated environments like insurance. It also helps during debugging. We'll record which rule was run, whether it passed, and what message it produced. These logs help us explain system decisions clearly.</a:t>
            </a:r>
          </a:p>
        </p:txBody>
      </p:sp>
      <p:sp>
        <p:nvSpPr>
          <p:cNvPr id="4" name="Slide Number Placeholder 3">
            <a:extLst>
              <a:ext uri="{FF2B5EF4-FFF2-40B4-BE49-F238E27FC236}">
                <a16:creationId xmlns:a16="http://schemas.microsoft.com/office/drawing/2014/main" id="{587E8817-F39E-3AE1-FAA1-2CA8424EA92B}"/>
              </a:ext>
            </a:extLst>
          </p:cNvPr>
          <p:cNvSpPr>
            <a:spLocks noGrp="1"/>
          </p:cNvSpPr>
          <p:nvPr>
            <p:ph type="sldNum" sz="quarter" idx="5"/>
          </p:nvPr>
        </p:nvSpPr>
        <p:spPr/>
        <p:txBody>
          <a:bodyPr/>
          <a:lstStyle/>
          <a:p>
            <a:fld id="{B8212B91-E0CD-4A27-8E94-3FFCFB4FB363}" type="slidenum">
              <a:rPr lang="en-ZA" smtClean="0"/>
              <a:t>5</a:t>
            </a:fld>
            <a:endParaRPr lang="en-ZA"/>
          </a:p>
        </p:txBody>
      </p:sp>
    </p:spTree>
    <p:extLst>
      <p:ext uri="{BB962C8B-B14F-4D97-AF65-F5344CB8AC3E}">
        <p14:creationId xmlns:p14="http://schemas.microsoft.com/office/powerpoint/2010/main" val="3060746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4CE6B-8AA9-3CA9-6A64-D3ACB2AEB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BDF00-AF6A-4ADB-B988-F94205A87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A9B8D6-FF14-0A9F-8BF7-512DFD283022}"/>
              </a:ext>
            </a:extLst>
          </p:cNvPr>
          <p:cNvSpPr>
            <a:spLocks noGrp="1"/>
          </p:cNvSpPr>
          <p:nvPr>
            <p:ph type="body" idx="1"/>
          </p:nvPr>
        </p:nvSpPr>
        <p:spPr/>
        <p:txBody>
          <a:bodyPr/>
          <a:lstStyle/>
          <a:p>
            <a:r>
              <a:rPr lang="en-US" b="1" dirty="0"/>
              <a:t>Slide Notes:</a:t>
            </a:r>
            <a:r>
              <a:rPr lang="en-US" dirty="0"/>
              <a:t> This model helps us store trace data for each rule that was evaluated. It's lightweight, simple, and can later be extended with more context like input values or severity.</a:t>
            </a:r>
          </a:p>
        </p:txBody>
      </p:sp>
      <p:sp>
        <p:nvSpPr>
          <p:cNvPr id="4" name="Slide Number Placeholder 3">
            <a:extLst>
              <a:ext uri="{FF2B5EF4-FFF2-40B4-BE49-F238E27FC236}">
                <a16:creationId xmlns:a16="http://schemas.microsoft.com/office/drawing/2014/main" id="{766E982F-A7C3-27D2-0B1D-80353EE57839}"/>
              </a:ext>
            </a:extLst>
          </p:cNvPr>
          <p:cNvSpPr>
            <a:spLocks noGrp="1"/>
          </p:cNvSpPr>
          <p:nvPr>
            <p:ph type="sldNum" sz="quarter" idx="5"/>
          </p:nvPr>
        </p:nvSpPr>
        <p:spPr/>
        <p:txBody>
          <a:bodyPr/>
          <a:lstStyle/>
          <a:p>
            <a:fld id="{B8212B91-E0CD-4A27-8E94-3FFCFB4FB363}" type="slidenum">
              <a:rPr lang="en-ZA" smtClean="0"/>
              <a:t>6</a:t>
            </a:fld>
            <a:endParaRPr lang="en-ZA"/>
          </a:p>
        </p:txBody>
      </p:sp>
    </p:spTree>
    <p:extLst>
      <p:ext uri="{BB962C8B-B14F-4D97-AF65-F5344CB8AC3E}">
        <p14:creationId xmlns:p14="http://schemas.microsoft.com/office/powerpoint/2010/main" val="1750220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7DDBB-0869-3A55-6954-22909F041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A5358-69A2-5E0D-9949-289F01DB8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78A1C-7BD3-8A65-3575-C2BB88B45ED0}"/>
              </a:ext>
            </a:extLst>
          </p:cNvPr>
          <p:cNvSpPr>
            <a:spLocks noGrp="1"/>
          </p:cNvSpPr>
          <p:nvPr>
            <p:ph type="body" idx="1"/>
          </p:nvPr>
        </p:nvSpPr>
        <p:spPr/>
        <p:txBody>
          <a:bodyPr/>
          <a:lstStyle/>
          <a:p>
            <a:r>
              <a:rPr lang="en-US" b="1" dirty="0"/>
              <a:t>Slide Notes:</a:t>
            </a:r>
            <a:r>
              <a:rPr lang="en-US" dirty="0"/>
              <a:t> Walk through the code in chunks. Highlight how mode selection changes the logic. Execution logs are recorded inside the loop. This structure makes the engine extensible and production-friendly.</a:t>
            </a:r>
          </a:p>
        </p:txBody>
      </p:sp>
      <p:sp>
        <p:nvSpPr>
          <p:cNvPr id="4" name="Slide Number Placeholder 3">
            <a:extLst>
              <a:ext uri="{FF2B5EF4-FFF2-40B4-BE49-F238E27FC236}">
                <a16:creationId xmlns:a16="http://schemas.microsoft.com/office/drawing/2014/main" id="{170291D3-8068-CCA4-30D7-5D2025BF2FAF}"/>
              </a:ext>
            </a:extLst>
          </p:cNvPr>
          <p:cNvSpPr>
            <a:spLocks noGrp="1"/>
          </p:cNvSpPr>
          <p:nvPr>
            <p:ph type="sldNum" sz="quarter" idx="5"/>
          </p:nvPr>
        </p:nvSpPr>
        <p:spPr/>
        <p:txBody>
          <a:bodyPr/>
          <a:lstStyle/>
          <a:p>
            <a:fld id="{B8212B91-E0CD-4A27-8E94-3FFCFB4FB363}" type="slidenum">
              <a:rPr lang="en-ZA" smtClean="0"/>
              <a:t>7</a:t>
            </a:fld>
            <a:endParaRPr lang="en-ZA"/>
          </a:p>
        </p:txBody>
      </p:sp>
    </p:spTree>
    <p:extLst>
      <p:ext uri="{BB962C8B-B14F-4D97-AF65-F5344CB8AC3E}">
        <p14:creationId xmlns:p14="http://schemas.microsoft.com/office/powerpoint/2010/main" val="1746401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EC7EC-162A-81EE-7FD8-58372D987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F0DB6-3EC7-7493-EBB1-65E95F427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2E8E36-EEDF-CC5C-D9AE-3017D4CCF14E}"/>
              </a:ext>
            </a:extLst>
          </p:cNvPr>
          <p:cNvSpPr>
            <a:spLocks noGrp="1"/>
          </p:cNvSpPr>
          <p:nvPr>
            <p:ph type="body" idx="1"/>
          </p:nvPr>
        </p:nvSpPr>
        <p:spPr/>
        <p:txBody>
          <a:bodyPr/>
          <a:lstStyle/>
          <a:p>
            <a:r>
              <a:rPr lang="en-US" b="1" dirty="0"/>
              <a:t>Strategy</a:t>
            </a:r>
          </a:p>
          <a:p>
            <a:r>
              <a:rPr lang="en-US" dirty="0"/>
              <a:t>“Each rule implements the same interface: </a:t>
            </a:r>
            <a:r>
              <a:rPr lang="en-US" dirty="0" err="1"/>
              <a:t>IRule</a:t>
            </a:r>
            <a:r>
              <a:rPr lang="en-US" dirty="0"/>
              <a:t>&lt;T&gt;.</a:t>
            </a:r>
            <a:br>
              <a:rPr lang="en-US" dirty="0"/>
            </a:br>
            <a:r>
              <a:rPr lang="en-US" dirty="0"/>
              <a:t>This lets the engine treat all rules the same way — it doesn’t care if it’s age, income, or smoker status.</a:t>
            </a:r>
            <a:br>
              <a:rPr lang="en-US" dirty="0"/>
            </a:br>
            <a:r>
              <a:rPr lang="en-US" dirty="0"/>
              <a:t>This gives us a clean separation of concerns and flexibility to swap rules without touching the engine.”</a:t>
            </a:r>
          </a:p>
          <a:p>
            <a:r>
              <a:rPr lang="en-US" b="1" dirty="0"/>
              <a:t>Specification</a:t>
            </a:r>
          </a:p>
          <a:p>
            <a:r>
              <a:rPr lang="en-US" dirty="0"/>
              <a:t>“Our rules are really specifications — each one defines a business condition.</a:t>
            </a:r>
            <a:br>
              <a:rPr lang="en-US" dirty="0"/>
            </a:br>
            <a:r>
              <a:rPr lang="en-US" dirty="0"/>
              <a:t>They're reusable and testable on their own, and we could even combine them in future using logic like AND/OR if needed.</a:t>
            </a:r>
            <a:br>
              <a:rPr lang="en-US" dirty="0"/>
            </a:br>
            <a:r>
              <a:rPr lang="en-US" dirty="0"/>
              <a:t>This aligns well with domain-driven design and business-focused rule expression.”</a:t>
            </a:r>
          </a:p>
          <a:p>
            <a:r>
              <a:rPr lang="en-US" b="1" dirty="0"/>
              <a:t>Fluent Builder</a:t>
            </a:r>
          </a:p>
          <a:p>
            <a:r>
              <a:rPr lang="en-US" dirty="0"/>
              <a:t>“When we set up the rules manually using .</a:t>
            </a:r>
            <a:r>
              <a:rPr lang="en-US" dirty="0" err="1"/>
              <a:t>AddRule</a:t>
            </a:r>
            <a:r>
              <a:rPr lang="en-US" dirty="0"/>
              <a:t>(), we’re using a fluent builder pattern.</a:t>
            </a:r>
            <a:br>
              <a:rPr lang="en-US" dirty="0"/>
            </a:br>
            <a:r>
              <a:rPr lang="en-US" dirty="0"/>
              <a:t>It improves readability and allows us to declaratively construct the rule pipeline — especially useful in tests or when building rule sets dynamically.”</a:t>
            </a:r>
          </a:p>
          <a:p>
            <a:r>
              <a:rPr lang="en-US" b="1" dirty="0"/>
              <a:t>Dependency Injection</a:t>
            </a:r>
          </a:p>
          <a:p>
            <a:r>
              <a:rPr lang="en-US" dirty="0"/>
              <a:t>“We’re using DI to inject all </a:t>
            </a:r>
            <a:r>
              <a:rPr lang="en-US" dirty="0" err="1"/>
              <a:t>IRule</a:t>
            </a:r>
            <a:r>
              <a:rPr lang="en-US" dirty="0"/>
              <a:t>&lt;T&gt; implementations into the engine.</a:t>
            </a:r>
            <a:br>
              <a:rPr lang="en-US" dirty="0"/>
            </a:br>
            <a:r>
              <a:rPr lang="en-US" dirty="0"/>
              <a:t>This removes the need for manual wiring and makes it easier to scale and test.</a:t>
            </a:r>
            <a:br>
              <a:rPr lang="en-US" dirty="0"/>
            </a:br>
            <a:r>
              <a:rPr lang="en-US" dirty="0"/>
              <a:t>If someone adds a new rule, they just register it in DI — no need to touch the engine or any other logic.”</a:t>
            </a:r>
          </a:p>
          <a:p>
            <a:r>
              <a:rPr lang="en-US" b="1" dirty="0"/>
              <a:t>Chain of Responsibility (loose)</a:t>
            </a:r>
          </a:p>
          <a:p>
            <a:r>
              <a:rPr lang="en-US" dirty="0"/>
              <a:t>“We don’t have strict handler chaining, but the engine loops through each rule in sequence.</a:t>
            </a:r>
            <a:br>
              <a:rPr lang="en-US" dirty="0"/>
            </a:br>
            <a:r>
              <a:rPr lang="en-US" dirty="0"/>
              <a:t>If we choose </a:t>
            </a:r>
            <a:r>
              <a:rPr lang="en-US" dirty="0" err="1"/>
              <a:t>ExecutionMode.FirstFail</a:t>
            </a:r>
            <a:r>
              <a:rPr lang="en-US" dirty="0"/>
              <a:t>, it mimics Chain of Responsibility — stopping at the first failure.</a:t>
            </a:r>
            <a:br>
              <a:rPr lang="en-US" dirty="0"/>
            </a:br>
            <a:r>
              <a:rPr lang="en-US" dirty="0"/>
              <a:t>Other modes like </a:t>
            </a:r>
            <a:r>
              <a:rPr lang="en-US" dirty="0" err="1"/>
              <a:t>AllPass</a:t>
            </a:r>
            <a:r>
              <a:rPr lang="en-US" dirty="0"/>
              <a:t> and Scored give us flexibility in how the ‘chain’ is processed.”</a:t>
            </a:r>
          </a:p>
          <a:p>
            <a:r>
              <a:rPr lang="en-US" b="1" dirty="0"/>
              <a:t>Command (implicit)</a:t>
            </a:r>
          </a:p>
          <a:p>
            <a:r>
              <a:rPr lang="en-US" dirty="0"/>
              <a:t>“Each rule evaluation is logged as a </a:t>
            </a:r>
            <a:r>
              <a:rPr lang="en-US" dirty="0" err="1"/>
              <a:t>RuleExecutionLog</a:t>
            </a:r>
            <a:r>
              <a:rPr lang="en-US" dirty="0"/>
              <a:t> object.</a:t>
            </a:r>
            <a:br>
              <a:rPr lang="en-US" dirty="0"/>
            </a:br>
            <a:r>
              <a:rPr lang="en-US" dirty="0"/>
              <a:t>This acts like a command record: it has the rule name, whether it passed, a message, and a timestamp.</a:t>
            </a:r>
            <a:br>
              <a:rPr lang="en-US" dirty="0"/>
            </a:br>
            <a:r>
              <a:rPr lang="en-US" dirty="0"/>
              <a:t>This is useful for debugging, auditing, or even explaining to business users why a decision was made.”</a:t>
            </a:r>
          </a:p>
        </p:txBody>
      </p:sp>
      <p:sp>
        <p:nvSpPr>
          <p:cNvPr id="4" name="Slide Number Placeholder 3">
            <a:extLst>
              <a:ext uri="{FF2B5EF4-FFF2-40B4-BE49-F238E27FC236}">
                <a16:creationId xmlns:a16="http://schemas.microsoft.com/office/drawing/2014/main" id="{6FE3A961-4928-A2A0-5CF1-62E485B45BE7}"/>
              </a:ext>
            </a:extLst>
          </p:cNvPr>
          <p:cNvSpPr>
            <a:spLocks noGrp="1"/>
          </p:cNvSpPr>
          <p:nvPr>
            <p:ph type="sldNum" sz="quarter" idx="5"/>
          </p:nvPr>
        </p:nvSpPr>
        <p:spPr/>
        <p:txBody>
          <a:bodyPr/>
          <a:lstStyle/>
          <a:p>
            <a:fld id="{B8212B91-E0CD-4A27-8E94-3FFCFB4FB363}" type="slidenum">
              <a:rPr lang="en-ZA" smtClean="0"/>
              <a:t>8</a:t>
            </a:fld>
            <a:endParaRPr lang="en-ZA"/>
          </a:p>
        </p:txBody>
      </p:sp>
    </p:spTree>
    <p:extLst>
      <p:ext uri="{BB962C8B-B14F-4D97-AF65-F5344CB8AC3E}">
        <p14:creationId xmlns:p14="http://schemas.microsoft.com/office/powerpoint/2010/main" val="2358230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E6810-EFB9-4555-717D-1893737A9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F6445-905C-7053-CBF1-E167857EB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21574-55CB-A89C-6DCB-FA8751CDF412}"/>
              </a:ext>
            </a:extLst>
          </p:cNvPr>
          <p:cNvSpPr>
            <a:spLocks noGrp="1"/>
          </p:cNvSpPr>
          <p:nvPr>
            <p:ph type="body" idx="1"/>
          </p:nvPr>
        </p:nvSpPr>
        <p:spPr/>
        <p:txBody>
          <a:bodyPr/>
          <a:lstStyle/>
          <a:p>
            <a:r>
              <a:rPr lang="en-US" b="1" dirty="0"/>
              <a:t>Slide Notes:</a:t>
            </a:r>
            <a:r>
              <a:rPr lang="en-US" dirty="0"/>
              <a:t> Summarize the leap made from isolated rules to a structured evaluation engine. Reiterate that the flexibility and traceability introduced this week are what make rule engines powerful and maintainable at scale.</a:t>
            </a:r>
          </a:p>
        </p:txBody>
      </p:sp>
      <p:sp>
        <p:nvSpPr>
          <p:cNvPr id="4" name="Slide Number Placeholder 3">
            <a:extLst>
              <a:ext uri="{FF2B5EF4-FFF2-40B4-BE49-F238E27FC236}">
                <a16:creationId xmlns:a16="http://schemas.microsoft.com/office/drawing/2014/main" id="{E4FE55B6-3492-7BC2-C2BA-4D2667D1FF2F}"/>
              </a:ext>
            </a:extLst>
          </p:cNvPr>
          <p:cNvSpPr>
            <a:spLocks noGrp="1"/>
          </p:cNvSpPr>
          <p:nvPr>
            <p:ph type="sldNum" sz="quarter" idx="5"/>
          </p:nvPr>
        </p:nvSpPr>
        <p:spPr/>
        <p:txBody>
          <a:bodyPr/>
          <a:lstStyle/>
          <a:p>
            <a:fld id="{B8212B91-E0CD-4A27-8E94-3FFCFB4FB363}" type="slidenum">
              <a:rPr lang="en-ZA" smtClean="0"/>
              <a:t>9</a:t>
            </a:fld>
            <a:endParaRPr lang="en-ZA"/>
          </a:p>
        </p:txBody>
      </p:sp>
    </p:spTree>
    <p:extLst>
      <p:ext uri="{BB962C8B-B14F-4D97-AF65-F5344CB8AC3E}">
        <p14:creationId xmlns:p14="http://schemas.microsoft.com/office/powerpoint/2010/main" val="3602742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7246D-AA53-489A-7521-C6DF8DBE8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3001E-0D17-93B5-CC24-D6F7AA654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32DA-FAB6-7441-639D-57F8DFDE7F35}"/>
              </a:ext>
            </a:extLst>
          </p:cNvPr>
          <p:cNvSpPr>
            <a:spLocks noGrp="1"/>
          </p:cNvSpPr>
          <p:nvPr>
            <p:ph type="body" idx="1"/>
          </p:nvPr>
        </p:nvSpPr>
        <p:spPr/>
        <p:txBody>
          <a:bodyPr/>
          <a:lstStyle/>
          <a:p>
            <a:r>
              <a:rPr lang="en-US" b="1" dirty="0"/>
              <a:t>Slide Notes:</a:t>
            </a:r>
            <a:r>
              <a:rPr lang="en-US" dirty="0"/>
              <a:t> Congratulate the group. Invite them to share their rules on Slack or GitHub. Suggest they try writing a "cover vs income" rule to prepare for combining logic next week.</a:t>
            </a:r>
          </a:p>
        </p:txBody>
      </p:sp>
      <p:sp>
        <p:nvSpPr>
          <p:cNvPr id="4" name="Slide Number Placeholder 3">
            <a:extLst>
              <a:ext uri="{FF2B5EF4-FFF2-40B4-BE49-F238E27FC236}">
                <a16:creationId xmlns:a16="http://schemas.microsoft.com/office/drawing/2014/main" id="{5AD9B320-2F99-C21B-DC4B-462EA0490117}"/>
              </a:ext>
            </a:extLst>
          </p:cNvPr>
          <p:cNvSpPr>
            <a:spLocks noGrp="1"/>
          </p:cNvSpPr>
          <p:nvPr>
            <p:ph type="sldNum" sz="quarter" idx="5"/>
          </p:nvPr>
        </p:nvSpPr>
        <p:spPr/>
        <p:txBody>
          <a:bodyPr/>
          <a:lstStyle/>
          <a:p>
            <a:fld id="{B8212B91-E0CD-4A27-8E94-3FFCFB4FB363}" type="slidenum">
              <a:rPr lang="en-ZA" smtClean="0"/>
              <a:t>10</a:t>
            </a:fld>
            <a:endParaRPr lang="en-ZA"/>
          </a:p>
        </p:txBody>
      </p:sp>
    </p:spTree>
    <p:extLst>
      <p:ext uri="{BB962C8B-B14F-4D97-AF65-F5344CB8AC3E}">
        <p14:creationId xmlns:p14="http://schemas.microsoft.com/office/powerpoint/2010/main" val="2065976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EC6B-51F4-4FF9-47C2-565FC50E5A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D979231B-DB68-CB14-4E16-A7EF202B0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B0C10DA5-D6F3-7578-2E72-3965043F5A5D}"/>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5" name="Footer Placeholder 4">
            <a:extLst>
              <a:ext uri="{FF2B5EF4-FFF2-40B4-BE49-F238E27FC236}">
                <a16:creationId xmlns:a16="http://schemas.microsoft.com/office/drawing/2014/main" id="{293BD34E-A9F1-77BD-44F5-8818770B6BD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E7F4395-185D-503B-7277-093D411D5D0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753737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D767-2B47-B282-A8B9-1F5E6964160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36C5871-97CC-F6B9-D959-C8DB66B94B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5131384-9E0B-55CC-56E7-7F4C3D2B7457}"/>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5" name="Footer Placeholder 4">
            <a:extLst>
              <a:ext uri="{FF2B5EF4-FFF2-40B4-BE49-F238E27FC236}">
                <a16:creationId xmlns:a16="http://schemas.microsoft.com/office/drawing/2014/main" id="{32890C63-8765-5319-BAB0-903EC275A39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887F71D-BB84-EE4C-BC9C-042F5651AB80}"/>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841708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E4A4-9C0F-29EC-4935-65F4167115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CF069B1-1F34-E629-5C9A-621EEA42BD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3E68CA-2DF5-9A0B-2EC5-6F4FB1C17E5C}"/>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5" name="Footer Placeholder 4">
            <a:extLst>
              <a:ext uri="{FF2B5EF4-FFF2-40B4-BE49-F238E27FC236}">
                <a16:creationId xmlns:a16="http://schemas.microsoft.com/office/drawing/2014/main" id="{242D83BC-BB2E-9230-4D43-BDC2ADEE96C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6E090AA-3974-9778-9BF6-D2DFC13481BB}"/>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369255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4727-80C2-BED7-C8D4-AEAEA844779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1BCE4CD0-7BD8-D1C4-8B1E-DE811BA11D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3EE87D7E-E8E5-5253-2A73-9607063585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D477266-2181-DA59-B14A-D01CB1659567}"/>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6" name="Footer Placeholder 5">
            <a:extLst>
              <a:ext uri="{FF2B5EF4-FFF2-40B4-BE49-F238E27FC236}">
                <a16:creationId xmlns:a16="http://schemas.microsoft.com/office/drawing/2014/main" id="{64A7795A-0AE7-FFE4-6224-73D4FB8886B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AF49741-CFB3-DB77-88F4-DED6635A8AAD}"/>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15781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52FC-CB4B-9CA1-68D0-D8527AC78780}"/>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35C2772-07E5-2ABF-8A41-2E3901F25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4444A3-7553-92CF-B0D3-F91CB46519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76C2217-21D6-176C-4864-E5F282DAB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B6A42B-F292-1689-AA7A-7585C7D8DE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95EB90E5-2DDB-D3DC-1E65-A0B75FCD1B85}"/>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8" name="Footer Placeholder 7">
            <a:extLst>
              <a:ext uri="{FF2B5EF4-FFF2-40B4-BE49-F238E27FC236}">
                <a16:creationId xmlns:a16="http://schemas.microsoft.com/office/drawing/2014/main" id="{5C776851-E153-0573-0579-5992BFFE5EC4}"/>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27141AD5-01CA-B5AA-56B3-27C0E3B1E862}"/>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289696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409D-B102-75AC-89F5-3CC282348267}"/>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C311B483-142A-40A5-6A3E-898810667210}"/>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4" name="Footer Placeholder 3">
            <a:extLst>
              <a:ext uri="{FF2B5EF4-FFF2-40B4-BE49-F238E27FC236}">
                <a16:creationId xmlns:a16="http://schemas.microsoft.com/office/drawing/2014/main" id="{E91FDABD-E7DF-E6DA-2D79-1E7AD21EE544}"/>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CC94D975-D1D0-74A6-E73F-CC233B37CA0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086888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044AA2-800A-8BAD-D379-03DC0F21C470}"/>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3" name="Footer Placeholder 2">
            <a:extLst>
              <a:ext uri="{FF2B5EF4-FFF2-40B4-BE49-F238E27FC236}">
                <a16:creationId xmlns:a16="http://schemas.microsoft.com/office/drawing/2014/main" id="{3183BC7E-212D-468F-EC74-16C538058B5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531A678-9598-7B12-6EF9-E6402DA4C5CD}"/>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356186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1B115-3753-9B70-1000-B0E3BA0D7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3F3BE9C-3C59-E0B4-ACE9-0933CB7461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D0962F6-AA24-DB8D-ACD8-68980426B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E8CFFE-3845-DCA9-EE47-705C065E1E5F}"/>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6" name="Footer Placeholder 5">
            <a:extLst>
              <a:ext uri="{FF2B5EF4-FFF2-40B4-BE49-F238E27FC236}">
                <a16:creationId xmlns:a16="http://schemas.microsoft.com/office/drawing/2014/main" id="{6665DC10-6B3F-F801-4823-9DC0433570C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AD75250-3DCC-75D5-5D6C-A4A93A27044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411968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02DB-D175-012C-D30B-E1E23FA7AA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F93B14E2-EF9B-F841-D3F1-ABCCE473BC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4A026016-0990-F592-1329-94D10BEDD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AC5CC-7A99-CDD9-8A80-BB30C9FDD6AA}"/>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6" name="Footer Placeholder 5">
            <a:extLst>
              <a:ext uri="{FF2B5EF4-FFF2-40B4-BE49-F238E27FC236}">
                <a16:creationId xmlns:a16="http://schemas.microsoft.com/office/drawing/2014/main" id="{56F668BB-AE8F-35EA-9EAB-F3C2CE0E2A4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659BD69-9A43-FB29-1FF9-E6ADA5C20B9E}"/>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8566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D91D-6FA8-B086-FAC9-D37B78CF60C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31AE85E3-0653-2F13-18DA-37E00B6A80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F4CBFF1-676D-A90A-5655-F014B6B563FC}"/>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5" name="Footer Placeholder 4">
            <a:extLst>
              <a:ext uri="{FF2B5EF4-FFF2-40B4-BE49-F238E27FC236}">
                <a16:creationId xmlns:a16="http://schemas.microsoft.com/office/drawing/2014/main" id="{F140DD1F-CAF5-CAF2-FCC0-7D29A277C66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6816151-6BB1-4A97-CE1F-39BDF2AEC9DF}"/>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78069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0E4AA-BA27-A354-9027-D8B84ED024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F15BDF4-E085-AAB4-4598-F30989F495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CB4D25C-2F6C-A3EF-0BEE-14F378288D18}"/>
              </a:ext>
            </a:extLst>
          </p:cNvPr>
          <p:cNvSpPr>
            <a:spLocks noGrp="1"/>
          </p:cNvSpPr>
          <p:nvPr>
            <p:ph type="dt" sz="half" idx="10"/>
          </p:nvPr>
        </p:nvSpPr>
        <p:spPr/>
        <p:txBody>
          <a:bodyPr/>
          <a:lstStyle/>
          <a:p>
            <a:fld id="{3B8C6FD3-9AEF-4591-AA33-12F3540D81C2}" type="datetimeFigureOut">
              <a:rPr lang="en-ZA" smtClean="0"/>
              <a:t>2025/07/17</a:t>
            </a:fld>
            <a:endParaRPr lang="en-ZA"/>
          </a:p>
        </p:txBody>
      </p:sp>
      <p:sp>
        <p:nvSpPr>
          <p:cNvPr id="5" name="Footer Placeholder 4">
            <a:extLst>
              <a:ext uri="{FF2B5EF4-FFF2-40B4-BE49-F238E27FC236}">
                <a16:creationId xmlns:a16="http://schemas.microsoft.com/office/drawing/2014/main" id="{02C14CC2-42E0-0E6A-2C49-08D8AD68A13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8CD19D3-2B19-A2F0-A925-00914345AF44}"/>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444121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608699-866E-CE2C-CB1C-234155D5D5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278DD56-2CB8-D24A-462F-F8B614A930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44AF630-9B69-1DE1-E313-F502CEF2AC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8C6FD3-9AEF-4591-AA33-12F3540D81C2}" type="datetimeFigureOut">
              <a:rPr lang="en-ZA" smtClean="0"/>
              <a:t>2025/07/17</a:t>
            </a:fld>
            <a:endParaRPr lang="en-ZA"/>
          </a:p>
        </p:txBody>
      </p:sp>
      <p:sp>
        <p:nvSpPr>
          <p:cNvPr id="5" name="Footer Placeholder 4">
            <a:extLst>
              <a:ext uri="{FF2B5EF4-FFF2-40B4-BE49-F238E27FC236}">
                <a16:creationId xmlns:a16="http://schemas.microsoft.com/office/drawing/2014/main" id="{1EAA3D92-27E5-2D80-6474-2C3609CA90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42237CB4-F86D-A0BA-3390-73157797A2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935617-4959-484E-BC71-FED80877E89F}" type="slidenum">
              <a:rPr lang="en-ZA" smtClean="0"/>
              <a:t>‹#›</a:t>
            </a:fld>
            <a:endParaRPr lang="en-ZA"/>
          </a:p>
        </p:txBody>
      </p:sp>
    </p:spTree>
    <p:extLst>
      <p:ext uri="{BB962C8B-B14F-4D97-AF65-F5344CB8AC3E}">
        <p14:creationId xmlns:p14="http://schemas.microsoft.com/office/powerpoint/2010/main" val="3688741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a white and yellow figure">
            <a:extLst>
              <a:ext uri="{FF2B5EF4-FFF2-40B4-BE49-F238E27FC236}">
                <a16:creationId xmlns:a16="http://schemas.microsoft.com/office/drawing/2014/main" id="{F3BE0D3B-FC64-310E-653C-F39820C85A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E66624A-B6AD-8129-7B6B-1843C085BA3A}"/>
              </a:ext>
            </a:extLst>
          </p:cNvPr>
          <p:cNvSpPr>
            <a:spLocks noGrp="1"/>
          </p:cNvSpPr>
          <p:nvPr>
            <p:ph type="ctrTitle"/>
          </p:nvPr>
        </p:nvSpPr>
        <p:spPr>
          <a:xfrm>
            <a:off x="82848" y="750890"/>
            <a:ext cx="12026303" cy="2306637"/>
          </a:xfrm>
        </p:spPr>
        <p:txBody>
          <a:bodyPr>
            <a:normAutofit/>
          </a:bodyPr>
          <a:lstStyle/>
          <a:p>
            <a:r>
              <a:rPr lang="en-US" sz="4800" dirty="0">
                <a:solidFill>
                  <a:schemeClr val="bg1"/>
                </a:solidFill>
                <a:latin typeface="Poppins" panose="00000500000000000000" pitchFamily="2" charset="0"/>
                <a:cs typeface="Poppins" panose="00000500000000000000" pitchFamily="2" charset="0"/>
              </a:rPr>
              <a:t>Executing, Combining &amp; Managing Rules</a:t>
            </a:r>
            <a:endParaRPr lang="en-ZA" sz="4800" dirty="0">
              <a:solidFill>
                <a:schemeClr val="bg1"/>
              </a:solidFill>
              <a:latin typeface="Poppins" panose="00000500000000000000" pitchFamily="2" charset="0"/>
              <a:cs typeface="Poppins" panose="00000500000000000000" pitchFamily="2" charset="0"/>
            </a:endParaRPr>
          </a:p>
        </p:txBody>
      </p:sp>
      <p:sp>
        <p:nvSpPr>
          <p:cNvPr id="3" name="Subtitle 2">
            <a:extLst>
              <a:ext uri="{FF2B5EF4-FFF2-40B4-BE49-F238E27FC236}">
                <a16:creationId xmlns:a16="http://schemas.microsoft.com/office/drawing/2014/main" id="{F3CC2D5F-E6E6-C6BB-3A84-004F82806BA0}"/>
              </a:ext>
            </a:extLst>
          </p:cNvPr>
          <p:cNvSpPr>
            <a:spLocks noGrp="1"/>
          </p:cNvSpPr>
          <p:nvPr>
            <p:ph type="subTitle" idx="1"/>
          </p:nvPr>
        </p:nvSpPr>
        <p:spPr>
          <a:xfrm>
            <a:off x="1679275" y="2976564"/>
            <a:ext cx="9144000" cy="1655762"/>
          </a:xfrm>
        </p:spPr>
        <p:txBody>
          <a:bodyPr/>
          <a:lstStyle/>
          <a:p>
            <a:r>
              <a:rPr lang="en-US" dirty="0">
                <a:solidFill>
                  <a:schemeClr val="bg1"/>
                </a:solidFill>
                <a:latin typeface="Poppins" panose="00000500000000000000" pitchFamily="2" charset="0"/>
                <a:cs typeface="Poppins" panose="00000500000000000000" pitchFamily="2" charset="0"/>
              </a:rPr>
              <a:t>Chaining, Grouping &amp; Executing Rules Dynamically</a:t>
            </a:r>
          </a:p>
        </p:txBody>
      </p:sp>
      <p:sp>
        <p:nvSpPr>
          <p:cNvPr id="4" name="TextBox 3">
            <a:extLst>
              <a:ext uri="{FF2B5EF4-FFF2-40B4-BE49-F238E27FC236}">
                <a16:creationId xmlns:a16="http://schemas.microsoft.com/office/drawing/2014/main" id="{F873CE58-2129-5518-7F9A-79256045C0F4}"/>
              </a:ext>
            </a:extLst>
          </p:cNvPr>
          <p:cNvSpPr txBox="1"/>
          <p:nvPr/>
        </p:nvSpPr>
        <p:spPr>
          <a:xfrm>
            <a:off x="203199" y="5040998"/>
            <a:ext cx="5172364" cy="646331"/>
          </a:xfrm>
          <a:prstGeom prst="rect">
            <a:avLst/>
          </a:prstGeom>
          <a:noFill/>
        </p:spPr>
        <p:txBody>
          <a:bodyPr wrap="square" rtlCol="0">
            <a:spAutoFit/>
          </a:bodyPr>
          <a:lstStyle/>
          <a:p>
            <a:r>
              <a:rPr lang="en-ZA" dirty="0">
                <a:solidFill>
                  <a:schemeClr val="bg1"/>
                </a:solidFill>
                <a:latin typeface="Poppins" panose="00000500000000000000" pitchFamily="2" charset="0"/>
                <a:cs typeface="Poppins" panose="00000500000000000000" pitchFamily="2" charset="0"/>
              </a:rPr>
              <a:t>Presented by: Treveshan Naidoo</a:t>
            </a:r>
          </a:p>
          <a:p>
            <a:r>
              <a:rPr lang="en-ZA" dirty="0">
                <a:solidFill>
                  <a:schemeClr val="bg1"/>
                </a:solidFill>
                <a:latin typeface="Poppins" panose="00000500000000000000" pitchFamily="2" charset="0"/>
                <a:cs typeface="Poppins" panose="00000500000000000000" pitchFamily="2" charset="0"/>
              </a:rPr>
              <a:t>TTD Consulting Internal Learning Series</a:t>
            </a:r>
          </a:p>
        </p:txBody>
      </p:sp>
    </p:spTree>
    <p:extLst>
      <p:ext uri="{BB962C8B-B14F-4D97-AF65-F5344CB8AC3E}">
        <p14:creationId xmlns:p14="http://schemas.microsoft.com/office/powerpoint/2010/main" val="3388848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047716FF-D1BD-070F-70DB-BAE97CACD19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65028"/>
            <a:ext cx="12307604" cy="6923027"/>
          </a:xfrm>
        </p:spPr>
      </p:pic>
      <p:sp>
        <p:nvSpPr>
          <p:cNvPr id="2" name="Title 1">
            <a:extLst>
              <a:ext uri="{FF2B5EF4-FFF2-40B4-BE49-F238E27FC236}">
                <a16:creationId xmlns:a16="http://schemas.microsoft.com/office/drawing/2014/main" id="{55613BBD-DD38-678C-3AD4-8B25D546ED41}"/>
              </a:ext>
            </a:extLst>
          </p:cNvPr>
          <p:cNvSpPr>
            <a:spLocks noGrp="1"/>
          </p:cNvSpPr>
          <p:nvPr>
            <p:ph type="title"/>
          </p:nvPr>
        </p:nvSpPr>
        <p:spPr/>
        <p:txBody>
          <a:bodyPr/>
          <a:lstStyle/>
          <a:p>
            <a:pPr algn="ctr"/>
            <a:r>
              <a:rPr lang="en-ZA" b="1" dirty="0">
                <a:solidFill>
                  <a:schemeClr val="bg1"/>
                </a:solidFill>
              </a:rPr>
              <a:t>Welcome</a:t>
            </a:r>
            <a:br>
              <a:rPr lang="en-ZA" dirty="0">
                <a:solidFill>
                  <a:schemeClr val="bg1"/>
                </a:solidFill>
              </a:rPr>
            </a:b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5B4022B9-C514-A496-F3BB-2CE6DB4BDB28}"/>
              </a:ext>
            </a:extLst>
          </p:cNvPr>
          <p:cNvSpPr txBox="1"/>
          <p:nvPr/>
        </p:nvSpPr>
        <p:spPr>
          <a:xfrm>
            <a:off x="1838036" y="1468582"/>
            <a:ext cx="8137236" cy="189539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Quick recap of Week 2</a:t>
            </a:r>
          </a:p>
          <a:p>
            <a:pPr marL="285750" indent="-28575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This week: Learn to group and dynamically execute rules</a:t>
            </a:r>
          </a:p>
          <a:p>
            <a:pPr marL="285750" indent="-28575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Goal: Build a flexible, injectable rule engine with execution modes</a:t>
            </a:r>
            <a:endParaRPr lang="en-ZA"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616994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ED7F-A8A6-79D1-04A3-34F95F11E97E}"/>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82B8C6FC-4673-453F-839C-9A8585DC4E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16177148-7AD3-5F9C-583F-FBBCEA2083A9}"/>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Rule Execution Modes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E6FED14A-E585-90EC-19CC-4C053F3E9BD9}"/>
              </a:ext>
            </a:extLst>
          </p:cNvPr>
          <p:cNvSpPr txBox="1"/>
          <p:nvPr/>
        </p:nvSpPr>
        <p:spPr>
          <a:xfrm>
            <a:off x="1832678" y="2109152"/>
            <a:ext cx="8137236" cy="235705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err="1">
                <a:solidFill>
                  <a:schemeClr val="bg1"/>
                </a:solidFill>
                <a:latin typeface="Poppins" panose="00000500000000000000" pitchFamily="2" charset="0"/>
                <a:cs typeface="Poppins" panose="00000500000000000000" pitchFamily="2" charset="0"/>
              </a:rPr>
              <a:t>AllPass</a:t>
            </a:r>
            <a:r>
              <a:rPr lang="en-US" sz="2000" dirty="0">
                <a:solidFill>
                  <a:schemeClr val="bg1"/>
                </a:solidFill>
                <a:latin typeface="Poppins" panose="00000500000000000000" pitchFamily="2" charset="0"/>
                <a:cs typeface="Poppins" panose="00000500000000000000" pitchFamily="2" charset="0"/>
              </a:rPr>
              <a:t>: All rules must pass</a:t>
            </a:r>
          </a:p>
          <a:p>
            <a:pPr marL="342900" indent="-342900">
              <a:lnSpc>
                <a:spcPct val="150000"/>
              </a:lnSpc>
              <a:buFont typeface="Arial" panose="020B0604020202020204" pitchFamily="34" charset="0"/>
              <a:buChar char="•"/>
            </a:pPr>
            <a:r>
              <a:rPr lang="en-US" sz="2000" b="1" dirty="0" err="1">
                <a:solidFill>
                  <a:schemeClr val="bg1"/>
                </a:solidFill>
                <a:latin typeface="Poppins" panose="00000500000000000000" pitchFamily="2" charset="0"/>
                <a:cs typeface="Poppins" panose="00000500000000000000" pitchFamily="2" charset="0"/>
              </a:rPr>
              <a:t>FirstFail</a:t>
            </a:r>
            <a:r>
              <a:rPr lang="en-US" sz="2000" dirty="0">
                <a:solidFill>
                  <a:schemeClr val="bg1"/>
                </a:solidFill>
                <a:latin typeface="Poppins" panose="00000500000000000000" pitchFamily="2" charset="0"/>
                <a:cs typeface="Poppins" panose="00000500000000000000" pitchFamily="2" charset="0"/>
              </a:rPr>
              <a:t>: Stop execution after the first failure</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Scored</a:t>
            </a:r>
            <a:r>
              <a:rPr lang="en-US" sz="2000" dirty="0">
                <a:solidFill>
                  <a:schemeClr val="bg1"/>
                </a:solidFill>
                <a:latin typeface="Poppins" panose="00000500000000000000" pitchFamily="2" charset="0"/>
                <a:cs typeface="Poppins" panose="00000500000000000000" pitchFamily="2" charset="0"/>
              </a:rPr>
              <a:t>: Assign weights/scores to rules for a decision threshold</a:t>
            </a:r>
          </a:p>
          <a:p>
            <a:pPr marL="342900"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Use different strategies for different business goals</a:t>
            </a:r>
          </a:p>
        </p:txBody>
      </p:sp>
    </p:spTree>
    <p:extLst>
      <p:ext uri="{BB962C8B-B14F-4D97-AF65-F5344CB8AC3E}">
        <p14:creationId xmlns:p14="http://schemas.microsoft.com/office/powerpoint/2010/main" val="2926798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38BED-B058-2782-12F9-3F44A49D0E1B}"/>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15D07048-FA3E-C9DB-67E1-2D6CA6C3D0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A228670F-2B9C-8280-337B-FB2C8450F134}"/>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Fluent Rule Setup</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09F365C7-1E09-629B-F8C0-2EBBF03FBB0C}"/>
              </a:ext>
            </a:extLst>
          </p:cNvPr>
          <p:cNvSpPr txBox="1"/>
          <p:nvPr/>
        </p:nvSpPr>
        <p:spPr>
          <a:xfrm>
            <a:off x="2231321" y="2676053"/>
            <a:ext cx="8137236" cy="97129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rPr>
              <a:t>Cleaner chaining syntax</a:t>
            </a:r>
          </a:p>
          <a:p>
            <a:pPr marL="342900" indent="-342900">
              <a:lnSpc>
                <a:spcPct val="150000"/>
              </a:lnSpc>
              <a:buFont typeface="Arial" panose="020B0604020202020204" pitchFamily="34" charset="0"/>
              <a:buChar char="•"/>
            </a:pPr>
            <a:r>
              <a:rPr lang="en-US" sz="2000" b="1" dirty="0">
                <a:solidFill>
                  <a:schemeClr val="bg1"/>
                </a:solidFill>
              </a:rPr>
              <a:t>Easier dynamic composition of rules</a:t>
            </a:r>
            <a:endParaRPr lang="en-US" sz="2000" dirty="0">
              <a:solidFill>
                <a:schemeClr val="bg1"/>
              </a:solidFill>
            </a:endParaRPr>
          </a:p>
        </p:txBody>
      </p:sp>
      <p:pic>
        <p:nvPicPr>
          <p:cNvPr id="4" name="Picture 3">
            <a:extLst>
              <a:ext uri="{FF2B5EF4-FFF2-40B4-BE49-F238E27FC236}">
                <a16:creationId xmlns:a16="http://schemas.microsoft.com/office/drawing/2014/main" id="{C0B91315-4C08-84FC-95F1-AD604E3C27EC}"/>
              </a:ext>
            </a:extLst>
          </p:cNvPr>
          <p:cNvPicPr>
            <a:picLocks noChangeAspect="1"/>
          </p:cNvPicPr>
          <p:nvPr/>
        </p:nvPicPr>
        <p:blipFill>
          <a:blip r:embed="rId4"/>
          <a:stretch>
            <a:fillRect/>
          </a:stretch>
        </p:blipFill>
        <p:spPr>
          <a:xfrm>
            <a:off x="2398845" y="1518218"/>
            <a:ext cx="7536104" cy="873282"/>
          </a:xfrm>
          <a:prstGeom prst="rect">
            <a:avLst/>
          </a:prstGeom>
        </p:spPr>
      </p:pic>
    </p:spTree>
    <p:extLst>
      <p:ext uri="{BB962C8B-B14F-4D97-AF65-F5344CB8AC3E}">
        <p14:creationId xmlns:p14="http://schemas.microsoft.com/office/powerpoint/2010/main" val="1351588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869A-01D1-9910-C294-A5D0F43D8717}"/>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C5CD25D5-7E15-AD8B-E3E4-3DE34647FC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8A05FF6F-AD08-C132-73F3-4ECAD0B9441E}"/>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Execution Context &amp; Traceability</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A2795766-5F4B-2F34-5E97-9716EFB6BA69}"/>
              </a:ext>
            </a:extLst>
          </p:cNvPr>
          <p:cNvSpPr txBox="1"/>
          <p:nvPr/>
        </p:nvSpPr>
        <p:spPr>
          <a:xfrm>
            <a:off x="1265382" y="2109152"/>
            <a:ext cx="10631054" cy="189539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Log which rules ran and in what order</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Log input data and evaluation results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Track rule outcomes and timestamps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Helpful for debugging, audits, and transparency</a:t>
            </a:r>
          </a:p>
        </p:txBody>
      </p:sp>
    </p:spTree>
    <p:extLst>
      <p:ext uri="{BB962C8B-B14F-4D97-AF65-F5344CB8AC3E}">
        <p14:creationId xmlns:p14="http://schemas.microsoft.com/office/powerpoint/2010/main" val="71745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0FF8-9639-A579-C657-9519687C88B5}"/>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5D4958A2-838D-FA8A-7C04-373F5D01556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9176A434-D430-7485-9F06-7D4796BD019B}"/>
              </a:ext>
            </a:extLst>
          </p:cNvPr>
          <p:cNvSpPr>
            <a:spLocks noGrp="1"/>
          </p:cNvSpPr>
          <p:nvPr>
            <p:ph type="title"/>
          </p:nvPr>
        </p:nvSpPr>
        <p:spPr/>
        <p:txBody>
          <a:bodyPr/>
          <a:lstStyle/>
          <a:p>
            <a:pPr algn="ctr"/>
            <a:r>
              <a:rPr lang="en-US" b="1" dirty="0" err="1">
                <a:solidFill>
                  <a:schemeClr val="bg1"/>
                </a:solidFill>
                <a:latin typeface="Poppins" panose="00000500000000000000" pitchFamily="2" charset="0"/>
                <a:cs typeface="Poppins" panose="00000500000000000000" pitchFamily="2" charset="0"/>
              </a:rPr>
              <a:t>RuleExecutionLog</a:t>
            </a:r>
            <a:r>
              <a:rPr lang="en-US" b="1" dirty="0">
                <a:solidFill>
                  <a:schemeClr val="bg1"/>
                </a:solidFill>
                <a:latin typeface="Poppins" panose="00000500000000000000" pitchFamily="2" charset="0"/>
                <a:cs typeface="Poppins" panose="00000500000000000000" pitchFamily="2" charset="0"/>
              </a:rPr>
              <a:t> Model</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64A14556-4EC5-C6FB-449A-7EC592898BEE}"/>
              </a:ext>
            </a:extLst>
          </p:cNvPr>
          <p:cNvSpPr txBox="1"/>
          <p:nvPr/>
        </p:nvSpPr>
        <p:spPr>
          <a:xfrm>
            <a:off x="2182459" y="3698877"/>
            <a:ext cx="8137236" cy="97129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rPr>
              <a:t>Captures traceability per rule</a:t>
            </a:r>
          </a:p>
          <a:p>
            <a:pPr marL="342900" indent="-342900">
              <a:lnSpc>
                <a:spcPct val="150000"/>
              </a:lnSpc>
              <a:buFont typeface="Arial" panose="020B0604020202020204" pitchFamily="34" charset="0"/>
              <a:buChar char="•"/>
            </a:pPr>
            <a:r>
              <a:rPr lang="en-US" sz="2000" b="1" dirty="0">
                <a:solidFill>
                  <a:schemeClr val="bg1"/>
                </a:solidFill>
              </a:rPr>
              <a:t>Can be persisted or viewed in logs</a:t>
            </a:r>
            <a:endParaRPr lang="en-US" sz="2000" dirty="0">
              <a:solidFill>
                <a:schemeClr val="bg1"/>
              </a:solidFill>
            </a:endParaRPr>
          </a:p>
        </p:txBody>
      </p:sp>
      <p:pic>
        <p:nvPicPr>
          <p:cNvPr id="7" name="Picture 6">
            <a:extLst>
              <a:ext uri="{FF2B5EF4-FFF2-40B4-BE49-F238E27FC236}">
                <a16:creationId xmlns:a16="http://schemas.microsoft.com/office/drawing/2014/main" id="{1C0D8DCC-BDB3-383E-A6F5-217A9CE9F66C}"/>
              </a:ext>
            </a:extLst>
          </p:cNvPr>
          <p:cNvPicPr>
            <a:picLocks noChangeAspect="1"/>
          </p:cNvPicPr>
          <p:nvPr/>
        </p:nvPicPr>
        <p:blipFill>
          <a:blip r:embed="rId4"/>
          <a:stretch>
            <a:fillRect/>
          </a:stretch>
        </p:blipFill>
        <p:spPr>
          <a:xfrm>
            <a:off x="2364958" y="1606294"/>
            <a:ext cx="7421215" cy="1822706"/>
          </a:xfrm>
          <a:prstGeom prst="rect">
            <a:avLst/>
          </a:prstGeom>
        </p:spPr>
      </p:pic>
    </p:spTree>
    <p:extLst>
      <p:ext uri="{BB962C8B-B14F-4D97-AF65-F5344CB8AC3E}">
        <p14:creationId xmlns:p14="http://schemas.microsoft.com/office/powerpoint/2010/main" val="3394760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D027-7539-766B-5692-26BED8863215}"/>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A3D464FE-F14B-E1EC-5D99-861895A6DC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4D14E133-9ABE-116D-FE4D-893FAA1FCD06}"/>
              </a:ext>
            </a:extLst>
          </p:cNvPr>
          <p:cNvSpPr>
            <a:spLocks noGrp="1"/>
          </p:cNvSpPr>
          <p:nvPr>
            <p:ph type="title"/>
          </p:nvPr>
        </p:nvSpPr>
        <p:spPr/>
        <p:txBody>
          <a:bodyPr/>
          <a:lstStyle/>
          <a:p>
            <a:pPr algn="ctr"/>
            <a:r>
              <a:rPr lang="en-US" b="1" dirty="0" err="1">
                <a:solidFill>
                  <a:schemeClr val="bg1"/>
                </a:solidFill>
                <a:latin typeface="Poppins" panose="00000500000000000000" pitchFamily="2" charset="0"/>
                <a:cs typeface="Poppins" panose="00000500000000000000" pitchFamily="2" charset="0"/>
              </a:rPr>
              <a:t>RuleEngine</a:t>
            </a:r>
            <a:r>
              <a:rPr lang="en-US" b="1" dirty="0">
                <a:solidFill>
                  <a:schemeClr val="bg1"/>
                </a:solidFill>
                <a:latin typeface="Poppins" panose="00000500000000000000" pitchFamily="2" charset="0"/>
                <a:cs typeface="Poppins" panose="00000500000000000000" pitchFamily="2" charset="0"/>
              </a:rPr>
              <a:t> with Execution Modes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294D01FD-925B-1A65-DDD3-DBF17C770941}"/>
              </a:ext>
            </a:extLst>
          </p:cNvPr>
          <p:cNvSpPr txBox="1"/>
          <p:nvPr/>
        </p:nvSpPr>
        <p:spPr>
          <a:xfrm>
            <a:off x="1019374" y="1563022"/>
            <a:ext cx="9975273" cy="1851789"/>
          </a:xfrm>
          <a:prstGeom prst="rect">
            <a:avLst/>
          </a:prstGeom>
          <a:noFill/>
        </p:spPr>
        <p:txBody>
          <a:bodyPr wrap="square" rtlCol="0">
            <a:spAutoFit/>
          </a:bodyPr>
          <a:lstStyle/>
          <a:p>
            <a:pPr marL="342900" indent="-342900">
              <a:lnSpc>
                <a:spcPct val="150000"/>
              </a:lnSpc>
              <a:buFont typeface="Arial" panose="020B0604020202020204" pitchFamily="34" charset="0"/>
              <a:buChar char="•"/>
            </a:pPr>
            <a:endParaRPr lang="en-US" sz="4000" b="1" dirty="0">
              <a:solidFill>
                <a:schemeClr val="bg1"/>
              </a:solidFill>
              <a:latin typeface="Poppins" panose="00000500000000000000" pitchFamily="2" charset="0"/>
              <a:cs typeface="Poppins" panose="00000500000000000000" pitchFamily="2" charset="0"/>
            </a:endParaRPr>
          </a:p>
          <a:p>
            <a:pPr algn="ctr">
              <a:lnSpc>
                <a:spcPct val="150000"/>
              </a:lnSpc>
            </a:pPr>
            <a:r>
              <a:rPr lang="en-US" sz="4000" b="1" dirty="0">
                <a:solidFill>
                  <a:schemeClr val="bg1"/>
                </a:solidFill>
                <a:latin typeface="Poppins" panose="00000500000000000000" pitchFamily="2" charset="0"/>
                <a:cs typeface="Poppins" panose="00000500000000000000" pitchFamily="2" charset="0"/>
              </a:rPr>
              <a:t>Demo: </a:t>
            </a:r>
            <a:r>
              <a:rPr lang="en-US" sz="4000" b="1" dirty="0" err="1">
                <a:solidFill>
                  <a:schemeClr val="bg1"/>
                </a:solidFill>
                <a:latin typeface="Poppins" panose="00000500000000000000" pitchFamily="2" charset="0"/>
                <a:cs typeface="Poppins" panose="00000500000000000000" pitchFamily="2" charset="0"/>
              </a:rPr>
              <a:t>RuleEngine</a:t>
            </a:r>
            <a:endParaRPr lang="en-US" sz="4000"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557024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FA295-53C9-5AF1-12E5-809A2F9D71AD}"/>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EC367C66-FB73-6833-009A-C1E0B6152C2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7C222AF7-6784-1FAB-CF9D-21516D67E468}"/>
              </a:ext>
            </a:extLst>
          </p:cNvPr>
          <p:cNvSpPr>
            <a:spLocks noGrp="1"/>
          </p:cNvSpPr>
          <p:nvPr>
            <p:ph type="title"/>
          </p:nvPr>
        </p:nvSpPr>
        <p:spPr/>
        <p:txBody>
          <a:bodyPr/>
          <a:lstStyle/>
          <a:p>
            <a:pPr algn="ctr"/>
            <a:r>
              <a:rPr lang="en-US" b="1" dirty="0" err="1">
                <a:solidFill>
                  <a:schemeClr val="bg1"/>
                </a:solidFill>
                <a:latin typeface="Poppins" panose="00000500000000000000" pitchFamily="2" charset="0"/>
                <a:cs typeface="Poppins" panose="00000500000000000000" pitchFamily="2" charset="0"/>
              </a:rPr>
              <a:t>RuleEngine</a:t>
            </a:r>
            <a:r>
              <a:rPr lang="en-US" b="1" dirty="0">
                <a:solidFill>
                  <a:schemeClr val="bg1"/>
                </a:solidFill>
                <a:latin typeface="Poppins" panose="00000500000000000000" pitchFamily="2" charset="0"/>
                <a:cs typeface="Poppins" panose="00000500000000000000" pitchFamily="2" charset="0"/>
              </a:rPr>
              <a:t> with design patterns </a:t>
            </a:r>
            <a:endParaRPr lang="en-ZA" dirty="0">
              <a:solidFill>
                <a:schemeClr val="bg1"/>
              </a:solidFill>
              <a:latin typeface="Poppins" panose="00000500000000000000" pitchFamily="2" charset="0"/>
              <a:cs typeface="Poppins" panose="00000500000000000000" pitchFamily="2" charset="0"/>
            </a:endParaRPr>
          </a:p>
        </p:txBody>
      </p:sp>
      <p:graphicFrame>
        <p:nvGraphicFramePr>
          <p:cNvPr id="3" name="Table 2">
            <a:extLst>
              <a:ext uri="{FF2B5EF4-FFF2-40B4-BE49-F238E27FC236}">
                <a16:creationId xmlns:a16="http://schemas.microsoft.com/office/drawing/2014/main" id="{F73D834D-1107-6D8D-2181-0EDCCD5F316F}"/>
              </a:ext>
            </a:extLst>
          </p:cNvPr>
          <p:cNvGraphicFramePr>
            <a:graphicFrameLocks noGrp="1"/>
          </p:cNvGraphicFramePr>
          <p:nvPr>
            <p:extLst>
              <p:ext uri="{D42A27DB-BD31-4B8C-83A1-F6EECF244321}">
                <p14:modId xmlns:p14="http://schemas.microsoft.com/office/powerpoint/2010/main" val="2420855873"/>
              </p:ext>
            </p:extLst>
          </p:nvPr>
        </p:nvGraphicFramePr>
        <p:xfrm>
          <a:off x="126419" y="1634065"/>
          <a:ext cx="8829117" cy="3811131"/>
        </p:xfrm>
        <a:graphic>
          <a:graphicData uri="http://schemas.openxmlformats.org/drawingml/2006/table">
            <a:tbl>
              <a:tblPr firstRow="1" bandRow="1">
                <a:tableStyleId>{5C22544A-7EE6-4342-B048-85BDC9FD1C3A}</a:tableStyleId>
              </a:tblPr>
              <a:tblGrid>
                <a:gridCol w="2943039">
                  <a:extLst>
                    <a:ext uri="{9D8B030D-6E8A-4147-A177-3AD203B41FA5}">
                      <a16:colId xmlns:a16="http://schemas.microsoft.com/office/drawing/2014/main" val="410453040"/>
                    </a:ext>
                  </a:extLst>
                </a:gridCol>
                <a:gridCol w="2943039">
                  <a:extLst>
                    <a:ext uri="{9D8B030D-6E8A-4147-A177-3AD203B41FA5}">
                      <a16:colId xmlns:a16="http://schemas.microsoft.com/office/drawing/2014/main" val="2104070032"/>
                    </a:ext>
                  </a:extLst>
                </a:gridCol>
                <a:gridCol w="2943039">
                  <a:extLst>
                    <a:ext uri="{9D8B030D-6E8A-4147-A177-3AD203B41FA5}">
                      <a16:colId xmlns:a16="http://schemas.microsoft.com/office/drawing/2014/main" val="1814393292"/>
                    </a:ext>
                  </a:extLst>
                </a:gridCol>
              </a:tblGrid>
              <a:tr h="231303">
                <a:tc>
                  <a:txBody>
                    <a:bodyPr/>
                    <a:lstStyle/>
                    <a:p>
                      <a:pPr>
                        <a:buNone/>
                      </a:pPr>
                      <a:r>
                        <a:rPr lang="en-ZA" sz="1400" b="1" dirty="0"/>
                        <a:t>Pattern</a:t>
                      </a:r>
                      <a:endParaRPr lang="en-ZA" sz="1400" dirty="0"/>
                    </a:p>
                  </a:txBody>
                  <a:tcPr anchor="ctr"/>
                </a:tc>
                <a:tc>
                  <a:txBody>
                    <a:bodyPr/>
                    <a:lstStyle/>
                    <a:p>
                      <a:pPr>
                        <a:buNone/>
                      </a:pPr>
                      <a:r>
                        <a:rPr lang="en-ZA" sz="1400" b="1" dirty="0"/>
                        <a:t>Where It's Used</a:t>
                      </a:r>
                      <a:endParaRPr lang="en-ZA" sz="1400" dirty="0"/>
                    </a:p>
                  </a:txBody>
                  <a:tcPr anchor="ctr"/>
                </a:tc>
                <a:tc>
                  <a:txBody>
                    <a:bodyPr/>
                    <a:lstStyle/>
                    <a:p>
                      <a:pPr>
                        <a:buNone/>
                      </a:pPr>
                      <a:r>
                        <a:rPr lang="en-ZA" sz="1400" b="1"/>
                        <a:t>Why It's Used</a:t>
                      </a:r>
                      <a:endParaRPr lang="en-ZA" sz="1400"/>
                    </a:p>
                  </a:txBody>
                  <a:tcPr anchor="ctr"/>
                </a:tc>
                <a:extLst>
                  <a:ext uri="{0D108BD9-81ED-4DB2-BD59-A6C34878D82A}">
                    <a16:rowId xmlns:a16="http://schemas.microsoft.com/office/drawing/2014/main" val="3721787579"/>
                  </a:ext>
                </a:extLst>
              </a:tr>
              <a:tr h="570335">
                <a:tc>
                  <a:txBody>
                    <a:bodyPr/>
                    <a:lstStyle/>
                    <a:p>
                      <a:pPr>
                        <a:buNone/>
                      </a:pPr>
                      <a:r>
                        <a:rPr lang="en-ZA" sz="1400" b="1"/>
                        <a:t>Strategy</a:t>
                      </a:r>
                      <a:endParaRPr lang="en-ZA" sz="1400"/>
                    </a:p>
                  </a:txBody>
                  <a:tcPr anchor="ctr"/>
                </a:tc>
                <a:tc>
                  <a:txBody>
                    <a:bodyPr/>
                    <a:lstStyle/>
                    <a:p>
                      <a:pPr>
                        <a:buNone/>
                      </a:pPr>
                      <a:r>
                        <a:rPr lang="en-US" sz="1400" dirty="0"/>
                        <a:t>Each rule implements </a:t>
                      </a:r>
                      <a:r>
                        <a:rPr lang="en-US" sz="1400" dirty="0" err="1"/>
                        <a:t>IRule</a:t>
                      </a:r>
                      <a:r>
                        <a:rPr lang="en-US" sz="1400" dirty="0"/>
                        <a:t>&lt;T&gt; and is evaluated by the engine</a:t>
                      </a:r>
                    </a:p>
                  </a:txBody>
                  <a:tcPr anchor="ctr"/>
                </a:tc>
                <a:tc>
                  <a:txBody>
                    <a:bodyPr/>
                    <a:lstStyle/>
                    <a:p>
                      <a:pPr>
                        <a:buNone/>
                      </a:pPr>
                      <a:r>
                        <a:rPr lang="en-ZA" sz="1400"/>
                        <a:t>Encapsulates interchangeable decision logic behind a common interface</a:t>
                      </a:r>
                    </a:p>
                  </a:txBody>
                  <a:tcPr anchor="ctr"/>
                </a:tc>
                <a:extLst>
                  <a:ext uri="{0D108BD9-81ED-4DB2-BD59-A6C34878D82A}">
                    <a16:rowId xmlns:a16="http://schemas.microsoft.com/office/drawing/2014/main" val="1411233232"/>
                  </a:ext>
                </a:extLst>
              </a:tr>
              <a:tr h="570335">
                <a:tc>
                  <a:txBody>
                    <a:bodyPr/>
                    <a:lstStyle/>
                    <a:p>
                      <a:pPr>
                        <a:buNone/>
                      </a:pPr>
                      <a:r>
                        <a:rPr lang="en-ZA" sz="1400" b="1" dirty="0"/>
                        <a:t>Fluent Builder</a:t>
                      </a:r>
                      <a:endParaRPr lang="en-ZA" sz="1400" dirty="0"/>
                    </a:p>
                  </a:txBody>
                  <a:tcPr anchor="ctr"/>
                </a:tc>
                <a:tc>
                  <a:txBody>
                    <a:bodyPr/>
                    <a:lstStyle/>
                    <a:p>
                      <a:pPr>
                        <a:buNone/>
                      </a:pPr>
                      <a:r>
                        <a:rPr lang="en-US" sz="1400"/>
                        <a:t>engine.AddRule(...).AddRule(...) chain in manual setup</a:t>
                      </a:r>
                    </a:p>
                  </a:txBody>
                  <a:tcPr anchor="ctr"/>
                </a:tc>
                <a:tc>
                  <a:txBody>
                    <a:bodyPr/>
                    <a:lstStyle/>
                    <a:p>
                      <a:pPr>
                        <a:buNone/>
                      </a:pPr>
                      <a:r>
                        <a:rPr lang="en-US" sz="1400" dirty="0"/>
                        <a:t>Enables readable, chainable setup for building rule pipelines</a:t>
                      </a:r>
                    </a:p>
                  </a:txBody>
                  <a:tcPr anchor="ctr"/>
                </a:tc>
                <a:extLst>
                  <a:ext uri="{0D108BD9-81ED-4DB2-BD59-A6C34878D82A}">
                    <a16:rowId xmlns:a16="http://schemas.microsoft.com/office/drawing/2014/main" val="1898768990"/>
                  </a:ext>
                </a:extLst>
              </a:tr>
              <a:tr h="741436">
                <a:tc>
                  <a:txBody>
                    <a:bodyPr/>
                    <a:lstStyle/>
                    <a:p>
                      <a:pPr>
                        <a:buNone/>
                      </a:pPr>
                      <a:r>
                        <a:rPr lang="en-ZA" sz="1400" b="1"/>
                        <a:t>Dependency Injection</a:t>
                      </a:r>
                      <a:endParaRPr lang="en-ZA" sz="1400"/>
                    </a:p>
                  </a:txBody>
                  <a:tcPr anchor="ctr"/>
                </a:tc>
                <a:tc>
                  <a:txBody>
                    <a:bodyPr/>
                    <a:lstStyle/>
                    <a:p>
                      <a:pPr>
                        <a:buNone/>
                      </a:pPr>
                      <a:r>
                        <a:rPr lang="en-US" sz="1400"/>
                        <a:t>Rules are registered via AddScoped&lt;IRule&lt;T&gt;, RuleType&gt;() and injected into engine</a:t>
                      </a:r>
                    </a:p>
                  </a:txBody>
                  <a:tcPr anchor="ctr"/>
                </a:tc>
                <a:tc>
                  <a:txBody>
                    <a:bodyPr/>
                    <a:lstStyle/>
                    <a:p>
                      <a:pPr>
                        <a:buNone/>
                      </a:pPr>
                      <a:r>
                        <a:rPr lang="en-US" sz="1400" dirty="0"/>
                        <a:t>Promotes loose coupling, configurability, and easy testing</a:t>
                      </a:r>
                    </a:p>
                  </a:txBody>
                  <a:tcPr anchor="ctr"/>
                </a:tc>
                <a:extLst>
                  <a:ext uri="{0D108BD9-81ED-4DB2-BD59-A6C34878D82A}">
                    <a16:rowId xmlns:a16="http://schemas.microsoft.com/office/drawing/2014/main" val="1827800089"/>
                  </a:ext>
                </a:extLst>
              </a:tr>
              <a:tr h="570335">
                <a:tc>
                  <a:txBody>
                    <a:bodyPr/>
                    <a:lstStyle/>
                    <a:p>
                      <a:pPr>
                        <a:buNone/>
                      </a:pPr>
                      <a:r>
                        <a:rPr lang="en-ZA" sz="1400" b="1"/>
                        <a:t>Chain of Responsibility</a:t>
                      </a:r>
                      <a:r>
                        <a:rPr lang="en-ZA" sz="1400"/>
                        <a:t> (loose)</a:t>
                      </a:r>
                    </a:p>
                  </a:txBody>
                  <a:tcPr anchor="ctr"/>
                </a:tc>
                <a:tc>
                  <a:txBody>
                    <a:bodyPr/>
                    <a:lstStyle/>
                    <a:p>
                      <a:pPr>
                        <a:buNone/>
                      </a:pPr>
                      <a:r>
                        <a:rPr lang="en-US" sz="1400"/>
                        <a:t>RuleEngine executes rules in sequence, with optional early-exit modes</a:t>
                      </a:r>
                    </a:p>
                  </a:txBody>
                  <a:tcPr anchor="ctr"/>
                </a:tc>
                <a:tc>
                  <a:txBody>
                    <a:bodyPr/>
                    <a:lstStyle/>
                    <a:p>
                      <a:pPr>
                        <a:buNone/>
                      </a:pPr>
                      <a:r>
                        <a:rPr lang="en-US" sz="1400" dirty="0"/>
                        <a:t>Allows flexible control flow via </a:t>
                      </a:r>
                      <a:r>
                        <a:rPr lang="en-US" sz="1400" dirty="0" err="1"/>
                        <a:t>AllPass</a:t>
                      </a:r>
                      <a:r>
                        <a:rPr lang="en-US" sz="1400" dirty="0"/>
                        <a:t>, </a:t>
                      </a:r>
                      <a:r>
                        <a:rPr lang="en-US" sz="1400" dirty="0" err="1"/>
                        <a:t>FirstFail</a:t>
                      </a:r>
                      <a:r>
                        <a:rPr lang="en-US" sz="1400" dirty="0"/>
                        <a:t>, or Scored modes</a:t>
                      </a:r>
                    </a:p>
                  </a:txBody>
                  <a:tcPr anchor="ctr"/>
                </a:tc>
                <a:extLst>
                  <a:ext uri="{0D108BD9-81ED-4DB2-BD59-A6C34878D82A}">
                    <a16:rowId xmlns:a16="http://schemas.microsoft.com/office/drawing/2014/main" val="2627606085"/>
                  </a:ext>
                </a:extLst>
              </a:tr>
              <a:tr h="570335">
                <a:tc>
                  <a:txBody>
                    <a:bodyPr/>
                    <a:lstStyle/>
                    <a:p>
                      <a:pPr>
                        <a:buNone/>
                      </a:pPr>
                      <a:r>
                        <a:rPr lang="en-ZA" sz="1400" b="1" dirty="0"/>
                        <a:t>Command</a:t>
                      </a:r>
                      <a:r>
                        <a:rPr lang="en-ZA" sz="1400" dirty="0"/>
                        <a:t> (implicit)</a:t>
                      </a:r>
                    </a:p>
                  </a:txBody>
                  <a:tcPr anchor="ctr"/>
                </a:tc>
                <a:tc>
                  <a:txBody>
                    <a:bodyPr/>
                    <a:lstStyle/>
                    <a:p>
                      <a:pPr>
                        <a:buNone/>
                      </a:pPr>
                      <a:r>
                        <a:rPr lang="en-US" sz="1400"/>
                        <a:t>RuleExecutionLog captures rule name, result, and message</a:t>
                      </a:r>
                    </a:p>
                  </a:txBody>
                  <a:tcPr anchor="ctr"/>
                </a:tc>
                <a:tc>
                  <a:txBody>
                    <a:bodyPr/>
                    <a:lstStyle/>
                    <a:p>
                      <a:pPr>
                        <a:buNone/>
                      </a:pPr>
                      <a:r>
                        <a:rPr lang="en-ZA" sz="1400" dirty="0"/>
                        <a:t>Encapsulates evaluation results as </a:t>
                      </a:r>
                      <a:r>
                        <a:rPr lang="en-ZA" sz="1400" dirty="0" err="1"/>
                        <a:t>loggable</a:t>
                      </a:r>
                      <a:r>
                        <a:rPr lang="en-ZA" sz="1400" dirty="0"/>
                        <a:t>, auditable command-like objects</a:t>
                      </a:r>
                    </a:p>
                  </a:txBody>
                  <a:tcPr anchor="ctr"/>
                </a:tc>
                <a:extLst>
                  <a:ext uri="{0D108BD9-81ED-4DB2-BD59-A6C34878D82A}">
                    <a16:rowId xmlns:a16="http://schemas.microsoft.com/office/drawing/2014/main" val="3856006535"/>
                  </a:ext>
                </a:extLst>
              </a:tr>
            </a:tbl>
          </a:graphicData>
        </a:graphic>
      </p:graphicFrame>
    </p:spTree>
    <p:extLst>
      <p:ext uri="{BB962C8B-B14F-4D97-AF65-F5344CB8AC3E}">
        <p14:creationId xmlns:p14="http://schemas.microsoft.com/office/powerpoint/2010/main" val="924874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845FF-6F61-6E17-638C-0E6AD69C3218}"/>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7E9BE69A-6547-7190-FB1B-B1A1581B4B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FDF67CE9-66CC-A23D-988D-623E6DD44F8F}"/>
              </a:ext>
            </a:extLst>
          </p:cNvPr>
          <p:cNvSpPr>
            <a:spLocks noGrp="1"/>
          </p:cNvSpPr>
          <p:nvPr>
            <p:ph type="title"/>
          </p:nvPr>
        </p:nvSpPr>
        <p:spPr/>
        <p:txBody>
          <a:bodyPr/>
          <a:lstStyle/>
          <a:p>
            <a:pPr algn="ctr"/>
            <a:r>
              <a:rPr lang="en-ZA" b="1" dirty="0">
                <a:solidFill>
                  <a:schemeClr val="bg1"/>
                </a:solidFill>
                <a:latin typeface="Poppins" panose="00000500000000000000" pitchFamily="2" charset="0"/>
                <a:cs typeface="Poppins" panose="00000500000000000000" pitchFamily="2" charset="0"/>
              </a:rPr>
              <a:t>Outcome of This Week</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E4B8C0A-4FE1-E4A4-F27A-0A8ABCFE0999}"/>
              </a:ext>
            </a:extLst>
          </p:cNvPr>
          <p:cNvSpPr txBox="1"/>
          <p:nvPr/>
        </p:nvSpPr>
        <p:spPr>
          <a:xfrm>
            <a:off x="2304366" y="1845238"/>
            <a:ext cx="8137236" cy="32803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We now have:</a:t>
            </a:r>
          </a:p>
          <a:p>
            <a:pPr marL="800100" lvl="1"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Execution modes: </a:t>
            </a:r>
            <a:r>
              <a:rPr lang="en-US" sz="2000" dirty="0" err="1">
                <a:solidFill>
                  <a:schemeClr val="bg1"/>
                </a:solidFill>
                <a:latin typeface="Poppins" panose="00000500000000000000" pitchFamily="2" charset="0"/>
                <a:cs typeface="Poppins" panose="00000500000000000000" pitchFamily="2" charset="0"/>
              </a:rPr>
              <a:t>AllPass</a:t>
            </a:r>
            <a:r>
              <a:rPr lang="en-US" sz="2000" dirty="0">
                <a:solidFill>
                  <a:schemeClr val="bg1"/>
                </a:solidFill>
                <a:latin typeface="Poppins" panose="00000500000000000000" pitchFamily="2" charset="0"/>
                <a:cs typeface="Poppins" panose="00000500000000000000" pitchFamily="2" charset="0"/>
              </a:rPr>
              <a:t>, </a:t>
            </a:r>
            <a:r>
              <a:rPr lang="en-US" sz="2000" dirty="0" err="1">
                <a:solidFill>
                  <a:schemeClr val="bg1"/>
                </a:solidFill>
                <a:latin typeface="Poppins" panose="00000500000000000000" pitchFamily="2" charset="0"/>
                <a:cs typeface="Poppins" panose="00000500000000000000" pitchFamily="2" charset="0"/>
              </a:rPr>
              <a:t>FirstFail</a:t>
            </a:r>
            <a:r>
              <a:rPr lang="en-US" sz="2000" dirty="0">
                <a:solidFill>
                  <a:schemeClr val="bg1"/>
                </a:solidFill>
                <a:latin typeface="Poppins" panose="00000500000000000000" pitchFamily="2" charset="0"/>
                <a:cs typeface="Poppins" panose="00000500000000000000" pitchFamily="2" charset="0"/>
              </a:rPr>
              <a:t>, Scored</a:t>
            </a:r>
          </a:p>
          <a:p>
            <a:pPr marL="800100" lvl="1"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Fluent rule setup</a:t>
            </a:r>
          </a:p>
          <a:p>
            <a:pPr marL="800100" lvl="1"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Rule execution logging</a:t>
            </a:r>
          </a:p>
          <a:p>
            <a:pPr marL="800100" lvl="1"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DI-compatible, traceable rule engine</a:t>
            </a:r>
          </a:p>
          <a:p>
            <a:pPr marL="342900" indent="-342900">
              <a:lnSpc>
                <a:spcPct val="150000"/>
              </a:lnSpc>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Next week: Loading rules dynamically from config or JSON</a:t>
            </a:r>
          </a:p>
          <a:p>
            <a:pPr>
              <a:lnSpc>
                <a:spcPct val="150000"/>
              </a:lnSpc>
            </a:pPr>
            <a:endParaRPr lang="en-US" sz="20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50869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8E69F-1990-8DB9-0784-69CE583B1BBD}"/>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D5D01F97-A7D4-70FF-35D6-29CBB74092E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A8C3ABFF-2146-4EC5-1C86-8C3C7CCED00F}"/>
              </a:ext>
            </a:extLst>
          </p:cNvPr>
          <p:cNvSpPr>
            <a:spLocks noGrp="1"/>
          </p:cNvSpPr>
          <p:nvPr>
            <p:ph type="title"/>
          </p:nvPr>
        </p:nvSpPr>
        <p:spPr/>
        <p:txBody>
          <a:bodyPr/>
          <a:lstStyle/>
          <a:p>
            <a:pPr algn="ctr"/>
            <a:r>
              <a:rPr lang="en-ZA" b="1" dirty="0">
                <a:solidFill>
                  <a:schemeClr val="bg1"/>
                </a:solidFill>
                <a:latin typeface="Poppins" panose="00000500000000000000" pitchFamily="2" charset="0"/>
                <a:cs typeface="Poppins" panose="00000500000000000000" pitchFamily="2" charset="0"/>
              </a:rPr>
              <a:t>Thank You</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D561E40-6D0F-8796-0F95-26C00EF40776}"/>
              </a:ext>
            </a:extLst>
          </p:cNvPr>
          <p:cNvSpPr txBox="1"/>
          <p:nvPr/>
        </p:nvSpPr>
        <p:spPr>
          <a:xfrm>
            <a:off x="2318326" y="1866179"/>
            <a:ext cx="8137236" cy="14337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Great progress on making rules dynamic and traceable</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Optional: Create a </a:t>
            </a:r>
            <a:r>
              <a:rPr lang="en-US" sz="2000" b="1" dirty="0" err="1">
                <a:solidFill>
                  <a:schemeClr val="bg1"/>
                </a:solidFill>
                <a:latin typeface="Poppins" panose="00000500000000000000" pitchFamily="2" charset="0"/>
                <a:cs typeface="Poppins" panose="00000500000000000000" pitchFamily="2" charset="0"/>
              </a:rPr>
              <a:t>ScoreThresholdRuleSet</a:t>
            </a:r>
            <a:endParaRPr lang="en-US" sz="2000" b="1" dirty="0">
              <a:solidFill>
                <a:schemeClr val="bg1"/>
              </a:solidFill>
              <a:latin typeface="Poppins" panose="00000500000000000000" pitchFamily="2" charset="0"/>
              <a:cs typeface="Poppins" panose="00000500000000000000" pitchFamily="2" charset="0"/>
            </a:endParaRP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Share your logs, scoring logic</a:t>
            </a:r>
          </a:p>
        </p:txBody>
      </p:sp>
    </p:spTree>
    <p:extLst>
      <p:ext uri="{BB962C8B-B14F-4D97-AF65-F5344CB8AC3E}">
        <p14:creationId xmlns:p14="http://schemas.microsoft.com/office/powerpoint/2010/main" val="3607287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110</TotalTime>
  <Words>1066</Words>
  <Application>Microsoft Office PowerPoint</Application>
  <PresentationFormat>Widescreen</PresentationFormat>
  <Paragraphs>91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Poppins</vt:lpstr>
      <vt:lpstr>Office Theme</vt:lpstr>
      <vt:lpstr>Executing, Combining &amp; Managing Rules</vt:lpstr>
      <vt:lpstr>Welcome </vt:lpstr>
      <vt:lpstr>Rule Execution Modes</vt:lpstr>
      <vt:lpstr>Fluent Rule Setup</vt:lpstr>
      <vt:lpstr>Execution Context &amp; Traceability</vt:lpstr>
      <vt:lpstr>RuleExecutionLog Model</vt:lpstr>
      <vt:lpstr>RuleEngine with Execution Modes</vt:lpstr>
      <vt:lpstr>RuleEngine with design patterns </vt:lpstr>
      <vt:lpstr>Outcome of This Week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Treveshan Naidoo</dc:creator>
  <cp:lastModifiedBy>Treveshan Naidoo</cp:lastModifiedBy>
  <cp:revision>13</cp:revision>
  <dcterms:created xsi:type="dcterms:W3CDTF">2025-07-02T19:02:41Z</dcterms:created>
  <dcterms:modified xsi:type="dcterms:W3CDTF">2025-07-17T19:25:11Z</dcterms:modified>
</cp:coreProperties>
</file>