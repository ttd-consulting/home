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4" autoAdjust="0"/>
    <p:restoredTop sz="94660"/>
  </p:normalViewPr>
  <p:slideViewPr>
    <p:cSldViewPr snapToGrid="0">
      <p:cViewPr varScale="1">
        <p:scale>
          <a:sx n="54" d="100"/>
          <a:sy n="54" d="100"/>
        </p:scale>
        <p:origin x="52" y="1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A5E8E-8205-4621-ACFE-68395A0DA0A2}" type="datetimeFigureOut">
              <a:rPr lang="en-ZA" smtClean="0"/>
              <a:t>2025/07/10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12B91-E0CD-4A27-8E94-3FFCFB4FB363}" type="slidenum">
              <a:rPr lang="en-ZA" smtClean="0"/>
              <a:t>‹#›</a:t>
            </a:fld>
            <a:endParaRPr lang="en-ZA"/>
          </a:p>
        </p:txBody>
      </p:sp>
    </p:spTree>
    <p:extLst>
      <p:ext uri="{BB962C8B-B14F-4D97-AF65-F5344CB8AC3E}">
        <p14:creationId xmlns:p14="http://schemas.microsoft.com/office/powerpoint/2010/main" val="77034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Notes:</a:t>
            </a:r>
            <a:r>
              <a:rPr lang="en-US" dirty="0"/>
              <a:t> Welcome back to Week 2 of our internal learning series. Today we begin building a basic rule engine framework in code, starting with the structure of individual rules. We'll keep it simple, modular, and extensible.</a:t>
            </a:r>
          </a:p>
          <a:p>
            <a:endParaRPr lang="en-ZA" dirty="0"/>
          </a:p>
        </p:txBody>
      </p:sp>
      <p:sp>
        <p:nvSpPr>
          <p:cNvPr id="4" name="Slide Number Placeholder 3"/>
          <p:cNvSpPr>
            <a:spLocks noGrp="1"/>
          </p:cNvSpPr>
          <p:nvPr>
            <p:ph type="sldNum" sz="quarter" idx="5"/>
          </p:nvPr>
        </p:nvSpPr>
        <p:spPr/>
        <p:txBody>
          <a:bodyPr/>
          <a:lstStyle/>
          <a:p>
            <a:fld id="{B8212B91-E0CD-4A27-8E94-3FFCFB4FB363}" type="slidenum">
              <a:rPr lang="en-ZA" smtClean="0"/>
              <a:t>1</a:t>
            </a:fld>
            <a:endParaRPr lang="en-ZA"/>
          </a:p>
        </p:txBody>
      </p:sp>
    </p:spTree>
    <p:extLst>
      <p:ext uri="{BB962C8B-B14F-4D97-AF65-F5344CB8AC3E}">
        <p14:creationId xmlns:p14="http://schemas.microsoft.com/office/powerpoint/2010/main" val="3929235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Notes:</a:t>
            </a:r>
            <a:r>
              <a:rPr lang="en-US" dirty="0"/>
              <a:t> Remind the group of last week’s takeaway: we created a rule matrix and discussed the benefits of rule engines. Today, we're going to take that logic and start coding it. Focus will be on making rule classes that are easy to reuse and test.</a:t>
            </a:r>
          </a:p>
          <a:p>
            <a:endParaRPr lang="en-US" dirty="0"/>
          </a:p>
        </p:txBody>
      </p:sp>
      <p:sp>
        <p:nvSpPr>
          <p:cNvPr id="4" name="Slide Number Placeholder 3"/>
          <p:cNvSpPr>
            <a:spLocks noGrp="1"/>
          </p:cNvSpPr>
          <p:nvPr>
            <p:ph type="sldNum" sz="quarter" idx="5"/>
          </p:nvPr>
        </p:nvSpPr>
        <p:spPr/>
        <p:txBody>
          <a:bodyPr/>
          <a:lstStyle/>
          <a:p>
            <a:fld id="{B8212B91-E0CD-4A27-8E94-3FFCFB4FB363}" type="slidenum">
              <a:rPr lang="en-ZA" smtClean="0"/>
              <a:t>2</a:t>
            </a:fld>
            <a:endParaRPr lang="en-ZA"/>
          </a:p>
        </p:txBody>
      </p:sp>
    </p:spTree>
    <p:extLst>
      <p:ext uri="{BB962C8B-B14F-4D97-AF65-F5344CB8AC3E}">
        <p14:creationId xmlns:p14="http://schemas.microsoft.com/office/powerpoint/2010/main" val="279587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E2E4-28F8-ADD3-DD24-DBEA5FE52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EC7AE-DD74-C484-DB2D-00559D0F3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57B24-29EA-4E97-C9B7-323D73FCE36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Notes:</a:t>
            </a:r>
            <a:r>
              <a:rPr lang="en-US" dirty="0"/>
              <a:t> Clarify that each rule is basically a mini decision. If condition X is true, then do Y. All rule engines follow this basic pattern. What we're doing now is creating the foundation to formalize this logic in code.</a:t>
            </a:r>
          </a:p>
          <a:p>
            <a:endParaRPr lang="en-US" dirty="0"/>
          </a:p>
        </p:txBody>
      </p:sp>
      <p:sp>
        <p:nvSpPr>
          <p:cNvPr id="4" name="Slide Number Placeholder 3">
            <a:extLst>
              <a:ext uri="{FF2B5EF4-FFF2-40B4-BE49-F238E27FC236}">
                <a16:creationId xmlns:a16="http://schemas.microsoft.com/office/drawing/2014/main" id="{C1E74477-1EE3-5B35-CD19-11396B362C92}"/>
              </a:ext>
            </a:extLst>
          </p:cNvPr>
          <p:cNvSpPr>
            <a:spLocks noGrp="1"/>
          </p:cNvSpPr>
          <p:nvPr>
            <p:ph type="sldNum" sz="quarter" idx="5"/>
          </p:nvPr>
        </p:nvSpPr>
        <p:spPr/>
        <p:txBody>
          <a:bodyPr/>
          <a:lstStyle/>
          <a:p>
            <a:fld id="{B8212B91-E0CD-4A27-8E94-3FFCFB4FB363}" type="slidenum">
              <a:rPr lang="en-ZA" smtClean="0"/>
              <a:t>3</a:t>
            </a:fld>
            <a:endParaRPr lang="en-ZA"/>
          </a:p>
        </p:txBody>
      </p:sp>
    </p:spTree>
    <p:extLst>
      <p:ext uri="{BB962C8B-B14F-4D97-AF65-F5344CB8AC3E}">
        <p14:creationId xmlns:p14="http://schemas.microsoft.com/office/powerpoint/2010/main" val="285341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7F2D-099B-010F-23B4-34A6E86EB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91688-002C-DD1A-B948-7014D04F7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9BFDB-721C-CBFC-3382-AD25145BF9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Notes:</a:t>
            </a:r>
            <a:r>
              <a:rPr lang="en-US" dirty="0"/>
              <a:t> This is the core interface for all rules. The generic type makes it flexible so we can plug in underwriting input or other models. Each rule will return a simple result: pass or fail, with an optional message.</a:t>
            </a:r>
          </a:p>
          <a:p>
            <a:endParaRPr lang="en-US" dirty="0"/>
          </a:p>
        </p:txBody>
      </p:sp>
      <p:sp>
        <p:nvSpPr>
          <p:cNvPr id="4" name="Slide Number Placeholder 3">
            <a:extLst>
              <a:ext uri="{FF2B5EF4-FFF2-40B4-BE49-F238E27FC236}">
                <a16:creationId xmlns:a16="http://schemas.microsoft.com/office/drawing/2014/main" id="{2AAD47B5-5EF0-5279-0F41-03724FDC961B}"/>
              </a:ext>
            </a:extLst>
          </p:cNvPr>
          <p:cNvSpPr>
            <a:spLocks noGrp="1"/>
          </p:cNvSpPr>
          <p:nvPr>
            <p:ph type="sldNum" sz="quarter" idx="5"/>
          </p:nvPr>
        </p:nvSpPr>
        <p:spPr/>
        <p:txBody>
          <a:bodyPr/>
          <a:lstStyle/>
          <a:p>
            <a:fld id="{B8212B91-E0CD-4A27-8E94-3FFCFB4FB363}" type="slidenum">
              <a:rPr lang="en-ZA" smtClean="0"/>
              <a:t>4</a:t>
            </a:fld>
            <a:endParaRPr lang="en-ZA"/>
          </a:p>
        </p:txBody>
      </p:sp>
    </p:spTree>
    <p:extLst>
      <p:ext uri="{BB962C8B-B14F-4D97-AF65-F5344CB8AC3E}">
        <p14:creationId xmlns:p14="http://schemas.microsoft.com/office/powerpoint/2010/main" val="3141254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7198-D964-CC3C-EDB7-581CD778F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221EA-1306-3A2E-6814-12CB337D9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D1FCE-0B30-0159-96B9-46903B2615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Notes:</a:t>
            </a:r>
            <a:r>
              <a:rPr lang="en-US" dirty="0"/>
              <a:t> Mention that Strategy is being used here—we're encapsulating interchangeable rules. Specification is more advanced but relevant for combining multiple rules into complex logic. We'll explore combining next week.</a:t>
            </a:r>
          </a:p>
          <a:p>
            <a:endParaRPr lang="en-US" dirty="0"/>
          </a:p>
        </p:txBody>
      </p:sp>
      <p:sp>
        <p:nvSpPr>
          <p:cNvPr id="4" name="Slide Number Placeholder 3">
            <a:extLst>
              <a:ext uri="{FF2B5EF4-FFF2-40B4-BE49-F238E27FC236}">
                <a16:creationId xmlns:a16="http://schemas.microsoft.com/office/drawing/2014/main" id="{587E8817-F39E-3AE1-FAA1-2CA8424EA92B}"/>
              </a:ext>
            </a:extLst>
          </p:cNvPr>
          <p:cNvSpPr>
            <a:spLocks noGrp="1"/>
          </p:cNvSpPr>
          <p:nvPr>
            <p:ph type="sldNum" sz="quarter" idx="5"/>
          </p:nvPr>
        </p:nvSpPr>
        <p:spPr/>
        <p:txBody>
          <a:bodyPr/>
          <a:lstStyle/>
          <a:p>
            <a:fld id="{B8212B91-E0CD-4A27-8E94-3FFCFB4FB363}" type="slidenum">
              <a:rPr lang="en-ZA" smtClean="0"/>
              <a:t>5</a:t>
            </a:fld>
            <a:endParaRPr lang="en-ZA"/>
          </a:p>
        </p:txBody>
      </p:sp>
    </p:spTree>
    <p:extLst>
      <p:ext uri="{BB962C8B-B14F-4D97-AF65-F5344CB8AC3E}">
        <p14:creationId xmlns:p14="http://schemas.microsoft.com/office/powerpoint/2010/main" val="3060746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7470-3922-06EF-EC43-7FD6E589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44167-2351-9D36-A94E-E7714EC85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49B12-511A-32DC-36A5-5280BC0C9D10}"/>
              </a:ext>
            </a:extLst>
          </p:cNvPr>
          <p:cNvSpPr>
            <a:spLocks noGrp="1"/>
          </p:cNvSpPr>
          <p:nvPr>
            <p:ph type="body" idx="1"/>
          </p:nvPr>
        </p:nvSpPr>
        <p:spPr/>
        <p:txBody>
          <a:bodyPr/>
          <a:lstStyle/>
          <a:p>
            <a:r>
              <a:rPr lang="en-US" b="1" dirty="0"/>
              <a:t>Slide Notes:</a:t>
            </a:r>
            <a:r>
              <a:rPr lang="en-US" dirty="0"/>
              <a:t> Stress that our design makes it easy to swap rule sources. Today we’re using code to define rules, but we’re setting up for external sources like JSON or Excel in future. This separation is key for flexibility.</a:t>
            </a:r>
          </a:p>
        </p:txBody>
      </p:sp>
      <p:sp>
        <p:nvSpPr>
          <p:cNvPr id="4" name="Slide Number Placeholder 3">
            <a:extLst>
              <a:ext uri="{FF2B5EF4-FFF2-40B4-BE49-F238E27FC236}">
                <a16:creationId xmlns:a16="http://schemas.microsoft.com/office/drawing/2014/main" id="{4548E829-9B2D-8129-3921-3C7BD339A383}"/>
              </a:ext>
            </a:extLst>
          </p:cNvPr>
          <p:cNvSpPr>
            <a:spLocks noGrp="1"/>
          </p:cNvSpPr>
          <p:nvPr>
            <p:ph type="sldNum" sz="quarter" idx="5"/>
          </p:nvPr>
        </p:nvSpPr>
        <p:spPr/>
        <p:txBody>
          <a:bodyPr/>
          <a:lstStyle/>
          <a:p>
            <a:fld id="{B8212B91-E0CD-4A27-8E94-3FFCFB4FB363}" type="slidenum">
              <a:rPr lang="en-ZA" smtClean="0"/>
              <a:t>6</a:t>
            </a:fld>
            <a:endParaRPr lang="en-ZA"/>
          </a:p>
        </p:txBody>
      </p:sp>
    </p:spTree>
    <p:extLst>
      <p:ext uri="{BB962C8B-B14F-4D97-AF65-F5344CB8AC3E}">
        <p14:creationId xmlns:p14="http://schemas.microsoft.com/office/powerpoint/2010/main" val="267533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7DDBB-0869-3A55-6954-22909F041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A5358-69A2-5E0D-9949-289F01DB8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78A1C-7BD3-8A65-3575-C2BB88B45ED0}"/>
              </a:ext>
            </a:extLst>
          </p:cNvPr>
          <p:cNvSpPr>
            <a:spLocks noGrp="1"/>
          </p:cNvSpPr>
          <p:nvPr>
            <p:ph type="body" idx="1"/>
          </p:nvPr>
        </p:nvSpPr>
        <p:spPr/>
        <p:txBody>
          <a:bodyPr/>
          <a:lstStyle/>
          <a:p>
            <a:r>
              <a:rPr lang="en-US" b="1" dirty="0"/>
              <a:t>Slide Notes:</a:t>
            </a:r>
            <a:r>
              <a:rPr lang="en-US" dirty="0"/>
              <a:t> Guide everyone through the goal of the session. You’re building basic rule logic in code that aligns with what we did in our Excel rule matrix. Use your own data if you like. Encourage peer collaboration.</a:t>
            </a:r>
          </a:p>
        </p:txBody>
      </p:sp>
      <p:sp>
        <p:nvSpPr>
          <p:cNvPr id="4" name="Slide Number Placeholder 3">
            <a:extLst>
              <a:ext uri="{FF2B5EF4-FFF2-40B4-BE49-F238E27FC236}">
                <a16:creationId xmlns:a16="http://schemas.microsoft.com/office/drawing/2014/main" id="{170291D3-8068-CCA4-30D7-5D2025BF2FAF}"/>
              </a:ext>
            </a:extLst>
          </p:cNvPr>
          <p:cNvSpPr>
            <a:spLocks noGrp="1"/>
          </p:cNvSpPr>
          <p:nvPr>
            <p:ph type="sldNum" sz="quarter" idx="5"/>
          </p:nvPr>
        </p:nvSpPr>
        <p:spPr/>
        <p:txBody>
          <a:bodyPr/>
          <a:lstStyle/>
          <a:p>
            <a:fld id="{B8212B91-E0CD-4A27-8E94-3FFCFB4FB363}" type="slidenum">
              <a:rPr lang="en-ZA" smtClean="0"/>
              <a:t>7</a:t>
            </a:fld>
            <a:endParaRPr lang="en-ZA"/>
          </a:p>
        </p:txBody>
      </p:sp>
    </p:spTree>
    <p:extLst>
      <p:ext uri="{BB962C8B-B14F-4D97-AF65-F5344CB8AC3E}">
        <p14:creationId xmlns:p14="http://schemas.microsoft.com/office/powerpoint/2010/main" val="1746401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E86BC-6037-048B-11F6-6B3D1BB052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E9E0-5B05-D9E8-35E0-DB521F8C5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1C51A-4404-809A-D7A5-A36744DCE61C}"/>
              </a:ext>
            </a:extLst>
          </p:cNvPr>
          <p:cNvSpPr>
            <a:spLocks noGrp="1"/>
          </p:cNvSpPr>
          <p:nvPr>
            <p:ph type="body" idx="1"/>
          </p:nvPr>
        </p:nvSpPr>
        <p:spPr/>
        <p:txBody>
          <a:bodyPr/>
          <a:lstStyle/>
          <a:p>
            <a:r>
              <a:rPr lang="en-US" b="1" dirty="0"/>
              <a:t>Slide Notes:</a:t>
            </a:r>
            <a:r>
              <a:rPr lang="en-US" dirty="0"/>
              <a:t> This is our input class for this session. It matches the columns in our underwriting rule matrix. You can add to it later, but keep it simple for now. Every rule we write will consume this input.</a:t>
            </a:r>
          </a:p>
        </p:txBody>
      </p:sp>
      <p:sp>
        <p:nvSpPr>
          <p:cNvPr id="4" name="Slide Number Placeholder 3">
            <a:extLst>
              <a:ext uri="{FF2B5EF4-FFF2-40B4-BE49-F238E27FC236}">
                <a16:creationId xmlns:a16="http://schemas.microsoft.com/office/drawing/2014/main" id="{E458EED5-BF28-40E4-F54A-D2F23CC343B2}"/>
              </a:ext>
            </a:extLst>
          </p:cNvPr>
          <p:cNvSpPr>
            <a:spLocks noGrp="1"/>
          </p:cNvSpPr>
          <p:nvPr>
            <p:ph type="sldNum" sz="quarter" idx="5"/>
          </p:nvPr>
        </p:nvSpPr>
        <p:spPr/>
        <p:txBody>
          <a:bodyPr/>
          <a:lstStyle/>
          <a:p>
            <a:fld id="{B8212B91-E0CD-4A27-8E94-3FFCFB4FB363}" type="slidenum">
              <a:rPr lang="en-ZA" smtClean="0"/>
              <a:t>8</a:t>
            </a:fld>
            <a:endParaRPr lang="en-ZA"/>
          </a:p>
        </p:txBody>
      </p:sp>
    </p:spTree>
    <p:extLst>
      <p:ext uri="{BB962C8B-B14F-4D97-AF65-F5344CB8AC3E}">
        <p14:creationId xmlns:p14="http://schemas.microsoft.com/office/powerpoint/2010/main" val="749400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7B3F-AE65-55C5-F799-D59348487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F62A3-27BD-DA2A-15CC-78FE32C9D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62450-8EC1-3AA3-6BA2-39A7F5DF8664}"/>
              </a:ext>
            </a:extLst>
          </p:cNvPr>
          <p:cNvSpPr>
            <a:spLocks noGrp="1"/>
          </p:cNvSpPr>
          <p:nvPr>
            <p:ph type="body" idx="1"/>
          </p:nvPr>
        </p:nvSpPr>
        <p:spPr/>
        <p:txBody>
          <a:bodyPr/>
          <a:lstStyle/>
          <a:p>
            <a:r>
              <a:rPr lang="en-US" b="1" dirty="0"/>
              <a:t>Slide Notes:</a:t>
            </a:r>
            <a:r>
              <a:rPr lang="en-US" dirty="0"/>
              <a:t> Explain that this rule checks for a specific underwriting condition. If the person is under 25, it fails. If not, it passes. Other rules will look very similar but check different fields. Once this works, testing it is easy.</a:t>
            </a:r>
          </a:p>
        </p:txBody>
      </p:sp>
      <p:sp>
        <p:nvSpPr>
          <p:cNvPr id="4" name="Slide Number Placeholder 3">
            <a:extLst>
              <a:ext uri="{FF2B5EF4-FFF2-40B4-BE49-F238E27FC236}">
                <a16:creationId xmlns:a16="http://schemas.microsoft.com/office/drawing/2014/main" id="{DAF958B3-2E5F-2025-A0FF-B4612B54A3DE}"/>
              </a:ext>
            </a:extLst>
          </p:cNvPr>
          <p:cNvSpPr>
            <a:spLocks noGrp="1"/>
          </p:cNvSpPr>
          <p:nvPr>
            <p:ph type="sldNum" sz="quarter" idx="5"/>
          </p:nvPr>
        </p:nvSpPr>
        <p:spPr/>
        <p:txBody>
          <a:bodyPr/>
          <a:lstStyle/>
          <a:p>
            <a:fld id="{B8212B91-E0CD-4A27-8E94-3FFCFB4FB363}" type="slidenum">
              <a:rPr lang="en-ZA" smtClean="0"/>
              <a:t>9</a:t>
            </a:fld>
            <a:endParaRPr lang="en-ZA"/>
          </a:p>
        </p:txBody>
      </p:sp>
    </p:spTree>
    <p:extLst>
      <p:ext uri="{BB962C8B-B14F-4D97-AF65-F5344CB8AC3E}">
        <p14:creationId xmlns:p14="http://schemas.microsoft.com/office/powerpoint/2010/main" val="1159729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6810-EFB9-4555-717D-1893737A9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F6445-905C-7053-CBF1-E167857EB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21574-55CB-A89C-6DCB-FA8751CDF412}"/>
              </a:ext>
            </a:extLst>
          </p:cNvPr>
          <p:cNvSpPr>
            <a:spLocks noGrp="1"/>
          </p:cNvSpPr>
          <p:nvPr>
            <p:ph type="body" idx="1"/>
          </p:nvPr>
        </p:nvSpPr>
        <p:spPr/>
        <p:txBody>
          <a:bodyPr/>
          <a:lstStyle/>
          <a:p>
            <a:r>
              <a:rPr lang="en-US" b="1" dirty="0"/>
              <a:t>Slide Notes:</a:t>
            </a:r>
            <a:r>
              <a:rPr lang="en-US" dirty="0"/>
              <a:t> Highlight the progress made: we’ve moved from ideas to working code. These rules can now be composed, tested, and reused. Next week, we go further by chaining and evaluating multiple rules at once.</a:t>
            </a:r>
          </a:p>
        </p:txBody>
      </p:sp>
      <p:sp>
        <p:nvSpPr>
          <p:cNvPr id="4" name="Slide Number Placeholder 3">
            <a:extLst>
              <a:ext uri="{FF2B5EF4-FFF2-40B4-BE49-F238E27FC236}">
                <a16:creationId xmlns:a16="http://schemas.microsoft.com/office/drawing/2014/main" id="{E4FE55B6-3492-7BC2-C2BA-4D2667D1FF2F}"/>
              </a:ext>
            </a:extLst>
          </p:cNvPr>
          <p:cNvSpPr>
            <a:spLocks noGrp="1"/>
          </p:cNvSpPr>
          <p:nvPr>
            <p:ph type="sldNum" sz="quarter" idx="5"/>
          </p:nvPr>
        </p:nvSpPr>
        <p:spPr/>
        <p:txBody>
          <a:bodyPr/>
          <a:lstStyle/>
          <a:p>
            <a:fld id="{B8212B91-E0CD-4A27-8E94-3FFCFB4FB363}" type="slidenum">
              <a:rPr lang="en-ZA" smtClean="0"/>
              <a:t>10</a:t>
            </a:fld>
            <a:endParaRPr lang="en-ZA"/>
          </a:p>
        </p:txBody>
      </p:sp>
    </p:spTree>
    <p:extLst>
      <p:ext uri="{BB962C8B-B14F-4D97-AF65-F5344CB8AC3E}">
        <p14:creationId xmlns:p14="http://schemas.microsoft.com/office/powerpoint/2010/main" val="3602742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7246D-AA53-489A-7521-C6DF8DBE8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3001E-0D17-93B5-CC24-D6F7AA654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32DA-FAB6-7441-639D-57F8DFDE7F35}"/>
              </a:ext>
            </a:extLst>
          </p:cNvPr>
          <p:cNvSpPr>
            <a:spLocks noGrp="1"/>
          </p:cNvSpPr>
          <p:nvPr>
            <p:ph type="body" idx="1"/>
          </p:nvPr>
        </p:nvSpPr>
        <p:spPr/>
        <p:txBody>
          <a:bodyPr/>
          <a:lstStyle/>
          <a:p>
            <a:r>
              <a:rPr lang="en-US" b="1" dirty="0"/>
              <a:t>Slide Notes:</a:t>
            </a:r>
            <a:r>
              <a:rPr lang="en-US" dirty="0"/>
              <a:t> Congratulate the group. Invite them to share their rules on Slack or GitHub. Suggest they try writing a "cover vs income" rule to prepare for combining logic next week.</a:t>
            </a:r>
          </a:p>
        </p:txBody>
      </p:sp>
      <p:sp>
        <p:nvSpPr>
          <p:cNvPr id="4" name="Slide Number Placeholder 3">
            <a:extLst>
              <a:ext uri="{FF2B5EF4-FFF2-40B4-BE49-F238E27FC236}">
                <a16:creationId xmlns:a16="http://schemas.microsoft.com/office/drawing/2014/main" id="{5AD9B320-2F99-C21B-DC4B-462EA0490117}"/>
              </a:ext>
            </a:extLst>
          </p:cNvPr>
          <p:cNvSpPr>
            <a:spLocks noGrp="1"/>
          </p:cNvSpPr>
          <p:nvPr>
            <p:ph type="sldNum" sz="quarter" idx="5"/>
          </p:nvPr>
        </p:nvSpPr>
        <p:spPr/>
        <p:txBody>
          <a:bodyPr/>
          <a:lstStyle/>
          <a:p>
            <a:fld id="{B8212B91-E0CD-4A27-8E94-3FFCFB4FB363}" type="slidenum">
              <a:rPr lang="en-ZA" smtClean="0"/>
              <a:t>11</a:t>
            </a:fld>
            <a:endParaRPr lang="en-ZA"/>
          </a:p>
        </p:txBody>
      </p:sp>
    </p:spTree>
    <p:extLst>
      <p:ext uri="{BB962C8B-B14F-4D97-AF65-F5344CB8AC3E}">
        <p14:creationId xmlns:p14="http://schemas.microsoft.com/office/powerpoint/2010/main" val="2065976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EC6B-51F4-4FF9-47C2-565FC50E5A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D979231B-DB68-CB14-4E16-A7EF202B0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B0C10DA5-D6F3-7578-2E72-3965043F5A5D}"/>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5" name="Footer Placeholder 4">
            <a:extLst>
              <a:ext uri="{FF2B5EF4-FFF2-40B4-BE49-F238E27FC236}">
                <a16:creationId xmlns:a16="http://schemas.microsoft.com/office/drawing/2014/main" id="{293BD34E-A9F1-77BD-44F5-8818770B6BD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E7F4395-185D-503B-7277-093D411D5D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75373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D767-2B47-B282-A8B9-1F5E6964160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36C5871-97CC-F6B9-D959-C8DB66B94B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5131384-9E0B-55CC-56E7-7F4C3D2B7457}"/>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5" name="Footer Placeholder 4">
            <a:extLst>
              <a:ext uri="{FF2B5EF4-FFF2-40B4-BE49-F238E27FC236}">
                <a16:creationId xmlns:a16="http://schemas.microsoft.com/office/drawing/2014/main" id="{32890C63-8765-5319-BAB0-903EC275A39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887F71D-BB84-EE4C-BC9C-042F5651AB80}"/>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841708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E4A4-9C0F-29EC-4935-65F4167115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CF069B1-1F34-E629-5C9A-621EEA42BD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3E68CA-2DF5-9A0B-2EC5-6F4FB1C17E5C}"/>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5" name="Footer Placeholder 4">
            <a:extLst>
              <a:ext uri="{FF2B5EF4-FFF2-40B4-BE49-F238E27FC236}">
                <a16:creationId xmlns:a16="http://schemas.microsoft.com/office/drawing/2014/main" id="{242D83BC-BB2E-9230-4D43-BDC2ADEE96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6E090AA-3974-9778-9BF6-D2DFC13481BB}"/>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369255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4727-80C2-BED7-C8D4-AEAEA844779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BCE4CD0-7BD8-D1C4-8B1E-DE811BA11D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3EE87D7E-E8E5-5253-2A73-9607063585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D477266-2181-DA59-B14A-D01CB1659567}"/>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6" name="Footer Placeholder 5">
            <a:extLst>
              <a:ext uri="{FF2B5EF4-FFF2-40B4-BE49-F238E27FC236}">
                <a16:creationId xmlns:a16="http://schemas.microsoft.com/office/drawing/2014/main" id="{64A7795A-0AE7-FFE4-6224-73D4FB8886B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AF49741-CFB3-DB77-88F4-DED6635A8AA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15781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52FC-CB4B-9CA1-68D0-D8527AC7878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35C2772-07E5-2ABF-8A41-2E3901F25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4444A3-7553-92CF-B0D3-F91CB46519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76C2217-21D6-176C-4864-E5F282DAB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B6A42B-F292-1689-AA7A-7585C7D8DE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95EB90E5-2DDB-D3DC-1E65-A0B75FCD1B85}"/>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8" name="Footer Placeholder 7">
            <a:extLst>
              <a:ext uri="{FF2B5EF4-FFF2-40B4-BE49-F238E27FC236}">
                <a16:creationId xmlns:a16="http://schemas.microsoft.com/office/drawing/2014/main" id="{5C776851-E153-0573-0579-5992BFFE5EC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7141AD5-01CA-B5AA-56B3-27C0E3B1E862}"/>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289696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409D-B102-75AC-89F5-3CC282348267}"/>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311B483-142A-40A5-6A3E-898810667210}"/>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4" name="Footer Placeholder 3">
            <a:extLst>
              <a:ext uri="{FF2B5EF4-FFF2-40B4-BE49-F238E27FC236}">
                <a16:creationId xmlns:a16="http://schemas.microsoft.com/office/drawing/2014/main" id="{E91FDABD-E7DF-E6DA-2D79-1E7AD21EE54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C94D975-D1D0-74A6-E73F-CC233B37CA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08688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044AA2-800A-8BAD-D379-03DC0F21C470}"/>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3" name="Footer Placeholder 2">
            <a:extLst>
              <a:ext uri="{FF2B5EF4-FFF2-40B4-BE49-F238E27FC236}">
                <a16:creationId xmlns:a16="http://schemas.microsoft.com/office/drawing/2014/main" id="{3183BC7E-212D-468F-EC74-16C538058B5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531A678-9598-7B12-6EF9-E6402DA4C5C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35618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1B115-3753-9B70-1000-B0E3BA0D7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3F3BE9C-3C59-E0B4-ACE9-0933CB7461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D0962F6-AA24-DB8D-ACD8-68980426B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E8CFFE-3845-DCA9-EE47-705C065E1E5F}"/>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6" name="Footer Placeholder 5">
            <a:extLst>
              <a:ext uri="{FF2B5EF4-FFF2-40B4-BE49-F238E27FC236}">
                <a16:creationId xmlns:a16="http://schemas.microsoft.com/office/drawing/2014/main" id="{6665DC10-6B3F-F801-4823-9DC0433570C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AD75250-3DCC-75D5-5D6C-A4A93A27044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411968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02DB-D175-012C-D30B-E1E23FA7A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F93B14E2-EF9B-F841-D3F1-ABCCE473BC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4A026016-0990-F592-1329-94D10BEDD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AC5CC-7A99-CDD9-8A80-BB30C9FDD6AA}"/>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6" name="Footer Placeholder 5">
            <a:extLst>
              <a:ext uri="{FF2B5EF4-FFF2-40B4-BE49-F238E27FC236}">
                <a16:creationId xmlns:a16="http://schemas.microsoft.com/office/drawing/2014/main" id="{56F668BB-AE8F-35EA-9EAB-F3C2CE0E2A4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659BD69-9A43-FB29-1FF9-E6ADA5C20B9E}"/>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8566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D91D-6FA8-B086-FAC9-D37B78CF60C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31AE85E3-0653-2F13-18DA-37E00B6A80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F4CBFF1-676D-A90A-5655-F014B6B563FC}"/>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5" name="Footer Placeholder 4">
            <a:extLst>
              <a:ext uri="{FF2B5EF4-FFF2-40B4-BE49-F238E27FC236}">
                <a16:creationId xmlns:a16="http://schemas.microsoft.com/office/drawing/2014/main" id="{F140DD1F-CAF5-CAF2-FCC0-7D29A277C66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6816151-6BB1-4A97-CE1F-39BDF2AEC9DF}"/>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78069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0E4AA-BA27-A354-9027-D8B84ED024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F15BDF4-E085-AAB4-4598-F30989F495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CB4D25C-2F6C-A3EF-0BEE-14F378288D18}"/>
              </a:ext>
            </a:extLst>
          </p:cNvPr>
          <p:cNvSpPr>
            <a:spLocks noGrp="1"/>
          </p:cNvSpPr>
          <p:nvPr>
            <p:ph type="dt" sz="half" idx="10"/>
          </p:nvPr>
        </p:nvSpPr>
        <p:spPr/>
        <p:txBody>
          <a:bodyPr/>
          <a:lstStyle/>
          <a:p>
            <a:fld id="{3B8C6FD3-9AEF-4591-AA33-12F3540D81C2}" type="datetimeFigureOut">
              <a:rPr lang="en-ZA" smtClean="0"/>
              <a:t>2025/07/10</a:t>
            </a:fld>
            <a:endParaRPr lang="en-ZA"/>
          </a:p>
        </p:txBody>
      </p:sp>
      <p:sp>
        <p:nvSpPr>
          <p:cNvPr id="5" name="Footer Placeholder 4">
            <a:extLst>
              <a:ext uri="{FF2B5EF4-FFF2-40B4-BE49-F238E27FC236}">
                <a16:creationId xmlns:a16="http://schemas.microsoft.com/office/drawing/2014/main" id="{02C14CC2-42E0-0E6A-2C49-08D8AD68A13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8CD19D3-2B19-A2F0-A925-00914345AF44}"/>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444121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608699-866E-CE2C-CB1C-234155D5D5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278DD56-2CB8-D24A-462F-F8B614A93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44AF630-9B69-1DE1-E313-F502CEF2AC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8C6FD3-9AEF-4591-AA33-12F3540D81C2}" type="datetimeFigureOut">
              <a:rPr lang="en-ZA" smtClean="0"/>
              <a:t>2025/07/10</a:t>
            </a:fld>
            <a:endParaRPr lang="en-ZA"/>
          </a:p>
        </p:txBody>
      </p:sp>
      <p:sp>
        <p:nvSpPr>
          <p:cNvPr id="5" name="Footer Placeholder 4">
            <a:extLst>
              <a:ext uri="{FF2B5EF4-FFF2-40B4-BE49-F238E27FC236}">
                <a16:creationId xmlns:a16="http://schemas.microsoft.com/office/drawing/2014/main" id="{1EAA3D92-27E5-2D80-6474-2C3609CA90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2237CB4-F86D-A0BA-3390-73157797A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935617-4959-484E-BC71-FED80877E89F}" type="slidenum">
              <a:rPr lang="en-ZA" smtClean="0"/>
              <a:t>‹#›</a:t>
            </a:fld>
            <a:endParaRPr lang="en-ZA"/>
          </a:p>
        </p:txBody>
      </p:sp>
    </p:spTree>
    <p:extLst>
      <p:ext uri="{BB962C8B-B14F-4D97-AF65-F5344CB8AC3E}">
        <p14:creationId xmlns:p14="http://schemas.microsoft.com/office/powerpoint/2010/main" val="3688741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a white and yellow figure">
            <a:extLst>
              <a:ext uri="{FF2B5EF4-FFF2-40B4-BE49-F238E27FC236}">
                <a16:creationId xmlns:a16="http://schemas.microsoft.com/office/drawing/2014/main" id="{F3BE0D3B-FC64-310E-653C-F39820C85A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E66624A-B6AD-8129-7B6B-1843C085BA3A}"/>
              </a:ext>
            </a:extLst>
          </p:cNvPr>
          <p:cNvSpPr>
            <a:spLocks noGrp="1"/>
          </p:cNvSpPr>
          <p:nvPr>
            <p:ph type="ctrTitle"/>
          </p:nvPr>
        </p:nvSpPr>
        <p:spPr>
          <a:xfrm>
            <a:off x="69552" y="1122363"/>
            <a:ext cx="12026303" cy="2306637"/>
          </a:xfrm>
        </p:spPr>
        <p:txBody>
          <a:bodyPr>
            <a:normAutofit/>
          </a:bodyPr>
          <a:lstStyle/>
          <a:p>
            <a:r>
              <a:rPr lang="en-US" dirty="0">
                <a:solidFill>
                  <a:schemeClr val="bg1"/>
                </a:solidFill>
                <a:latin typeface="Poppins" panose="00000500000000000000" pitchFamily="2" charset="0"/>
                <a:cs typeface="Poppins" panose="00000500000000000000" pitchFamily="2" charset="0"/>
              </a:rPr>
              <a:t>Designing the Rule Engine Core</a:t>
            </a:r>
            <a:br>
              <a:rPr lang="en-ZA" dirty="0">
                <a:solidFill>
                  <a:schemeClr val="bg1"/>
                </a:solidFill>
                <a:latin typeface="Poppins" panose="00000500000000000000" pitchFamily="2" charset="0"/>
                <a:cs typeface="Poppins" panose="00000500000000000000" pitchFamily="2" charset="0"/>
              </a:rPr>
            </a:br>
            <a:endParaRPr lang="en-ZA" dirty="0">
              <a:solidFill>
                <a:schemeClr val="bg1"/>
              </a:solidFill>
              <a:latin typeface="Poppins" panose="00000500000000000000" pitchFamily="2" charset="0"/>
              <a:cs typeface="Poppins" panose="00000500000000000000" pitchFamily="2" charset="0"/>
            </a:endParaRPr>
          </a:p>
        </p:txBody>
      </p:sp>
      <p:sp>
        <p:nvSpPr>
          <p:cNvPr id="3" name="Subtitle 2">
            <a:extLst>
              <a:ext uri="{FF2B5EF4-FFF2-40B4-BE49-F238E27FC236}">
                <a16:creationId xmlns:a16="http://schemas.microsoft.com/office/drawing/2014/main" id="{F3CC2D5F-E6E6-C6BB-3A84-004F82806BA0}"/>
              </a:ext>
            </a:extLst>
          </p:cNvPr>
          <p:cNvSpPr>
            <a:spLocks noGrp="1"/>
          </p:cNvSpPr>
          <p:nvPr>
            <p:ph type="subTitle" idx="1"/>
          </p:nvPr>
        </p:nvSpPr>
        <p:spPr>
          <a:xfrm>
            <a:off x="1679275" y="2976564"/>
            <a:ext cx="9144000" cy="1655762"/>
          </a:xfrm>
        </p:spPr>
        <p:txBody>
          <a:bodyPr/>
          <a:lstStyle/>
          <a:p>
            <a:r>
              <a:rPr lang="en-US" dirty="0">
                <a:solidFill>
                  <a:schemeClr val="bg1"/>
                </a:solidFill>
                <a:latin typeface="Poppins" panose="00000500000000000000" pitchFamily="2" charset="0"/>
                <a:cs typeface="Poppins" panose="00000500000000000000" pitchFamily="2" charset="0"/>
              </a:rPr>
              <a:t>From Logic to Engine: Modularizing Underwriting Rules</a:t>
            </a:r>
          </a:p>
        </p:txBody>
      </p:sp>
      <p:sp>
        <p:nvSpPr>
          <p:cNvPr id="4" name="TextBox 3">
            <a:extLst>
              <a:ext uri="{FF2B5EF4-FFF2-40B4-BE49-F238E27FC236}">
                <a16:creationId xmlns:a16="http://schemas.microsoft.com/office/drawing/2014/main" id="{F873CE58-2129-5518-7F9A-79256045C0F4}"/>
              </a:ext>
            </a:extLst>
          </p:cNvPr>
          <p:cNvSpPr txBox="1"/>
          <p:nvPr/>
        </p:nvSpPr>
        <p:spPr>
          <a:xfrm>
            <a:off x="203199" y="5040998"/>
            <a:ext cx="5172364" cy="646331"/>
          </a:xfrm>
          <a:prstGeom prst="rect">
            <a:avLst/>
          </a:prstGeom>
          <a:noFill/>
        </p:spPr>
        <p:txBody>
          <a:bodyPr wrap="square" rtlCol="0">
            <a:spAutoFit/>
          </a:bodyPr>
          <a:lstStyle/>
          <a:p>
            <a:r>
              <a:rPr lang="en-ZA" dirty="0">
                <a:solidFill>
                  <a:schemeClr val="bg1"/>
                </a:solidFill>
                <a:latin typeface="Poppins" panose="00000500000000000000" pitchFamily="2" charset="0"/>
                <a:cs typeface="Poppins" panose="00000500000000000000" pitchFamily="2" charset="0"/>
              </a:rPr>
              <a:t>Presented by: Treveshan Naidoo</a:t>
            </a:r>
          </a:p>
          <a:p>
            <a:r>
              <a:rPr lang="en-ZA" dirty="0">
                <a:solidFill>
                  <a:schemeClr val="bg1"/>
                </a:solidFill>
                <a:latin typeface="Poppins" panose="00000500000000000000" pitchFamily="2" charset="0"/>
                <a:cs typeface="Poppins" panose="00000500000000000000" pitchFamily="2" charset="0"/>
              </a:rPr>
              <a:t>TTD Consulting Internal Learning Series</a:t>
            </a:r>
          </a:p>
        </p:txBody>
      </p:sp>
    </p:spTree>
    <p:extLst>
      <p:ext uri="{BB962C8B-B14F-4D97-AF65-F5344CB8AC3E}">
        <p14:creationId xmlns:p14="http://schemas.microsoft.com/office/powerpoint/2010/main" val="3388848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047716FF-D1BD-070F-70DB-BAE97CACD1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55613BBD-DD38-678C-3AD4-8B25D546ED41}"/>
              </a:ext>
            </a:extLst>
          </p:cNvPr>
          <p:cNvSpPr>
            <a:spLocks noGrp="1"/>
          </p:cNvSpPr>
          <p:nvPr>
            <p:ph type="title"/>
          </p:nvPr>
        </p:nvSpPr>
        <p:spPr/>
        <p:txBody>
          <a:bodyPr/>
          <a:lstStyle/>
          <a:p>
            <a:pPr algn="ctr"/>
            <a:r>
              <a:rPr lang="en-ZA" b="1" dirty="0">
                <a:solidFill>
                  <a:schemeClr val="bg1"/>
                </a:solidFill>
              </a:rPr>
              <a:t>Welcome</a:t>
            </a:r>
            <a:br>
              <a:rPr lang="en-ZA" dirty="0">
                <a:solidFill>
                  <a:schemeClr val="bg1"/>
                </a:solidFill>
              </a:rPr>
            </a:b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5B4022B9-C514-A496-F3BB-2CE6DB4BDB28}"/>
              </a:ext>
            </a:extLst>
          </p:cNvPr>
          <p:cNvSpPr txBox="1"/>
          <p:nvPr/>
        </p:nvSpPr>
        <p:spPr>
          <a:xfrm>
            <a:off x="1838036" y="1468582"/>
            <a:ext cx="8137236" cy="143353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bg1"/>
                </a:solidFill>
              </a:rPr>
              <a:t>Quick recap of Week 1</a:t>
            </a:r>
          </a:p>
          <a:p>
            <a:pPr marL="285750" indent="-285750">
              <a:lnSpc>
                <a:spcPct val="150000"/>
              </a:lnSpc>
              <a:buFont typeface="Arial" panose="020B0604020202020204" pitchFamily="34" charset="0"/>
              <a:buChar char="•"/>
            </a:pPr>
            <a:r>
              <a:rPr lang="en-US" sz="2000" dirty="0">
                <a:solidFill>
                  <a:schemeClr val="bg1"/>
                </a:solidFill>
              </a:rPr>
              <a:t>This week: How to structure code to support flexible, testable rules</a:t>
            </a:r>
          </a:p>
          <a:p>
            <a:pPr marL="285750" indent="-285750">
              <a:lnSpc>
                <a:spcPct val="150000"/>
              </a:lnSpc>
              <a:buFont typeface="Arial" panose="020B0604020202020204" pitchFamily="34" charset="0"/>
              <a:buChar char="•"/>
            </a:pPr>
            <a:r>
              <a:rPr lang="en-US" sz="2000" dirty="0">
                <a:solidFill>
                  <a:schemeClr val="bg1"/>
                </a:solidFill>
              </a:rPr>
              <a:t>Goal: Start building our own rule engine foundation</a:t>
            </a:r>
            <a:endParaRPr lang="en-ZA"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61699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ED7F-A8A6-79D1-04A3-34F95F11E97E}"/>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82B8C6FC-4673-453F-839C-9A8585DC4E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16177148-7AD3-5F9C-583F-FBBCEA2083A9}"/>
              </a:ext>
            </a:extLst>
          </p:cNvPr>
          <p:cNvSpPr>
            <a:spLocks noGrp="1"/>
          </p:cNvSpPr>
          <p:nvPr>
            <p:ph type="title"/>
          </p:nvPr>
        </p:nvSpPr>
        <p:spPr/>
        <p:txBody>
          <a:bodyPr/>
          <a:lstStyle/>
          <a:p>
            <a:pPr algn="ctr"/>
            <a:r>
              <a:rPr lang="en-US" b="1" dirty="0">
                <a:solidFill>
                  <a:schemeClr val="bg1"/>
                </a:solidFill>
              </a:rPr>
              <a:t>Rule Structure</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E6FED14A-E585-90EC-19CC-4C053F3E9BD9}"/>
              </a:ext>
            </a:extLst>
          </p:cNvPr>
          <p:cNvSpPr txBox="1"/>
          <p:nvPr/>
        </p:nvSpPr>
        <p:spPr>
          <a:xfrm>
            <a:off x="1930400" y="2109152"/>
            <a:ext cx="8137236" cy="189519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solidFill>
                  <a:schemeClr val="bg1"/>
                </a:solidFill>
              </a:rPr>
              <a:t>Every rule has:</a:t>
            </a:r>
          </a:p>
          <a:p>
            <a:pPr marL="800100" lvl="1" indent="-342900">
              <a:lnSpc>
                <a:spcPct val="150000"/>
              </a:lnSpc>
              <a:buFont typeface="Arial" panose="020B0604020202020204" pitchFamily="34" charset="0"/>
              <a:buChar char="•"/>
            </a:pPr>
            <a:r>
              <a:rPr lang="en-US" sz="2000" dirty="0">
                <a:solidFill>
                  <a:schemeClr val="bg1"/>
                </a:solidFill>
              </a:rPr>
              <a:t>Condition (what needs to be true?)</a:t>
            </a:r>
          </a:p>
          <a:p>
            <a:pPr marL="800100" lvl="1" indent="-342900">
              <a:lnSpc>
                <a:spcPct val="150000"/>
              </a:lnSpc>
              <a:buFont typeface="Arial" panose="020B0604020202020204" pitchFamily="34" charset="0"/>
              <a:buChar char="•"/>
            </a:pPr>
            <a:r>
              <a:rPr lang="en-US" sz="2000" dirty="0">
                <a:solidFill>
                  <a:schemeClr val="bg1"/>
                </a:solidFill>
              </a:rPr>
              <a:t>Result (what happens if true?)</a:t>
            </a:r>
          </a:p>
          <a:p>
            <a:pPr marL="342900" indent="-342900">
              <a:lnSpc>
                <a:spcPct val="150000"/>
              </a:lnSpc>
              <a:buFont typeface="Arial" panose="020B0604020202020204" pitchFamily="34" charset="0"/>
              <a:buChar char="•"/>
            </a:pPr>
            <a:r>
              <a:rPr lang="en-US" sz="2000" dirty="0">
                <a:solidFill>
                  <a:schemeClr val="bg1"/>
                </a:solidFill>
              </a:rPr>
              <a:t>This forms the building block of any rule engine</a:t>
            </a:r>
            <a:endParaRPr lang="en-ZA"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26798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38BED-B058-2782-12F9-3F44A49D0E1B}"/>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15D07048-FA3E-C9DB-67E1-2D6CA6C3D0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A228670F-2B9C-8280-337B-FB2C8450F134}"/>
              </a:ext>
            </a:extLst>
          </p:cNvPr>
          <p:cNvSpPr>
            <a:spLocks noGrp="1"/>
          </p:cNvSpPr>
          <p:nvPr>
            <p:ph type="title"/>
          </p:nvPr>
        </p:nvSpPr>
        <p:spPr/>
        <p:txBody>
          <a:bodyPr/>
          <a:lstStyle/>
          <a:p>
            <a:pPr algn="ctr"/>
            <a:r>
              <a:rPr lang="en-US" b="1" dirty="0">
                <a:solidFill>
                  <a:schemeClr val="bg1"/>
                </a:solidFill>
              </a:rPr>
              <a:t> C# Interface for Rules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09F365C7-1E09-629B-F8C0-2EBBF03FBB0C}"/>
              </a:ext>
            </a:extLst>
          </p:cNvPr>
          <p:cNvSpPr txBox="1"/>
          <p:nvPr/>
        </p:nvSpPr>
        <p:spPr>
          <a:xfrm>
            <a:off x="2027382" y="1444586"/>
            <a:ext cx="8137236" cy="50962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rPr>
              <a:t>Generic interface allows reuse for different rule types</a:t>
            </a:r>
            <a:endParaRPr lang="en-US" sz="2000" dirty="0">
              <a:solidFill>
                <a:schemeClr val="bg1"/>
              </a:solidFill>
            </a:endParaRPr>
          </a:p>
        </p:txBody>
      </p:sp>
      <p:pic>
        <p:nvPicPr>
          <p:cNvPr id="8" name="Picture 7">
            <a:extLst>
              <a:ext uri="{FF2B5EF4-FFF2-40B4-BE49-F238E27FC236}">
                <a16:creationId xmlns:a16="http://schemas.microsoft.com/office/drawing/2014/main" id="{66684DC1-E12F-046A-EA57-E197271BC843}"/>
              </a:ext>
            </a:extLst>
          </p:cNvPr>
          <p:cNvPicPr>
            <a:picLocks noChangeAspect="1"/>
          </p:cNvPicPr>
          <p:nvPr/>
        </p:nvPicPr>
        <p:blipFill>
          <a:blip r:embed="rId4"/>
          <a:stretch>
            <a:fillRect/>
          </a:stretch>
        </p:blipFill>
        <p:spPr>
          <a:xfrm>
            <a:off x="2027381" y="2010621"/>
            <a:ext cx="6819735" cy="4270227"/>
          </a:xfrm>
          <a:prstGeom prst="rect">
            <a:avLst/>
          </a:prstGeom>
        </p:spPr>
      </p:pic>
    </p:spTree>
    <p:extLst>
      <p:ext uri="{BB962C8B-B14F-4D97-AF65-F5344CB8AC3E}">
        <p14:creationId xmlns:p14="http://schemas.microsoft.com/office/powerpoint/2010/main" val="1351588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869A-01D1-9910-C294-A5D0F43D8717}"/>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C5CD25D5-7E15-AD8B-E3E4-3DE34647FC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8A05FF6F-AD08-C132-73F3-4ECAD0B9441E}"/>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Design Patterns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A2795766-5F4B-2F34-5E97-9716EFB6BA69}"/>
              </a:ext>
            </a:extLst>
          </p:cNvPr>
          <p:cNvSpPr txBox="1"/>
          <p:nvPr/>
        </p:nvSpPr>
        <p:spPr>
          <a:xfrm>
            <a:off x="1265382" y="2109152"/>
            <a:ext cx="10631054" cy="14337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Strategy Pattern: Encapsulate different rules behind the same interface</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Specification Pattern: Combine rules using logical AND/OR/NOT</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These patterns help with composition and reusability</a:t>
            </a:r>
          </a:p>
        </p:txBody>
      </p:sp>
    </p:spTree>
    <p:extLst>
      <p:ext uri="{BB962C8B-B14F-4D97-AF65-F5344CB8AC3E}">
        <p14:creationId xmlns:p14="http://schemas.microsoft.com/office/powerpoint/2010/main" val="71745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B15E6-5CBA-74CA-2E36-8B6EBBE5DEB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67586DED-250B-B7FD-4254-4346A27F6D1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6EE23DF0-BAE0-E730-08E6-3A19C6C38145}"/>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Rule Sources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5CE5A48C-8E3D-1382-B9C3-8D64D6B952D3}"/>
              </a:ext>
            </a:extLst>
          </p:cNvPr>
          <p:cNvSpPr txBox="1"/>
          <p:nvPr/>
        </p:nvSpPr>
        <p:spPr>
          <a:xfrm>
            <a:off x="1783937" y="2096874"/>
            <a:ext cx="8137236" cy="28187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Where can rules come from?</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Hardcoded classes</a:t>
            </a:r>
          </a:p>
          <a:p>
            <a:pPr marL="800100" lvl="1" indent="-342900">
              <a:lnSpc>
                <a:spcPct val="150000"/>
              </a:lnSpc>
              <a:buFont typeface="Arial" panose="020B0604020202020204" pitchFamily="34" charset="0"/>
              <a:buChar char="•"/>
            </a:pPr>
            <a:r>
              <a:rPr lang="fr-FR" sz="2000" b="1" dirty="0">
                <a:solidFill>
                  <a:schemeClr val="bg1"/>
                </a:solidFill>
                <a:latin typeface="Poppins" panose="00000500000000000000" pitchFamily="2" charset="0"/>
                <a:cs typeface="Poppins" panose="00000500000000000000" pitchFamily="2" charset="0"/>
              </a:rPr>
              <a:t>Config files (JSON/YAML/XML)</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Databases</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Excel or Google Sheets (via adapter)</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The engine stays the same, just the source changes</a:t>
            </a: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658864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D027-7539-766B-5692-26BED8863215}"/>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A3D464FE-F14B-E1EC-5D99-861895A6DC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4D14E133-9ABE-116D-FE4D-893FAA1FCD06}"/>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Exercise Overview Goal:</a:t>
            </a:r>
            <a:br>
              <a:rPr lang="en-US" b="1" dirty="0">
                <a:solidFill>
                  <a:schemeClr val="bg1"/>
                </a:solidFill>
                <a:latin typeface="Poppins" panose="00000500000000000000" pitchFamily="2" charset="0"/>
                <a:cs typeface="Poppins" panose="00000500000000000000" pitchFamily="2" charset="0"/>
              </a:rPr>
            </a:br>
            <a:r>
              <a:rPr lang="en-US" b="1" dirty="0">
                <a:solidFill>
                  <a:schemeClr val="bg1"/>
                </a:solidFill>
                <a:latin typeface="Poppins" panose="00000500000000000000" pitchFamily="2" charset="0"/>
                <a:cs typeface="Poppins" panose="00000500000000000000" pitchFamily="2" charset="0"/>
              </a:rPr>
              <a:t> Build your first simple rule classes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294D01FD-925B-1A65-DDD3-DBF17C770941}"/>
              </a:ext>
            </a:extLst>
          </p:cNvPr>
          <p:cNvSpPr txBox="1"/>
          <p:nvPr/>
        </p:nvSpPr>
        <p:spPr>
          <a:xfrm>
            <a:off x="1270659" y="2019640"/>
            <a:ext cx="9975273" cy="28187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Step 1: Define an </a:t>
            </a:r>
            <a:r>
              <a:rPr lang="en-US" sz="2000" b="1" i="1" dirty="0" err="1">
                <a:solidFill>
                  <a:schemeClr val="bg1"/>
                </a:solidFill>
                <a:latin typeface="Poppins" panose="00000500000000000000" pitchFamily="2" charset="0"/>
                <a:cs typeface="Poppins" panose="00000500000000000000" pitchFamily="2" charset="0"/>
              </a:rPr>
              <a:t>UnderwritingInput</a:t>
            </a:r>
            <a:r>
              <a:rPr lang="en-US" sz="2000" b="1" dirty="0">
                <a:solidFill>
                  <a:schemeClr val="bg1"/>
                </a:solidFill>
                <a:latin typeface="Poppins" panose="00000500000000000000" pitchFamily="2" charset="0"/>
                <a:cs typeface="Poppins" panose="00000500000000000000" pitchFamily="2" charset="0"/>
              </a:rPr>
              <a:t> class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Step 2: Create rule classes:</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AgeUnder25Rule</a:t>
            </a:r>
          </a:p>
          <a:p>
            <a:pPr marL="800100" lvl="1" indent="-342900">
              <a:lnSpc>
                <a:spcPct val="150000"/>
              </a:lnSpc>
              <a:buFont typeface="Arial" panose="020B0604020202020204" pitchFamily="34" charset="0"/>
              <a:buChar char="•"/>
            </a:pPr>
            <a:r>
              <a:rPr lang="en-US" sz="2000" b="1" dirty="0" err="1">
                <a:solidFill>
                  <a:schemeClr val="bg1"/>
                </a:solidFill>
                <a:latin typeface="Poppins" panose="00000500000000000000" pitchFamily="2" charset="0"/>
                <a:cs typeface="Poppins" panose="00000500000000000000" pitchFamily="2" charset="0"/>
              </a:rPr>
              <a:t>SmokerRule</a:t>
            </a:r>
            <a:endParaRPr lang="en-US" sz="2000" b="1" dirty="0">
              <a:solidFill>
                <a:schemeClr val="bg1"/>
              </a:solidFill>
              <a:latin typeface="Poppins" panose="00000500000000000000" pitchFamily="2" charset="0"/>
              <a:cs typeface="Poppins" panose="00000500000000000000" pitchFamily="2" charset="0"/>
            </a:endParaRP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Step 3: Each should implement </a:t>
            </a:r>
            <a:r>
              <a:rPr lang="en-US" sz="2000" b="1" i="1" dirty="0" err="1">
                <a:solidFill>
                  <a:schemeClr val="bg1"/>
                </a:solidFill>
                <a:latin typeface="Poppins" panose="00000500000000000000" pitchFamily="2" charset="0"/>
                <a:cs typeface="Poppins" panose="00000500000000000000" pitchFamily="2" charset="0"/>
              </a:rPr>
              <a:t>IRule</a:t>
            </a:r>
            <a:r>
              <a:rPr lang="en-US" sz="2000" b="1" i="1" dirty="0">
                <a:solidFill>
                  <a:schemeClr val="bg1"/>
                </a:solidFill>
                <a:latin typeface="Poppins" panose="00000500000000000000" pitchFamily="2" charset="0"/>
                <a:cs typeface="Poppins" panose="00000500000000000000" pitchFamily="2" charset="0"/>
              </a:rPr>
              <a:t>&lt;</a:t>
            </a:r>
            <a:r>
              <a:rPr lang="en-US" sz="2000" b="1" i="1" dirty="0" err="1">
                <a:solidFill>
                  <a:schemeClr val="bg1"/>
                </a:solidFill>
                <a:latin typeface="Poppins" panose="00000500000000000000" pitchFamily="2" charset="0"/>
                <a:cs typeface="Poppins" panose="00000500000000000000" pitchFamily="2" charset="0"/>
              </a:rPr>
              <a:t>UnderwritingInput</a:t>
            </a:r>
            <a:r>
              <a:rPr lang="en-US" sz="2000" b="1" i="1" dirty="0">
                <a:solidFill>
                  <a:schemeClr val="bg1"/>
                </a:solidFill>
                <a:latin typeface="Poppins" panose="00000500000000000000" pitchFamily="2" charset="0"/>
                <a:cs typeface="Poppins" panose="00000500000000000000" pitchFamily="2" charset="0"/>
              </a:rPr>
              <a:t>&gt;</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Step 4: Write a console app or unit test to run them</a:t>
            </a:r>
          </a:p>
        </p:txBody>
      </p:sp>
    </p:spTree>
    <p:extLst>
      <p:ext uri="{BB962C8B-B14F-4D97-AF65-F5344CB8AC3E}">
        <p14:creationId xmlns:p14="http://schemas.microsoft.com/office/powerpoint/2010/main" val="1557024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2B754-A8DB-5E1E-F763-082A8301221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A368F376-C949-2536-ADD1-C470CFFD79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30515808-D051-BC5C-B0AD-B9485EB78E64}"/>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Example Input Model</a:t>
            </a:r>
            <a:endParaRPr lang="en-ZA" dirty="0">
              <a:solidFill>
                <a:schemeClr val="bg1"/>
              </a:solidFill>
              <a:latin typeface="Poppins" panose="00000500000000000000" pitchFamily="2" charset="0"/>
              <a:cs typeface="Poppins" panose="00000500000000000000" pitchFamily="2" charset="0"/>
            </a:endParaRPr>
          </a:p>
        </p:txBody>
      </p:sp>
      <p:pic>
        <p:nvPicPr>
          <p:cNvPr id="8" name="Picture 7">
            <a:extLst>
              <a:ext uri="{FF2B5EF4-FFF2-40B4-BE49-F238E27FC236}">
                <a16:creationId xmlns:a16="http://schemas.microsoft.com/office/drawing/2014/main" id="{1CA2DACB-61D8-F10A-44B6-AB9589936CD1}"/>
              </a:ext>
            </a:extLst>
          </p:cNvPr>
          <p:cNvPicPr>
            <a:picLocks noChangeAspect="1"/>
          </p:cNvPicPr>
          <p:nvPr/>
        </p:nvPicPr>
        <p:blipFill>
          <a:blip r:embed="rId4"/>
          <a:stretch>
            <a:fillRect/>
          </a:stretch>
        </p:blipFill>
        <p:spPr>
          <a:xfrm>
            <a:off x="2823706" y="1757129"/>
            <a:ext cx="6544588" cy="3343742"/>
          </a:xfrm>
          <a:prstGeom prst="rect">
            <a:avLst/>
          </a:prstGeom>
        </p:spPr>
      </p:pic>
    </p:spTree>
    <p:extLst>
      <p:ext uri="{BB962C8B-B14F-4D97-AF65-F5344CB8AC3E}">
        <p14:creationId xmlns:p14="http://schemas.microsoft.com/office/powerpoint/2010/main" val="3174389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9BF4-A786-5814-5800-A540471FC4B0}"/>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F8A07509-0697-AE98-F962-7AA8FD695CD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D6BC2A1B-45AD-6AD1-AD6E-887376166C9D}"/>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Sample Rule Class</a:t>
            </a:r>
            <a:r>
              <a:rPr lang="en-US" b="1" dirty="0">
                <a:solidFill>
                  <a:schemeClr val="bg1"/>
                </a:solidFill>
              </a:rPr>
              <a:t> </a:t>
            </a:r>
            <a:endParaRPr lang="en-ZA" dirty="0">
              <a:solidFill>
                <a:schemeClr val="bg1"/>
              </a:solidFill>
              <a:latin typeface="Poppins" panose="00000500000000000000" pitchFamily="2" charset="0"/>
              <a:cs typeface="Poppins" panose="00000500000000000000" pitchFamily="2" charset="0"/>
            </a:endParaRPr>
          </a:p>
        </p:txBody>
      </p:sp>
      <p:pic>
        <p:nvPicPr>
          <p:cNvPr id="4" name="Picture 3">
            <a:extLst>
              <a:ext uri="{FF2B5EF4-FFF2-40B4-BE49-F238E27FC236}">
                <a16:creationId xmlns:a16="http://schemas.microsoft.com/office/drawing/2014/main" id="{5E46323F-E474-8CF1-7467-E20FBC8802FD}"/>
              </a:ext>
            </a:extLst>
          </p:cNvPr>
          <p:cNvPicPr>
            <a:picLocks noChangeAspect="1"/>
          </p:cNvPicPr>
          <p:nvPr/>
        </p:nvPicPr>
        <p:blipFill>
          <a:blip r:embed="rId4"/>
          <a:stretch>
            <a:fillRect/>
          </a:stretch>
        </p:blipFill>
        <p:spPr>
          <a:xfrm>
            <a:off x="380474" y="1453182"/>
            <a:ext cx="8482205" cy="4282600"/>
          </a:xfrm>
          <a:prstGeom prst="rect">
            <a:avLst/>
          </a:prstGeom>
        </p:spPr>
      </p:pic>
    </p:spTree>
    <p:extLst>
      <p:ext uri="{BB962C8B-B14F-4D97-AF65-F5344CB8AC3E}">
        <p14:creationId xmlns:p14="http://schemas.microsoft.com/office/powerpoint/2010/main" val="3733364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845FF-6F61-6E17-638C-0E6AD69C321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7E9BE69A-6547-7190-FB1B-B1A1581B4B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FDF67CE9-66CC-A23D-988D-623E6DD44F8F}"/>
              </a:ext>
            </a:extLst>
          </p:cNvPr>
          <p:cNvSpPr>
            <a:spLocks noGrp="1"/>
          </p:cNvSpPr>
          <p:nvPr>
            <p:ph type="title"/>
          </p:nvPr>
        </p:nvSpPr>
        <p:spPr/>
        <p:txBody>
          <a:bodyPr/>
          <a:lstStyle/>
          <a:p>
            <a:pPr algn="ctr"/>
            <a:r>
              <a:rPr lang="en-ZA" b="1" dirty="0">
                <a:solidFill>
                  <a:schemeClr val="bg1"/>
                </a:solidFill>
                <a:latin typeface="Poppins" panose="00000500000000000000" pitchFamily="2" charset="0"/>
                <a:cs typeface="Poppins" panose="00000500000000000000" pitchFamily="2" charset="0"/>
              </a:rPr>
              <a:t>Outcome of This Week</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E4B8C0A-4FE1-E4A4-F27A-0A8ABCFE0999}"/>
              </a:ext>
            </a:extLst>
          </p:cNvPr>
          <p:cNvSpPr txBox="1"/>
          <p:nvPr/>
        </p:nvSpPr>
        <p:spPr>
          <a:xfrm>
            <a:off x="2318326" y="1866179"/>
            <a:ext cx="8137236" cy="28187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We now have:</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A reusable rule structure</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Rules that are independent and testable</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The foundation for plugging in multiple sources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Next week: Combining rules and building a simple rule runner</a:t>
            </a:r>
          </a:p>
        </p:txBody>
      </p:sp>
    </p:spTree>
    <p:extLst>
      <p:ext uri="{BB962C8B-B14F-4D97-AF65-F5344CB8AC3E}">
        <p14:creationId xmlns:p14="http://schemas.microsoft.com/office/powerpoint/2010/main" val="125086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8E69F-1990-8DB9-0784-69CE583B1BBD}"/>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D5D01F97-A7D4-70FF-35D6-29CBB74092E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A8C3ABFF-2146-4EC5-1C86-8C3C7CCED00F}"/>
              </a:ext>
            </a:extLst>
          </p:cNvPr>
          <p:cNvSpPr>
            <a:spLocks noGrp="1"/>
          </p:cNvSpPr>
          <p:nvPr>
            <p:ph type="title"/>
          </p:nvPr>
        </p:nvSpPr>
        <p:spPr/>
        <p:txBody>
          <a:bodyPr/>
          <a:lstStyle/>
          <a:p>
            <a:pPr algn="ctr"/>
            <a:r>
              <a:rPr lang="en-ZA" b="1" dirty="0">
                <a:solidFill>
                  <a:schemeClr val="bg1"/>
                </a:solidFill>
                <a:latin typeface="Poppins" panose="00000500000000000000" pitchFamily="2" charset="0"/>
                <a:cs typeface="Poppins" panose="00000500000000000000" pitchFamily="2" charset="0"/>
              </a:rPr>
              <a:t>Thank You</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D561E40-6D0F-8796-0F95-26C00EF40776}"/>
              </a:ext>
            </a:extLst>
          </p:cNvPr>
          <p:cNvSpPr txBox="1"/>
          <p:nvPr/>
        </p:nvSpPr>
        <p:spPr>
          <a:xfrm>
            <a:off x="2318326" y="1866179"/>
            <a:ext cx="8137236" cy="14337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Great job building your first rule engine components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Bring your code to the next session</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Optional: Try writing a third rule of your own</a:t>
            </a:r>
          </a:p>
        </p:txBody>
      </p:sp>
    </p:spTree>
    <p:extLst>
      <p:ext uri="{BB962C8B-B14F-4D97-AF65-F5344CB8AC3E}">
        <p14:creationId xmlns:p14="http://schemas.microsoft.com/office/powerpoint/2010/main" val="3607287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783</Words>
  <Application>Microsoft Office PowerPoint</Application>
  <PresentationFormat>Widescreen</PresentationFormat>
  <Paragraphs>67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Poppins</vt:lpstr>
      <vt:lpstr>Office Theme</vt:lpstr>
      <vt:lpstr>Designing the Rule Engine Core </vt:lpstr>
      <vt:lpstr>Welcome </vt:lpstr>
      <vt:lpstr>Rule Structure</vt:lpstr>
      <vt:lpstr> C# Interface for Rules</vt:lpstr>
      <vt:lpstr>Design Patterns</vt:lpstr>
      <vt:lpstr>Rule Sources</vt:lpstr>
      <vt:lpstr>Exercise Overview Goal:  Build your first simple rule classes</vt:lpstr>
      <vt:lpstr>Example Input Model</vt:lpstr>
      <vt:lpstr>Sample Rule Class </vt:lpstr>
      <vt:lpstr>Outcome of This Week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Treveshan Naidoo</dc:creator>
  <cp:lastModifiedBy>Treveshan Naidoo</cp:lastModifiedBy>
  <cp:revision>9</cp:revision>
  <dcterms:created xsi:type="dcterms:W3CDTF">2025-07-02T19:02:41Z</dcterms:created>
  <dcterms:modified xsi:type="dcterms:W3CDTF">2025-07-10T12:49:21Z</dcterms:modified>
</cp:coreProperties>
</file>