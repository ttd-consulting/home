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8" r:id="rId7"/>
    <p:sldId id="263" r:id="rId8"/>
    <p:sldId id="269"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87382" autoAdjust="0"/>
  </p:normalViewPr>
  <p:slideViewPr>
    <p:cSldViewPr snapToGrid="0">
      <p:cViewPr varScale="1">
        <p:scale>
          <a:sx n="96" d="100"/>
          <a:sy n="96" d="100"/>
        </p:scale>
        <p:origin x="11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A5E8E-8205-4621-ACFE-68395A0DA0A2}" type="datetimeFigureOut">
              <a:rPr lang="en-ZA" smtClean="0"/>
              <a:t>2025/08/15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12B91-E0CD-4A27-8E94-3FFCFB4FB363}" type="slidenum">
              <a:rPr lang="en-ZA" smtClean="0"/>
              <a:t>‹#›</a:t>
            </a:fld>
            <a:endParaRPr lang="en-ZA"/>
          </a:p>
        </p:txBody>
      </p:sp>
    </p:spTree>
    <p:extLst>
      <p:ext uri="{BB962C8B-B14F-4D97-AF65-F5344CB8AC3E}">
        <p14:creationId xmlns:p14="http://schemas.microsoft.com/office/powerpoint/2010/main" val="77034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Welcome back to Week 2 of our internal learning series. Today we begin building a basic rule engine framework in code, starting with the structure of individual rules. We'll keep it simple, modular, and extensible.</a:t>
            </a:r>
          </a:p>
          <a:p>
            <a:endParaRPr lang="en-ZA" dirty="0"/>
          </a:p>
        </p:txBody>
      </p:sp>
      <p:sp>
        <p:nvSpPr>
          <p:cNvPr id="4" name="Slide Number Placeholder 3"/>
          <p:cNvSpPr>
            <a:spLocks noGrp="1"/>
          </p:cNvSpPr>
          <p:nvPr>
            <p:ph type="sldNum" sz="quarter" idx="5"/>
          </p:nvPr>
        </p:nvSpPr>
        <p:spPr/>
        <p:txBody>
          <a:bodyPr/>
          <a:lstStyle/>
          <a:p>
            <a:fld id="{B8212B91-E0CD-4A27-8E94-3FFCFB4FB363}" type="slidenum">
              <a:rPr lang="en-ZA" smtClean="0"/>
              <a:t>1</a:t>
            </a:fld>
            <a:endParaRPr lang="en-ZA"/>
          </a:p>
        </p:txBody>
      </p:sp>
    </p:spTree>
    <p:extLst>
      <p:ext uri="{BB962C8B-B14F-4D97-AF65-F5344CB8AC3E}">
        <p14:creationId xmlns:p14="http://schemas.microsoft.com/office/powerpoint/2010/main" val="392923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built a solid, traceable, injectable rule engine. Now it’s time to make it scalable.</a:t>
            </a:r>
            <a:br>
              <a:rPr lang="en-US" dirty="0"/>
            </a:br>
            <a:r>
              <a:rPr lang="en-US" dirty="0"/>
              <a:t>Imagine updating rules </a:t>
            </a:r>
            <a:r>
              <a:rPr lang="en-US" i="1" dirty="0"/>
              <a:t>without</a:t>
            </a:r>
            <a:r>
              <a:rPr lang="en-US" dirty="0"/>
              <a:t> changing code that’s where we’re going today.”</a:t>
            </a:r>
          </a:p>
        </p:txBody>
      </p:sp>
      <p:sp>
        <p:nvSpPr>
          <p:cNvPr id="4" name="Slide Number Placeholder 3"/>
          <p:cNvSpPr>
            <a:spLocks noGrp="1"/>
          </p:cNvSpPr>
          <p:nvPr>
            <p:ph type="sldNum" sz="quarter" idx="5"/>
          </p:nvPr>
        </p:nvSpPr>
        <p:spPr/>
        <p:txBody>
          <a:bodyPr/>
          <a:lstStyle/>
          <a:p>
            <a:fld id="{B8212B91-E0CD-4A27-8E94-3FFCFB4FB363}" type="slidenum">
              <a:rPr lang="en-ZA" smtClean="0"/>
              <a:t>2</a:t>
            </a:fld>
            <a:endParaRPr lang="en-ZA"/>
          </a:p>
        </p:txBody>
      </p:sp>
    </p:spTree>
    <p:extLst>
      <p:ext uri="{BB962C8B-B14F-4D97-AF65-F5344CB8AC3E}">
        <p14:creationId xmlns:p14="http://schemas.microsoft.com/office/powerpoint/2010/main" val="279587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E2E4-28F8-ADD3-DD24-DBEA5FE52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EC7AE-DD74-C484-DB2D-00559D0F3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57B24-29EA-4E97-C9B7-323D73FCE367}"/>
              </a:ext>
            </a:extLst>
          </p:cNvPr>
          <p:cNvSpPr>
            <a:spLocks noGrp="1"/>
          </p:cNvSpPr>
          <p:nvPr>
            <p:ph type="body" idx="1"/>
          </p:nvPr>
        </p:nvSpPr>
        <p:spPr/>
        <p:txBody>
          <a:bodyPr/>
          <a:lstStyle/>
          <a:p>
            <a:r>
              <a:rPr lang="en-US" b="1" dirty="0"/>
              <a:t>Slide Notes:</a:t>
            </a:r>
            <a:r>
              <a:rPr lang="en-US" dirty="0"/>
              <a:t> Execution modes give us control over how rules are evaluated.</a:t>
            </a:r>
          </a:p>
          <a:p>
            <a:r>
              <a:rPr lang="en-US" dirty="0"/>
              <a:t>AllPass is useful when all validations must succeed.</a:t>
            </a:r>
          </a:p>
          <a:p>
            <a:r>
              <a:rPr lang="en-US" dirty="0" err="1"/>
              <a:t>FirstFail</a:t>
            </a:r>
            <a:r>
              <a:rPr lang="en-US" dirty="0"/>
              <a:t> is faster when one failure is enough to reject.</a:t>
            </a:r>
          </a:p>
          <a:p>
            <a:r>
              <a:rPr lang="en-US" dirty="0"/>
              <a:t>Scored is more flexible: maybe 3 out of 5 rules are enough to pass. Explain that these options can be adapted to different business cases.</a:t>
            </a:r>
          </a:p>
        </p:txBody>
      </p:sp>
      <p:sp>
        <p:nvSpPr>
          <p:cNvPr id="4" name="Slide Number Placeholder 3">
            <a:extLst>
              <a:ext uri="{FF2B5EF4-FFF2-40B4-BE49-F238E27FC236}">
                <a16:creationId xmlns:a16="http://schemas.microsoft.com/office/drawing/2014/main" id="{C1E74477-1EE3-5B35-CD19-11396B362C92}"/>
              </a:ext>
            </a:extLst>
          </p:cNvPr>
          <p:cNvSpPr>
            <a:spLocks noGrp="1"/>
          </p:cNvSpPr>
          <p:nvPr>
            <p:ph type="sldNum" sz="quarter" idx="5"/>
          </p:nvPr>
        </p:nvSpPr>
        <p:spPr/>
        <p:txBody>
          <a:bodyPr/>
          <a:lstStyle/>
          <a:p>
            <a:fld id="{B8212B91-E0CD-4A27-8E94-3FFCFB4FB363}" type="slidenum">
              <a:rPr lang="en-ZA" smtClean="0"/>
              <a:t>3</a:t>
            </a:fld>
            <a:endParaRPr lang="en-ZA"/>
          </a:p>
        </p:txBody>
      </p:sp>
    </p:spTree>
    <p:extLst>
      <p:ext uri="{BB962C8B-B14F-4D97-AF65-F5344CB8AC3E}">
        <p14:creationId xmlns:p14="http://schemas.microsoft.com/office/powerpoint/2010/main" val="285341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7F2D-099B-010F-23B4-34A6E86EB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91688-002C-DD1A-B948-7014D04F7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9BFDB-721C-CBFC-3382-AD25145BF94A}"/>
              </a:ext>
            </a:extLst>
          </p:cNvPr>
          <p:cNvSpPr>
            <a:spLocks noGrp="1"/>
          </p:cNvSpPr>
          <p:nvPr>
            <p:ph type="body" idx="1"/>
          </p:nvPr>
        </p:nvSpPr>
        <p:spPr/>
        <p:txBody>
          <a:bodyPr/>
          <a:lstStyle/>
          <a:p>
            <a:r>
              <a:rPr lang="en-US" dirty="0"/>
              <a:t>We’re starting with JSON it's dev-friendly and easy to read.</a:t>
            </a:r>
            <a:br>
              <a:rPr lang="en-US" dirty="0"/>
            </a:br>
            <a:r>
              <a:rPr lang="en-US" dirty="0"/>
              <a:t>Later, we can explore DB-driven rules or even spreadsheet imports if the team needs it.</a:t>
            </a:r>
          </a:p>
        </p:txBody>
      </p:sp>
      <p:sp>
        <p:nvSpPr>
          <p:cNvPr id="4" name="Slide Number Placeholder 3">
            <a:extLst>
              <a:ext uri="{FF2B5EF4-FFF2-40B4-BE49-F238E27FC236}">
                <a16:creationId xmlns:a16="http://schemas.microsoft.com/office/drawing/2014/main" id="{2AAD47B5-5EF0-5279-0F41-03724FDC961B}"/>
              </a:ext>
            </a:extLst>
          </p:cNvPr>
          <p:cNvSpPr>
            <a:spLocks noGrp="1"/>
          </p:cNvSpPr>
          <p:nvPr>
            <p:ph type="sldNum" sz="quarter" idx="5"/>
          </p:nvPr>
        </p:nvSpPr>
        <p:spPr/>
        <p:txBody>
          <a:bodyPr/>
          <a:lstStyle/>
          <a:p>
            <a:fld id="{B8212B91-E0CD-4A27-8E94-3FFCFB4FB363}" type="slidenum">
              <a:rPr lang="en-ZA" smtClean="0"/>
              <a:t>4</a:t>
            </a:fld>
            <a:endParaRPr lang="en-ZA"/>
          </a:p>
        </p:txBody>
      </p:sp>
    </p:spTree>
    <p:extLst>
      <p:ext uri="{BB962C8B-B14F-4D97-AF65-F5344CB8AC3E}">
        <p14:creationId xmlns:p14="http://schemas.microsoft.com/office/powerpoint/2010/main" val="3141254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7198-D964-CC3C-EDB7-581CD778F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221EA-1306-3A2E-6814-12CB337D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D1FCE-0B30-0159-96B9-46903B2615E5}"/>
              </a:ext>
            </a:extLst>
          </p:cNvPr>
          <p:cNvSpPr>
            <a:spLocks noGrp="1"/>
          </p:cNvSpPr>
          <p:nvPr>
            <p:ph type="body" idx="1"/>
          </p:nvPr>
        </p:nvSpPr>
        <p:spPr/>
        <p:txBody>
          <a:bodyPr/>
          <a:lstStyle/>
          <a:p>
            <a:r>
              <a:rPr lang="en-US" dirty="0"/>
              <a:t>Traceability is critical in regulated environments like insurance. It also helps during debugging. We'll record which rule was run, whether it passed, and what message it produced. These logs help us explain system decisions clearly.</a:t>
            </a:r>
          </a:p>
        </p:txBody>
      </p:sp>
      <p:sp>
        <p:nvSpPr>
          <p:cNvPr id="4" name="Slide Number Placeholder 3">
            <a:extLst>
              <a:ext uri="{FF2B5EF4-FFF2-40B4-BE49-F238E27FC236}">
                <a16:creationId xmlns:a16="http://schemas.microsoft.com/office/drawing/2014/main" id="{587E8817-F39E-3AE1-FAA1-2CA8424EA92B}"/>
              </a:ext>
            </a:extLst>
          </p:cNvPr>
          <p:cNvSpPr>
            <a:spLocks noGrp="1"/>
          </p:cNvSpPr>
          <p:nvPr>
            <p:ph type="sldNum" sz="quarter" idx="5"/>
          </p:nvPr>
        </p:nvSpPr>
        <p:spPr/>
        <p:txBody>
          <a:bodyPr/>
          <a:lstStyle/>
          <a:p>
            <a:fld id="{B8212B91-E0CD-4A27-8E94-3FFCFB4FB363}" type="slidenum">
              <a:rPr lang="en-ZA" smtClean="0"/>
              <a:t>5</a:t>
            </a:fld>
            <a:endParaRPr lang="en-ZA"/>
          </a:p>
        </p:txBody>
      </p:sp>
    </p:spTree>
    <p:extLst>
      <p:ext uri="{BB962C8B-B14F-4D97-AF65-F5344CB8AC3E}">
        <p14:creationId xmlns:p14="http://schemas.microsoft.com/office/powerpoint/2010/main" val="3060746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CE6B-8AA9-3CA9-6A64-D3ACB2AEB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BDF00-AF6A-4ADB-B988-F94205A87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9B8D6-FF14-0A9F-8BF7-512DFD283022}"/>
              </a:ext>
            </a:extLst>
          </p:cNvPr>
          <p:cNvSpPr>
            <a:spLocks noGrp="1"/>
          </p:cNvSpPr>
          <p:nvPr>
            <p:ph type="body" idx="1"/>
          </p:nvPr>
        </p:nvSpPr>
        <p:spPr/>
        <p:txBody>
          <a:bodyPr/>
          <a:lstStyle/>
          <a:p>
            <a:r>
              <a:rPr lang="en-US" dirty="0"/>
              <a:t>The loader turns configuration into behavior. This is the key part of abstracting logic from code to config.</a:t>
            </a:r>
            <a:br>
              <a:rPr lang="en-US" dirty="0"/>
            </a:br>
            <a:r>
              <a:rPr lang="en-US" dirty="0"/>
              <a:t>We'll build a simple class called </a:t>
            </a:r>
            <a:r>
              <a:rPr lang="en-US" dirty="0" err="1"/>
              <a:t>JsonRuleLoader</a:t>
            </a:r>
            <a:r>
              <a:rPr lang="en-US" dirty="0"/>
              <a:t>&lt;T&gt; to do this.</a:t>
            </a:r>
          </a:p>
        </p:txBody>
      </p:sp>
      <p:sp>
        <p:nvSpPr>
          <p:cNvPr id="4" name="Slide Number Placeholder 3">
            <a:extLst>
              <a:ext uri="{FF2B5EF4-FFF2-40B4-BE49-F238E27FC236}">
                <a16:creationId xmlns:a16="http://schemas.microsoft.com/office/drawing/2014/main" id="{766E982F-A7C3-27D2-0B1D-80353EE57839}"/>
              </a:ext>
            </a:extLst>
          </p:cNvPr>
          <p:cNvSpPr>
            <a:spLocks noGrp="1"/>
          </p:cNvSpPr>
          <p:nvPr>
            <p:ph type="sldNum" sz="quarter" idx="5"/>
          </p:nvPr>
        </p:nvSpPr>
        <p:spPr/>
        <p:txBody>
          <a:bodyPr/>
          <a:lstStyle/>
          <a:p>
            <a:fld id="{B8212B91-E0CD-4A27-8E94-3FFCFB4FB363}" type="slidenum">
              <a:rPr lang="en-ZA" smtClean="0"/>
              <a:t>6</a:t>
            </a:fld>
            <a:endParaRPr lang="en-ZA"/>
          </a:p>
        </p:txBody>
      </p:sp>
    </p:spTree>
    <p:extLst>
      <p:ext uri="{BB962C8B-B14F-4D97-AF65-F5344CB8AC3E}">
        <p14:creationId xmlns:p14="http://schemas.microsoft.com/office/powerpoint/2010/main" val="1750220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DDBB-0869-3A55-6954-22909F041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A5358-69A2-5E0D-9949-289F01DB8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78A1C-7BD3-8A65-3575-C2BB88B45ED0}"/>
              </a:ext>
            </a:extLst>
          </p:cNvPr>
          <p:cNvSpPr>
            <a:spLocks noGrp="1"/>
          </p:cNvSpPr>
          <p:nvPr>
            <p:ph type="body" idx="1"/>
          </p:nvPr>
        </p:nvSpPr>
        <p:spPr/>
        <p:txBody>
          <a:bodyPr/>
          <a:lstStyle/>
          <a:p>
            <a:r>
              <a:rPr lang="en-US" dirty="0"/>
              <a:t>This is today’s hands-on goal. You’ll read rules from a file or string, turn them into real logic, and pass them into the engine just like hardcoded rules.</a:t>
            </a:r>
          </a:p>
        </p:txBody>
      </p:sp>
      <p:sp>
        <p:nvSpPr>
          <p:cNvPr id="4" name="Slide Number Placeholder 3">
            <a:extLst>
              <a:ext uri="{FF2B5EF4-FFF2-40B4-BE49-F238E27FC236}">
                <a16:creationId xmlns:a16="http://schemas.microsoft.com/office/drawing/2014/main" id="{170291D3-8068-CCA4-30D7-5D2025BF2FAF}"/>
              </a:ext>
            </a:extLst>
          </p:cNvPr>
          <p:cNvSpPr>
            <a:spLocks noGrp="1"/>
          </p:cNvSpPr>
          <p:nvPr>
            <p:ph type="sldNum" sz="quarter" idx="5"/>
          </p:nvPr>
        </p:nvSpPr>
        <p:spPr/>
        <p:txBody>
          <a:bodyPr/>
          <a:lstStyle/>
          <a:p>
            <a:fld id="{B8212B91-E0CD-4A27-8E94-3FFCFB4FB363}" type="slidenum">
              <a:rPr lang="en-ZA" smtClean="0"/>
              <a:t>7</a:t>
            </a:fld>
            <a:endParaRPr lang="en-ZA"/>
          </a:p>
        </p:txBody>
      </p:sp>
    </p:spTree>
    <p:extLst>
      <p:ext uri="{BB962C8B-B14F-4D97-AF65-F5344CB8AC3E}">
        <p14:creationId xmlns:p14="http://schemas.microsoft.com/office/powerpoint/2010/main" val="1746401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2A2D2-FEF2-E875-C445-27296F7B5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C56C6-9BB3-D419-8E75-015D0A69E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A1A3E-32E0-4D87-6897-EBFA8B974371}"/>
              </a:ext>
            </a:extLst>
          </p:cNvPr>
          <p:cNvSpPr>
            <a:spLocks noGrp="1"/>
          </p:cNvSpPr>
          <p:nvPr>
            <p:ph type="body" idx="1"/>
          </p:nvPr>
        </p:nvSpPr>
        <p:spPr/>
        <p:txBody>
          <a:bodyPr/>
          <a:lstStyle/>
          <a:p>
            <a:r>
              <a:rPr lang="en-US" dirty="0"/>
              <a:t>If you finish early or want to go deeper, try grouping logic or validation.</a:t>
            </a:r>
            <a:br>
              <a:rPr lang="en-US" dirty="0"/>
            </a:br>
            <a:r>
              <a:rPr lang="en-US" dirty="0"/>
              <a:t>You can even extend this into admin tools later on.</a:t>
            </a:r>
          </a:p>
        </p:txBody>
      </p:sp>
      <p:sp>
        <p:nvSpPr>
          <p:cNvPr id="4" name="Slide Number Placeholder 3">
            <a:extLst>
              <a:ext uri="{FF2B5EF4-FFF2-40B4-BE49-F238E27FC236}">
                <a16:creationId xmlns:a16="http://schemas.microsoft.com/office/drawing/2014/main" id="{78E84CA3-3896-B8E1-C2EF-013DA662BE69}"/>
              </a:ext>
            </a:extLst>
          </p:cNvPr>
          <p:cNvSpPr>
            <a:spLocks noGrp="1"/>
          </p:cNvSpPr>
          <p:nvPr>
            <p:ph type="sldNum" sz="quarter" idx="5"/>
          </p:nvPr>
        </p:nvSpPr>
        <p:spPr/>
        <p:txBody>
          <a:bodyPr/>
          <a:lstStyle/>
          <a:p>
            <a:fld id="{B8212B91-E0CD-4A27-8E94-3FFCFB4FB363}" type="slidenum">
              <a:rPr lang="en-ZA" smtClean="0"/>
              <a:t>8</a:t>
            </a:fld>
            <a:endParaRPr lang="en-ZA"/>
          </a:p>
        </p:txBody>
      </p:sp>
    </p:spTree>
    <p:extLst>
      <p:ext uri="{BB962C8B-B14F-4D97-AF65-F5344CB8AC3E}">
        <p14:creationId xmlns:p14="http://schemas.microsoft.com/office/powerpoint/2010/main" val="3702931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6810-EFB9-4555-717D-1893737A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F6445-905C-7053-CBF1-E167857EB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21574-55CB-A89C-6DCB-FA8751CDF412}"/>
              </a:ext>
            </a:extLst>
          </p:cNvPr>
          <p:cNvSpPr>
            <a:spLocks noGrp="1"/>
          </p:cNvSpPr>
          <p:nvPr>
            <p:ph type="body" idx="1"/>
          </p:nvPr>
        </p:nvSpPr>
        <p:spPr/>
        <p:txBody>
          <a:bodyPr/>
          <a:lstStyle/>
          <a:p>
            <a:r>
              <a:rPr lang="en-US" dirty="0"/>
              <a:t>With this foundation, we can plug in UI tools, rule APIs, or even Excel uploads.</a:t>
            </a:r>
            <a:br>
              <a:rPr lang="en-US" dirty="0"/>
            </a:br>
            <a:r>
              <a:rPr lang="en-US" dirty="0"/>
              <a:t>We’ve moved from a dev-only engine to one that’s configurable and scalable.</a:t>
            </a:r>
          </a:p>
        </p:txBody>
      </p:sp>
      <p:sp>
        <p:nvSpPr>
          <p:cNvPr id="4" name="Slide Number Placeholder 3">
            <a:extLst>
              <a:ext uri="{FF2B5EF4-FFF2-40B4-BE49-F238E27FC236}">
                <a16:creationId xmlns:a16="http://schemas.microsoft.com/office/drawing/2014/main" id="{E4FE55B6-3492-7BC2-C2BA-4D2667D1FF2F}"/>
              </a:ext>
            </a:extLst>
          </p:cNvPr>
          <p:cNvSpPr>
            <a:spLocks noGrp="1"/>
          </p:cNvSpPr>
          <p:nvPr>
            <p:ph type="sldNum" sz="quarter" idx="5"/>
          </p:nvPr>
        </p:nvSpPr>
        <p:spPr/>
        <p:txBody>
          <a:bodyPr/>
          <a:lstStyle/>
          <a:p>
            <a:fld id="{B8212B91-E0CD-4A27-8E94-3FFCFB4FB363}" type="slidenum">
              <a:rPr lang="en-ZA" smtClean="0"/>
              <a:t>9</a:t>
            </a:fld>
            <a:endParaRPr lang="en-ZA"/>
          </a:p>
        </p:txBody>
      </p:sp>
    </p:spTree>
    <p:extLst>
      <p:ext uri="{BB962C8B-B14F-4D97-AF65-F5344CB8AC3E}">
        <p14:creationId xmlns:p14="http://schemas.microsoft.com/office/powerpoint/2010/main" val="3602742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246D-AA53-489A-7521-C6DF8DBE8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3001E-0D17-93B5-CC24-D6F7AA654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32DA-FAB6-7441-639D-57F8DFDE7F35}"/>
              </a:ext>
            </a:extLst>
          </p:cNvPr>
          <p:cNvSpPr>
            <a:spLocks noGrp="1"/>
          </p:cNvSpPr>
          <p:nvPr>
            <p:ph type="body" idx="1"/>
          </p:nvPr>
        </p:nvSpPr>
        <p:spPr/>
        <p:txBody>
          <a:bodyPr/>
          <a:lstStyle/>
          <a:p>
            <a:r>
              <a:rPr lang="en-US" dirty="0"/>
              <a:t>This was a huge step. Rules are now portable. Think about where else you can use this — approvals, pricing, workflows.</a:t>
            </a:r>
            <a:br>
              <a:rPr lang="en-US" dirty="0"/>
            </a:br>
            <a:r>
              <a:rPr lang="en-US" dirty="0"/>
              <a:t>Let’s discuss use cases before we wrap</a:t>
            </a:r>
          </a:p>
        </p:txBody>
      </p:sp>
      <p:sp>
        <p:nvSpPr>
          <p:cNvPr id="4" name="Slide Number Placeholder 3">
            <a:extLst>
              <a:ext uri="{FF2B5EF4-FFF2-40B4-BE49-F238E27FC236}">
                <a16:creationId xmlns:a16="http://schemas.microsoft.com/office/drawing/2014/main" id="{5AD9B320-2F99-C21B-DC4B-462EA0490117}"/>
              </a:ext>
            </a:extLst>
          </p:cNvPr>
          <p:cNvSpPr>
            <a:spLocks noGrp="1"/>
          </p:cNvSpPr>
          <p:nvPr>
            <p:ph type="sldNum" sz="quarter" idx="5"/>
          </p:nvPr>
        </p:nvSpPr>
        <p:spPr/>
        <p:txBody>
          <a:bodyPr/>
          <a:lstStyle/>
          <a:p>
            <a:fld id="{B8212B91-E0CD-4A27-8E94-3FFCFB4FB363}" type="slidenum">
              <a:rPr lang="en-ZA" smtClean="0"/>
              <a:t>10</a:t>
            </a:fld>
            <a:endParaRPr lang="en-ZA"/>
          </a:p>
        </p:txBody>
      </p:sp>
    </p:spTree>
    <p:extLst>
      <p:ext uri="{BB962C8B-B14F-4D97-AF65-F5344CB8AC3E}">
        <p14:creationId xmlns:p14="http://schemas.microsoft.com/office/powerpoint/2010/main" val="206597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EC6B-51F4-4FF9-47C2-565FC50E5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979231B-DB68-CB14-4E16-A7EF202B0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0C10DA5-D6F3-7578-2E72-3965043F5A5D}"/>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293BD34E-A9F1-77BD-44F5-8818770B6BD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7F4395-185D-503B-7277-093D411D5D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75373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D767-2B47-B282-A8B9-1F5E6964160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6C5871-97CC-F6B9-D959-C8DB66B94B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5131384-9E0B-55CC-56E7-7F4C3D2B7457}"/>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32890C63-8765-5319-BAB0-903EC275A3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887F71D-BB84-EE4C-BC9C-042F5651AB80}"/>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841708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E4A4-9C0F-29EC-4935-65F416711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CF069B1-1F34-E629-5C9A-621EEA42BD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3E68CA-2DF5-9A0B-2EC5-6F4FB1C17E5C}"/>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242D83BC-BB2E-9230-4D43-BDC2ADEE96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6E090AA-3974-9778-9BF6-D2DFC13481BB}"/>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369255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4727-80C2-BED7-C8D4-AEAEA84477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BCE4CD0-7BD8-D1C4-8B1E-DE811BA11D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EE87D7E-E8E5-5253-2A73-9607063585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D477266-2181-DA59-B14A-D01CB1659567}"/>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6" name="Footer Placeholder 5">
            <a:extLst>
              <a:ext uri="{FF2B5EF4-FFF2-40B4-BE49-F238E27FC236}">
                <a16:creationId xmlns:a16="http://schemas.microsoft.com/office/drawing/2014/main" id="{64A7795A-0AE7-FFE4-6224-73D4FB8886B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AF49741-CFB3-DB77-88F4-DED6635A8AA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15781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52FC-CB4B-9CA1-68D0-D8527AC7878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5C2772-07E5-2ABF-8A41-2E3901F25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4444A3-7553-92CF-B0D3-F91CB46519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76C2217-21D6-176C-4864-E5F282DAB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B6A42B-F292-1689-AA7A-7585C7D8D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95EB90E5-2DDB-D3DC-1E65-A0B75FCD1B85}"/>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8" name="Footer Placeholder 7">
            <a:extLst>
              <a:ext uri="{FF2B5EF4-FFF2-40B4-BE49-F238E27FC236}">
                <a16:creationId xmlns:a16="http://schemas.microsoft.com/office/drawing/2014/main" id="{5C776851-E153-0573-0579-5992BFFE5EC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141AD5-01CA-B5AA-56B3-27C0E3B1E862}"/>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28969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409D-B102-75AC-89F5-3CC28234826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311B483-142A-40A5-6A3E-898810667210}"/>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4" name="Footer Placeholder 3">
            <a:extLst>
              <a:ext uri="{FF2B5EF4-FFF2-40B4-BE49-F238E27FC236}">
                <a16:creationId xmlns:a16="http://schemas.microsoft.com/office/drawing/2014/main" id="{E91FDABD-E7DF-E6DA-2D79-1E7AD21EE54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C94D975-D1D0-74A6-E73F-CC233B37CA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08688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44AA2-800A-8BAD-D379-03DC0F21C470}"/>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3" name="Footer Placeholder 2">
            <a:extLst>
              <a:ext uri="{FF2B5EF4-FFF2-40B4-BE49-F238E27FC236}">
                <a16:creationId xmlns:a16="http://schemas.microsoft.com/office/drawing/2014/main" id="{3183BC7E-212D-468F-EC74-16C538058B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531A678-9598-7B12-6EF9-E6402DA4C5C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35618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B115-3753-9B70-1000-B0E3BA0D7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3F3BE9C-3C59-E0B4-ACE9-0933CB7461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D0962F6-AA24-DB8D-ACD8-68980426B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E8CFFE-3845-DCA9-EE47-705C065E1E5F}"/>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6" name="Footer Placeholder 5">
            <a:extLst>
              <a:ext uri="{FF2B5EF4-FFF2-40B4-BE49-F238E27FC236}">
                <a16:creationId xmlns:a16="http://schemas.microsoft.com/office/drawing/2014/main" id="{6665DC10-6B3F-F801-4823-9DC0433570C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AD75250-3DCC-75D5-5D6C-A4A93A27044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41196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02DB-D175-012C-D30B-E1E23FA7A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93B14E2-EF9B-F841-D3F1-ABCCE473BC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A026016-0990-F592-1329-94D10BED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AC5CC-7A99-CDD9-8A80-BB30C9FDD6AA}"/>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6" name="Footer Placeholder 5">
            <a:extLst>
              <a:ext uri="{FF2B5EF4-FFF2-40B4-BE49-F238E27FC236}">
                <a16:creationId xmlns:a16="http://schemas.microsoft.com/office/drawing/2014/main" id="{56F668BB-AE8F-35EA-9EAB-F3C2CE0E2A4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659BD69-9A43-FB29-1FF9-E6ADA5C20B9E}"/>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8566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D91D-6FA8-B086-FAC9-D37B78CF60C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1AE85E3-0653-2F13-18DA-37E00B6A80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4CBFF1-676D-A90A-5655-F014B6B563FC}"/>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F140DD1F-CAF5-CAF2-FCC0-7D29A277C66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6816151-6BB1-4A97-CE1F-39BDF2AEC9DF}"/>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78069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E4AA-BA27-A354-9027-D8B84ED024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F15BDF4-E085-AAB4-4598-F30989F495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CB4D25C-2F6C-A3EF-0BEE-14F378288D18}"/>
              </a:ext>
            </a:extLst>
          </p:cNvPr>
          <p:cNvSpPr>
            <a:spLocks noGrp="1"/>
          </p:cNvSpPr>
          <p:nvPr>
            <p:ph type="dt" sz="half" idx="10"/>
          </p:nvPr>
        </p:nvSpPr>
        <p:spPr/>
        <p:txBody>
          <a:body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02C14CC2-42E0-0E6A-2C49-08D8AD68A13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8CD19D3-2B19-A2F0-A925-00914345AF44}"/>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444121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608699-866E-CE2C-CB1C-234155D5D5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78DD56-2CB8-D24A-462F-F8B614A93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44AF630-9B69-1DE1-E313-F502CEF2A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8C6FD3-9AEF-4591-AA33-12F3540D81C2}" type="datetimeFigureOut">
              <a:rPr lang="en-ZA" smtClean="0"/>
              <a:t>2025/08/15</a:t>
            </a:fld>
            <a:endParaRPr lang="en-ZA"/>
          </a:p>
        </p:txBody>
      </p:sp>
      <p:sp>
        <p:nvSpPr>
          <p:cNvPr id="5" name="Footer Placeholder 4">
            <a:extLst>
              <a:ext uri="{FF2B5EF4-FFF2-40B4-BE49-F238E27FC236}">
                <a16:creationId xmlns:a16="http://schemas.microsoft.com/office/drawing/2014/main" id="{1EAA3D92-27E5-2D80-6474-2C3609CA9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2237CB4-F86D-A0BA-3390-73157797A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935617-4959-484E-BC71-FED80877E89F}" type="slidenum">
              <a:rPr lang="en-ZA" smtClean="0"/>
              <a:t>‹#›</a:t>
            </a:fld>
            <a:endParaRPr lang="en-ZA"/>
          </a:p>
        </p:txBody>
      </p:sp>
    </p:spTree>
    <p:extLst>
      <p:ext uri="{BB962C8B-B14F-4D97-AF65-F5344CB8AC3E}">
        <p14:creationId xmlns:p14="http://schemas.microsoft.com/office/powerpoint/2010/main" val="3688741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a white and yellow figure">
            <a:extLst>
              <a:ext uri="{FF2B5EF4-FFF2-40B4-BE49-F238E27FC236}">
                <a16:creationId xmlns:a16="http://schemas.microsoft.com/office/drawing/2014/main" id="{F3BE0D3B-FC64-310E-653C-F39820C85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E66624A-B6AD-8129-7B6B-1843C085BA3A}"/>
              </a:ext>
            </a:extLst>
          </p:cNvPr>
          <p:cNvSpPr>
            <a:spLocks noGrp="1"/>
          </p:cNvSpPr>
          <p:nvPr>
            <p:ph type="ctrTitle"/>
          </p:nvPr>
        </p:nvSpPr>
        <p:spPr>
          <a:xfrm>
            <a:off x="82848" y="750891"/>
            <a:ext cx="12026303" cy="1256814"/>
          </a:xfrm>
        </p:spPr>
        <p:txBody>
          <a:bodyPr>
            <a:normAutofit/>
          </a:bodyPr>
          <a:lstStyle/>
          <a:p>
            <a:r>
              <a:rPr lang="en-US" sz="4800" dirty="0">
                <a:solidFill>
                  <a:schemeClr val="bg1"/>
                </a:solidFill>
                <a:latin typeface="Poppins" panose="00000500000000000000" pitchFamily="2" charset="0"/>
                <a:cs typeface="Poppins" panose="00000500000000000000" pitchFamily="2" charset="0"/>
              </a:rPr>
              <a:t>Externalizing &amp; Managing Rules</a:t>
            </a:r>
            <a:endParaRPr lang="en-ZA" sz="4800" dirty="0">
              <a:solidFill>
                <a:schemeClr val="bg1"/>
              </a:solidFill>
              <a:latin typeface="Poppins" panose="00000500000000000000" pitchFamily="2" charset="0"/>
              <a:cs typeface="Poppins" panose="00000500000000000000" pitchFamily="2" charset="0"/>
            </a:endParaRPr>
          </a:p>
        </p:txBody>
      </p:sp>
      <p:sp>
        <p:nvSpPr>
          <p:cNvPr id="3" name="Subtitle 2">
            <a:extLst>
              <a:ext uri="{FF2B5EF4-FFF2-40B4-BE49-F238E27FC236}">
                <a16:creationId xmlns:a16="http://schemas.microsoft.com/office/drawing/2014/main" id="{F3CC2D5F-E6E6-C6BB-3A84-004F82806BA0}"/>
              </a:ext>
            </a:extLst>
          </p:cNvPr>
          <p:cNvSpPr>
            <a:spLocks noGrp="1"/>
          </p:cNvSpPr>
          <p:nvPr>
            <p:ph type="subTitle" idx="1"/>
          </p:nvPr>
        </p:nvSpPr>
        <p:spPr>
          <a:xfrm>
            <a:off x="1619640" y="2214565"/>
            <a:ext cx="9144000" cy="1655762"/>
          </a:xfrm>
        </p:spPr>
        <p:txBody>
          <a:bodyPr/>
          <a:lstStyle/>
          <a:p>
            <a:r>
              <a:rPr lang="en-US" dirty="0">
                <a:solidFill>
                  <a:schemeClr val="bg1"/>
                </a:solidFill>
                <a:latin typeface="Poppins" panose="00000500000000000000" pitchFamily="2" charset="0"/>
                <a:cs typeface="Poppins" panose="00000500000000000000" pitchFamily="2" charset="0"/>
              </a:rPr>
              <a:t>From Code to Config – Making Rules Maintainable</a:t>
            </a:r>
          </a:p>
        </p:txBody>
      </p:sp>
      <p:sp>
        <p:nvSpPr>
          <p:cNvPr id="4" name="TextBox 3">
            <a:extLst>
              <a:ext uri="{FF2B5EF4-FFF2-40B4-BE49-F238E27FC236}">
                <a16:creationId xmlns:a16="http://schemas.microsoft.com/office/drawing/2014/main" id="{F873CE58-2129-5518-7F9A-79256045C0F4}"/>
              </a:ext>
            </a:extLst>
          </p:cNvPr>
          <p:cNvSpPr txBox="1"/>
          <p:nvPr/>
        </p:nvSpPr>
        <p:spPr>
          <a:xfrm>
            <a:off x="203199" y="5040998"/>
            <a:ext cx="5172364" cy="646331"/>
          </a:xfrm>
          <a:prstGeom prst="rect">
            <a:avLst/>
          </a:prstGeom>
          <a:noFill/>
        </p:spPr>
        <p:txBody>
          <a:bodyPr wrap="square" rtlCol="0">
            <a:spAutoFit/>
          </a:bodyPr>
          <a:lstStyle/>
          <a:p>
            <a:r>
              <a:rPr lang="en-ZA" dirty="0">
                <a:solidFill>
                  <a:schemeClr val="bg1"/>
                </a:solidFill>
                <a:latin typeface="Poppins" panose="00000500000000000000" pitchFamily="2" charset="0"/>
                <a:cs typeface="Poppins" panose="00000500000000000000" pitchFamily="2" charset="0"/>
              </a:rPr>
              <a:t>Presented by: Treveshan Naidoo</a:t>
            </a:r>
          </a:p>
          <a:p>
            <a:r>
              <a:rPr lang="en-ZA" dirty="0">
                <a:solidFill>
                  <a:schemeClr val="bg1"/>
                </a:solidFill>
                <a:latin typeface="Poppins" panose="00000500000000000000" pitchFamily="2" charset="0"/>
                <a:cs typeface="Poppins" panose="00000500000000000000" pitchFamily="2" charset="0"/>
              </a:rPr>
              <a:t>TTD Consulting Internal Learning Series</a:t>
            </a:r>
          </a:p>
        </p:txBody>
      </p:sp>
    </p:spTree>
    <p:extLst>
      <p:ext uri="{BB962C8B-B14F-4D97-AF65-F5344CB8AC3E}">
        <p14:creationId xmlns:p14="http://schemas.microsoft.com/office/powerpoint/2010/main" val="338884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047716FF-D1BD-070F-70DB-BAE97CACD1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5028"/>
            <a:ext cx="12307604" cy="6923027"/>
          </a:xfrm>
        </p:spPr>
      </p:pic>
      <p:sp>
        <p:nvSpPr>
          <p:cNvPr id="2" name="Title 1">
            <a:extLst>
              <a:ext uri="{FF2B5EF4-FFF2-40B4-BE49-F238E27FC236}">
                <a16:creationId xmlns:a16="http://schemas.microsoft.com/office/drawing/2014/main" id="{55613BBD-DD38-678C-3AD4-8B25D546ED41}"/>
              </a:ext>
            </a:extLst>
          </p:cNvPr>
          <p:cNvSpPr>
            <a:spLocks noGrp="1"/>
          </p:cNvSpPr>
          <p:nvPr>
            <p:ph type="title"/>
          </p:nvPr>
        </p:nvSpPr>
        <p:spPr/>
        <p:txBody>
          <a:bodyPr/>
          <a:lstStyle/>
          <a:p>
            <a:pPr algn="ctr"/>
            <a:r>
              <a:rPr lang="en-ZA" b="1" dirty="0">
                <a:solidFill>
                  <a:schemeClr val="bg1"/>
                </a:solidFill>
              </a:rPr>
              <a:t>Welcome</a:t>
            </a:r>
            <a:br>
              <a:rPr lang="en-ZA" dirty="0">
                <a:solidFill>
                  <a:schemeClr val="bg1"/>
                </a:solidFill>
              </a:rPr>
            </a:b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B4022B9-C514-A496-F3BB-2CE6DB4BDB28}"/>
              </a:ext>
            </a:extLst>
          </p:cNvPr>
          <p:cNvSpPr txBox="1"/>
          <p:nvPr/>
        </p:nvSpPr>
        <p:spPr>
          <a:xfrm>
            <a:off x="1838036" y="1468582"/>
            <a:ext cx="8137236" cy="972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Quick recap of Week 3: execution modes, logs, DI</a:t>
            </a:r>
          </a:p>
          <a:p>
            <a:pPr marL="285750" indent="-28575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This week: externalizing rules into config (JSON)</a:t>
            </a:r>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1699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ED7F-A8A6-79D1-04A3-34F95F11E97E}"/>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82B8C6FC-4673-453F-839C-9A8585DC4E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16177148-7AD3-5F9C-583F-FBBCEA2083A9}"/>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Why Externalize Rules?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E6FED14A-E585-90EC-19CC-4C053F3E9BD9}"/>
              </a:ext>
            </a:extLst>
          </p:cNvPr>
          <p:cNvSpPr txBox="1"/>
          <p:nvPr/>
        </p:nvSpPr>
        <p:spPr>
          <a:xfrm>
            <a:off x="1832678" y="2109152"/>
            <a:ext cx="8137236" cy="18953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Faster changes without redeploying</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Make rules editable by analysts/business teams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Store rules in JSON, DB, Excel, or Admin UI’s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Improve visibility and governance</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2679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8BED-B058-2782-12F9-3F44A49D0E1B}"/>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15D07048-FA3E-C9DB-67E1-2D6CA6C3D0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A228670F-2B9C-8280-337B-FB2C8450F134}"/>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Common Rule Sources</a:t>
            </a:r>
            <a:endParaRPr lang="en-ZA" dirty="0">
              <a:solidFill>
                <a:schemeClr val="bg1"/>
              </a:solidFill>
              <a:latin typeface="Poppins" panose="00000500000000000000" pitchFamily="2" charset="0"/>
              <a:cs typeface="Poppins" panose="00000500000000000000" pitchFamily="2" charset="0"/>
            </a:endParaRPr>
          </a:p>
        </p:txBody>
      </p:sp>
      <p:graphicFrame>
        <p:nvGraphicFramePr>
          <p:cNvPr id="10" name="Table 9">
            <a:extLst>
              <a:ext uri="{FF2B5EF4-FFF2-40B4-BE49-F238E27FC236}">
                <a16:creationId xmlns:a16="http://schemas.microsoft.com/office/drawing/2014/main" id="{659EF29A-2371-1893-2D15-41FE04A8B0F1}"/>
              </a:ext>
            </a:extLst>
          </p:cNvPr>
          <p:cNvGraphicFramePr>
            <a:graphicFrameLocks noGrp="1"/>
          </p:cNvGraphicFramePr>
          <p:nvPr>
            <p:extLst>
              <p:ext uri="{D42A27DB-BD31-4B8C-83A1-F6EECF244321}">
                <p14:modId xmlns:p14="http://schemas.microsoft.com/office/powerpoint/2010/main" val="2630240459"/>
              </p:ext>
            </p:extLst>
          </p:nvPr>
        </p:nvGraphicFramePr>
        <p:xfrm>
          <a:off x="2171148" y="181297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09303287"/>
                    </a:ext>
                  </a:extLst>
                </a:gridCol>
                <a:gridCol w="4064000">
                  <a:extLst>
                    <a:ext uri="{9D8B030D-6E8A-4147-A177-3AD203B41FA5}">
                      <a16:colId xmlns:a16="http://schemas.microsoft.com/office/drawing/2014/main" val="1652324853"/>
                    </a:ext>
                  </a:extLst>
                </a:gridCol>
              </a:tblGrid>
              <a:tr h="370840">
                <a:tc>
                  <a:txBody>
                    <a:bodyPr/>
                    <a:lstStyle/>
                    <a:p>
                      <a:r>
                        <a:rPr lang="en-ZA" dirty="0"/>
                        <a:t>Source</a:t>
                      </a:r>
                    </a:p>
                  </a:txBody>
                  <a:tcPr/>
                </a:tc>
                <a:tc>
                  <a:txBody>
                    <a:bodyPr/>
                    <a:lstStyle/>
                    <a:p>
                      <a:r>
                        <a:rPr lang="en-ZA" dirty="0"/>
                        <a:t>When to Use</a:t>
                      </a:r>
                    </a:p>
                  </a:txBody>
                  <a:tcPr/>
                </a:tc>
                <a:extLst>
                  <a:ext uri="{0D108BD9-81ED-4DB2-BD59-A6C34878D82A}">
                    <a16:rowId xmlns:a16="http://schemas.microsoft.com/office/drawing/2014/main" val="2673072680"/>
                  </a:ext>
                </a:extLst>
              </a:tr>
              <a:tr h="370840">
                <a:tc>
                  <a:txBody>
                    <a:bodyPr/>
                    <a:lstStyle/>
                    <a:p>
                      <a:r>
                        <a:rPr lang="en-ZA" dirty="0"/>
                        <a:t>JSON</a:t>
                      </a:r>
                    </a:p>
                  </a:txBody>
                  <a:tcPr/>
                </a:tc>
                <a:tc>
                  <a:txBody>
                    <a:bodyPr/>
                    <a:lstStyle/>
                    <a:p>
                      <a:r>
                        <a:rPr lang="en-ZA" dirty="0"/>
                        <a:t>Lightweight configs or files</a:t>
                      </a:r>
                    </a:p>
                  </a:txBody>
                  <a:tcPr/>
                </a:tc>
                <a:extLst>
                  <a:ext uri="{0D108BD9-81ED-4DB2-BD59-A6C34878D82A}">
                    <a16:rowId xmlns:a16="http://schemas.microsoft.com/office/drawing/2014/main" val="3432481680"/>
                  </a:ext>
                </a:extLst>
              </a:tr>
              <a:tr h="370840">
                <a:tc>
                  <a:txBody>
                    <a:bodyPr/>
                    <a:lstStyle/>
                    <a:p>
                      <a:r>
                        <a:rPr lang="en-ZA" dirty="0"/>
                        <a:t>Database</a:t>
                      </a:r>
                    </a:p>
                  </a:txBody>
                  <a:tcPr/>
                </a:tc>
                <a:tc>
                  <a:txBody>
                    <a:bodyPr/>
                    <a:lstStyle/>
                    <a:p>
                      <a:r>
                        <a:rPr lang="en-US" dirty="0"/>
                        <a:t>For centrally managed rule sets</a:t>
                      </a:r>
                      <a:endParaRPr lang="en-ZA" dirty="0"/>
                    </a:p>
                  </a:txBody>
                  <a:tcPr/>
                </a:tc>
                <a:extLst>
                  <a:ext uri="{0D108BD9-81ED-4DB2-BD59-A6C34878D82A}">
                    <a16:rowId xmlns:a16="http://schemas.microsoft.com/office/drawing/2014/main" val="1144592031"/>
                  </a:ext>
                </a:extLst>
              </a:tr>
              <a:tr h="370840">
                <a:tc>
                  <a:txBody>
                    <a:bodyPr/>
                    <a:lstStyle/>
                    <a:p>
                      <a:r>
                        <a:rPr lang="en-ZA" dirty="0"/>
                        <a:t>Excel</a:t>
                      </a:r>
                    </a:p>
                  </a:txBody>
                  <a:tcPr/>
                </a:tc>
                <a:tc>
                  <a:txBody>
                    <a:bodyPr/>
                    <a:lstStyle/>
                    <a:p>
                      <a:r>
                        <a:rPr lang="en-ZA" dirty="0"/>
                        <a:t>When business prefers spreadsheets</a:t>
                      </a:r>
                    </a:p>
                  </a:txBody>
                  <a:tcPr/>
                </a:tc>
                <a:extLst>
                  <a:ext uri="{0D108BD9-81ED-4DB2-BD59-A6C34878D82A}">
                    <a16:rowId xmlns:a16="http://schemas.microsoft.com/office/drawing/2014/main" val="1505169677"/>
                  </a:ext>
                </a:extLst>
              </a:tr>
              <a:tr h="370840">
                <a:tc>
                  <a:txBody>
                    <a:bodyPr/>
                    <a:lstStyle/>
                    <a:p>
                      <a:r>
                        <a:rPr lang="en-ZA" dirty="0"/>
                        <a:t>Admin UI</a:t>
                      </a:r>
                    </a:p>
                  </a:txBody>
                  <a:tcPr/>
                </a:tc>
                <a:tc>
                  <a:txBody>
                    <a:bodyPr/>
                    <a:lstStyle/>
                    <a:p>
                      <a:r>
                        <a:rPr lang="en-US" dirty="0"/>
                        <a:t>Long-term goal for rule control</a:t>
                      </a:r>
                      <a:endParaRPr lang="en-ZA" dirty="0"/>
                    </a:p>
                  </a:txBody>
                  <a:tcPr/>
                </a:tc>
                <a:extLst>
                  <a:ext uri="{0D108BD9-81ED-4DB2-BD59-A6C34878D82A}">
                    <a16:rowId xmlns:a16="http://schemas.microsoft.com/office/drawing/2014/main" val="640318148"/>
                  </a:ext>
                </a:extLst>
              </a:tr>
            </a:tbl>
          </a:graphicData>
        </a:graphic>
      </p:graphicFrame>
    </p:spTree>
    <p:extLst>
      <p:ext uri="{BB962C8B-B14F-4D97-AF65-F5344CB8AC3E}">
        <p14:creationId xmlns:p14="http://schemas.microsoft.com/office/powerpoint/2010/main" val="1351588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869A-01D1-9910-C294-A5D0F43D8717}"/>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C5CD25D5-7E15-AD8B-E3E4-3DE34647FC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8A05FF6F-AD08-C132-73F3-4ECAD0B9441E}"/>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JSON Rule Format (Example)</a:t>
            </a:r>
            <a:endParaRPr lang="en-ZA" dirty="0">
              <a:solidFill>
                <a:schemeClr val="bg1"/>
              </a:solidFill>
              <a:latin typeface="Poppins" panose="00000500000000000000" pitchFamily="2" charset="0"/>
              <a:cs typeface="Poppins" panose="00000500000000000000" pitchFamily="2" charset="0"/>
            </a:endParaRPr>
          </a:p>
        </p:txBody>
      </p:sp>
      <p:pic>
        <p:nvPicPr>
          <p:cNvPr id="4" name="Picture 3">
            <a:extLst>
              <a:ext uri="{FF2B5EF4-FFF2-40B4-BE49-F238E27FC236}">
                <a16:creationId xmlns:a16="http://schemas.microsoft.com/office/drawing/2014/main" id="{048DD819-8375-B826-EEE5-4FC1CDFB2D74}"/>
              </a:ext>
            </a:extLst>
          </p:cNvPr>
          <p:cNvPicPr>
            <a:picLocks noChangeAspect="1"/>
          </p:cNvPicPr>
          <p:nvPr/>
        </p:nvPicPr>
        <p:blipFill>
          <a:blip r:embed="rId4"/>
          <a:stretch>
            <a:fillRect/>
          </a:stretch>
        </p:blipFill>
        <p:spPr>
          <a:xfrm>
            <a:off x="2356503" y="1532342"/>
            <a:ext cx="5614680" cy="3793315"/>
          </a:xfrm>
          <a:prstGeom prst="rect">
            <a:avLst/>
          </a:prstGeom>
        </p:spPr>
      </p:pic>
    </p:spTree>
    <p:extLst>
      <p:ext uri="{BB962C8B-B14F-4D97-AF65-F5344CB8AC3E}">
        <p14:creationId xmlns:p14="http://schemas.microsoft.com/office/powerpoint/2010/main" val="71745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0FF8-9639-A579-C657-9519687C88B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5D4958A2-838D-FA8A-7C04-373F5D0155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9176A434-D430-7485-9F06-7D4796BD019B}"/>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Dynamic Rule Parsing Process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64A14556-4EC5-C6FB-449A-7EC592898BEE}"/>
              </a:ext>
            </a:extLst>
          </p:cNvPr>
          <p:cNvSpPr txBox="1"/>
          <p:nvPr/>
        </p:nvSpPr>
        <p:spPr>
          <a:xfrm>
            <a:off x="1854467" y="1690688"/>
            <a:ext cx="8137236" cy="235628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Read JSON config</a:t>
            </a:r>
          </a:p>
          <a:p>
            <a:pPr marL="342900" indent="-342900">
              <a:lnSpc>
                <a:spcPct val="150000"/>
              </a:lnSpc>
              <a:buFont typeface="Arial" panose="020B0604020202020204" pitchFamily="34" charset="0"/>
              <a:buChar char="•"/>
            </a:pPr>
            <a:r>
              <a:rPr lang="en-US" sz="2000" b="1" dirty="0">
                <a:solidFill>
                  <a:schemeClr val="bg1"/>
                </a:solidFill>
              </a:rPr>
              <a:t>Deserialize into </a:t>
            </a:r>
            <a:r>
              <a:rPr lang="en-US" sz="2000" b="1" dirty="0" err="1">
                <a:solidFill>
                  <a:schemeClr val="bg1"/>
                </a:solidFill>
              </a:rPr>
              <a:t>RuleDefinition</a:t>
            </a:r>
            <a:r>
              <a:rPr lang="en-US" sz="2000" b="1" dirty="0">
                <a:solidFill>
                  <a:schemeClr val="bg1"/>
                </a:solidFill>
              </a:rPr>
              <a:t> objects</a:t>
            </a:r>
          </a:p>
          <a:p>
            <a:pPr marL="342900" indent="-342900">
              <a:lnSpc>
                <a:spcPct val="150000"/>
              </a:lnSpc>
              <a:buFont typeface="Arial" panose="020B0604020202020204" pitchFamily="34" charset="0"/>
              <a:buChar char="•"/>
            </a:pPr>
            <a:r>
              <a:rPr lang="en-US" sz="2000" b="1" dirty="0">
                <a:solidFill>
                  <a:schemeClr val="bg1"/>
                </a:solidFill>
              </a:rPr>
              <a:t>Build </a:t>
            </a:r>
            <a:r>
              <a:rPr lang="en-US" sz="2000" b="1" dirty="0" err="1">
                <a:solidFill>
                  <a:schemeClr val="bg1"/>
                </a:solidFill>
              </a:rPr>
              <a:t>IRule</a:t>
            </a:r>
            <a:r>
              <a:rPr lang="en-US" sz="2000" b="1" dirty="0">
                <a:solidFill>
                  <a:schemeClr val="bg1"/>
                </a:solidFill>
              </a:rPr>
              <a:t>&lt;T&gt; implementations using reflection or expression trees</a:t>
            </a:r>
          </a:p>
          <a:p>
            <a:pPr marL="342900" indent="-342900">
              <a:lnSpc>
                <a:spcPct val="150000"/>
              </a:lnSpc>
              <a:buFont typeface="Arial" panose="020B0604020202020204" pitchFamily="34" charset="0"/>
              <a:buChar char="•"/>
            </a:pPr>
            <a:r>
              <a:rPr lang="en-US" sz="2000" b="1" dirty="0">
                <a:solidFill>
                  <a:schemeClr val="bg1"/>
                </a:solidFill>
              </a:rPr>
              <a:t>Inject or feed them into </a:t>
            </a:r>
            <a:r>
              <a:rPr lang="en-US" sz="2000" b="1" dirty="0" err="1">
                <a:solidFill>
                  <a:schemeClr val="bg1"/>
                </a:solidFill>
              </a:rPr>
              <a:t>RuleEngine</a:t>
            </a:r>
            <a:r>
              <a:rPr lang="en-US" sz="2000" b="1" dirty="0">
                <a:solidFill>
                  <a:schemeClr val="bg1"/>
                </a:solidFill>
              </a:rPr>
              <a:t>&lt;T&gt;</a:t>
            </a:r>
            <a:endParaRPr lang="en-US" sz="2000" dirty="0">
              <a:solidFill>
                <a:schemeClr val="bg1"/>
              </a:solidFill>
            </a:endParaRPr>
          </a:p>
        </p:txBody>
      </p:sp>
    </p:spTree>
    <p:extLst>
      <p:ext uri="{BB962C8B-B14F-4D97-AF65-F5344CB8AC3E}">
        <p14:creationId xmlns:p14="http://schemas.microsoft.com/office/powerpoint/2010/main" val="3394760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D027-7539-766B-5692-26BED886321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D464FE-F14B-E1EC-5D99-861895A6DC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4D14E133-9ABE-116D-FE4D-893FAA1FCD06}"/>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Exercise Instructions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94D01FD-925B-1A65-DDD3-DBF17C770941}"/>
              </a:ext>
            </a:extLst>
          </p:cNvPr>
          <p:cNvSpPr txBox="1"/>
          <p:nvPr/>
        </p:nvSpPr>
        <p:spPr>
          <a:xfrm>
            <a:off x="1019374" y="1563022"/>
            <a:ext cx="10334426" cy="510396"/>
          </a:xfrm>
          <a:prstGeom prst="rect">
            <a:avLst/>
          </a:prstGeom>
          <a:noFill/>
        </p:spPr>
        <p:txBody>
          <a:bodyPr wrap="square" rtlCol="0">
            <a:spAutoFit/>
          </a:bodyPr>
          <a:lstStyle/>
          <a:p>
            <a:pPr>
              <a:lnSpc>
                <a:spcPct val="150000"/>
              </a:lnSpc>
            </a:pPr>
            <a:r>
              <a:rPr lang="en-US" sz="2000" b="1" dirty="0">
                <a:solidFill>
                  <a:schemeClr val="bg1"/>
                </a:solidFill>
                <a:latin typeface="Poppins" panose="00000500000000000000" pitchFamily="2" charset="0"/>
                <a:cs typeface="Poppins" panose="00000500000000000000" pitchFamily="2" charset="0"/>
              </a:rPr>
              <a:t>Goal: Convert JSON rules into executable </a:t>
            </a:r>
            <a:r>
              <a:rPr lang="en-US" sz="2000" b="1" dirty="0" err="1">
                <a:solidFill>
                  <a:schemeClr val="bg1"/>
                </a:solidFill>
                <a:latin typeface="Poppins" panose="00000500000000000000" pitchFamily="2" charset="0"/>
                <a:cs typeface="Poppins" panose="00000500000000000000" pitchFamily="2" charset="0"/>
              </a:rPr>
              <a:t>IRule</a:t>
            </a:r>
            <a:r>
              <a:rPr lang="en-US" sz="2000" b="1" dirty="0">
                <a:solidFill>
                  <a:schemeClr val="bg1"/>
                </a:solidFill>
                <a:latin typeface="Poppins" panose="00000500000000000000" pitchFamily="2" charset="0"/>
                <a:cs typeface="Poppins" panose="00000500000000000000" pitchFamily="2" charset="0"/>
              </a:rPr>
              <a:t>&lt;</a:t>
            </a:r>
            <a:r>
              <a:rPr lang="en-US" sz="2000" b="1" dirty="0" err="1">
                <a:solidFill>
                  <a:schemeClr val="bg1"/>
                </a:solidFill>
                <a:latin typeface="Poppins" panose="00000500000000000000" pitchFamily="2" charset="0"/>
                <a:cs typeface="Poppins" panose="00000500000000000000" pitchFamily="2" charset="0"/>
              </a:rPr>
              <a:t>UnderwritingInput</a:t>
            </a:r>
            <a:r>
              <a:rPr lang="en-US" sz="2000" b="1" dirty="0">
                <a:solidFill>
                  <a:schemeClr val="bg1"/>
                </a:solidFill>
                <a:latin typeface="Poppins" panose="00000500000000000000" pitchFamily="2" charset="0"/>
                <a:cs typeface="Poppins" panose="00000500000000000000" pitchFamily="2" charset="0"/>
              </a:rPr>
              <a:t>&gt; objects.</a:t>
            </a:r>
          </a:p>
        </p:txBody>
      </p:sp>
      <p:sp>
        <p:nvSpPr>
          <p:cNvPr id="3" name="TextBox 2">
            <a:extLst>
              <a:ext uri="{FF2B5EF4-FFF2-40B4-BE49-F238E27FC236}">
                <a16:creationId xmlns:a16="http://schemas.microsoft.com/office/drawing/2014/main" id="{C1401F15-8020-FCCB-CC12-3696F04D4B20}"/>
              </a:ext>
            </a:extLst>
          </p:cNvPr>
          <p:cNvSpPr txBox="1"/>
          <p:nvPr/>
        </p:nvSpPr>
        <p:spPr>
          <a:xfrm>
            <a:off x="1019374" y="2055813"/>
            <a:ext cx="8137236" cy="18946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Create </a:t>
            </a:r>
            <a:r>
              <a:rPr lang="en-US" sz="2000" b="1" dirty="0" err="1">
                <a:solidFill>
                  <a:schemeClr val="bg1"/>
                </a:solidFill>
              </a:rPr>
              <a:t>RuleDefinition</a:t>
            </a:r>
            <a:r>
              <a:rPr lang="en-US" sz="2000" b="1" dirty="0">
                <a:solidFill>
                  <a:schemeClr val="bg1"/>
                </a:solidFill>
              </a:rPr>
              <a:t> class (field, operator, value, message)</a:t>
            </a:r>
          </a:p>
          <a:p>
            <a:pPr marL="342900" indent="-342900">
              <a:lnSpc>
                <a:spcPct val="150000"/>
              </a:lnSpc>
              <a:buFont typeface="Arial" panose="020B0604020202020204" pitchFamily="34" charset="0"/>
              <a:buChar char="•"/>
            </a:pPr>
            <a:r>
              <a:rPr lang="en-US" sz="2000" b="1" dirty="0">
                <a:solidFill>
                  <a:schemeClr val="bg1"/>
                </a:solidFill>
              </a:rPr>
              <a:t>Implement </a:t>
            </a:r>
            <a:r>
              <a:rPr lang="en-US" sz="2000" b="1" dirty="0" err="1">
                <a:solidFill>
                  <a:schemeClr val="bg1"/>
                </a:solidFill>
              </a:rPr>
              <a:t>JsonRuleLoader</a:t>
            </a:r>
            <a:r>
              <a:rPr lang="en-US" sz="2000" b="1" dirty="0">
                <a:solidFill>
                  <a:schemeClr val="bg1"/>
                </a:solidFill>
              </a:rPr>
              <a:t>&lt;T&gt;</a:t>
            </a:r>
          </a:p>
          <a:p>
            <a:pPr marL="342900" indent="-342900">
              <a:lnSpc>
                <a:spcPct val="150000"/>
              </a:lnSpc>
              <a:buFont typeface="Arial" panose="020B0604020202020204" pitchFamily="34" charset="0"/>
              <a:buChar char="•"/>
            </a:pPr>
            <a:r>
              <a:rPr lang="en-US" sz="2000" b="1" dirty="0">
                <a:solidFill>
                  <a:schemeClr val="bg1"/>
                </a:solidFill>
              </a:rPr>
              <a:t>Load sample JSON</a:t>
            </a:r>
          </a:p>
          <a:p>
            <a:pPr marL="342900" indent="-342900">
              <a:lnSpc>
                <a:spcPct val="150000"/>
              </a:lnSpc>
              <a:buFont typeface="Arial" panose="020B0604020202020204" pitchFamily="34" charset="0"/>
              <a:buChar char="•"/>
            </a:pPr>
            <a:r>
              <a:rPr lang="en-US" sz="2000" b="1" dirty="0">
                <a:solidFill>
                  <a:schemeClr val="bg1"/>
                </a:solidFill>
              </a:rPr>
              <a:t>Execute rules via </a:t>
            </a:r>
            <a:r>
              <a:rPr lang="en-US" sz="2000" b="1" dirty="0" err="1">
                <a:solidFill>
                  <a:schemeClr val="bg1"/>
                </a:solidFill>
              </a:rPr>
              <a:t>RuleEngine</a:t>
            </a:r>
            <a:r>
              <a:rPr lang="en-US" sz="2000" b="1" dirty="0">
                <a:solidFill>
                  <a:schemeClr val="bg1"/>
                </a:solidFill>
              </a:rPr>
              <a:t>&lt;T&gt;</a:t>
            </a:r>
            <a:endParaRPr lang="en-US" sz="2000" dirty="0">
              <a:solidFill>
                <a:schemeClr val="bg1"/>
              </a:solidFill>
            </a:endParaRPr>
          </a:p>
        </p:txBody>
      </p:sp>
    </p:spTree>
    <p:extLst>
      <p:ext uri="{BB962C8B-B14F-4D97-AF65-F5344CB8AC3E}">
        <p14:creationId xmlns:p14="http://schemas.microsoft.com/office/powerpoint/2010/main" val="155702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384B-7B53-B9C9-3751-080966FCC5EC}"/>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03DC0D1F-725F-7AE3-0C3F-636C05C4F84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6FAEDB71-AB29-6C5C-0EA9-CD3054F70EB5}"/>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Optional Enhancements</a:t>
            </a:r>
            <a:endParaRPr lang="en-ZA" dirty="0">
              <a:solidFill>
                <a:schemeClr val="bg1"/>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410CC565-690F-D44D-5B1E-257D4DDF8E33}"/>
              </a:ext>
            </a:extLst>
          </p:cNvPr>
          <p:cNvSpPr txBox="1"/>
          <p:nvPr/>
        </p:nvSpPr>
        <p:spPr>
          <a:xfrm>
            <a:off x="2311461" y="1690688"/>
            <a:ext cx="8137236" cy="18946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Support AND / OR grouping</a:t>
            </a:r>
          </a:p>
          <a:p>
            <a:pPr marL="342900" indent="-342900">
              <a:lnSpc>
                <a:spcPct val="150000"/>
              </a:lnSpc>
              <a:buFont typeface="Arial" panose="020B0604020202020204" pitchFamily="34" charset="0"/>
              <a:buChar char="•"/>
            </a:pPr>
            <a:r>
              <a:rPr lang="en-US" sz="2000" b="1" dirty="0">
                <a:solidFill>
                  <a:schemeClr val="bg1"/>
                </a:solidFill>
              </a:rPr>
              <a:t>Add validation for unknown fields or bad operators</a:t>
            </a:r>
          </a:p>
          <a:p>
            <a:pPr marL="342900" indent="-342900">
              <a:lnSpc>
                <a:spcPct val="150000"/>
              </a:lnSpc>
              <a:buFont typeface="Arial" panose="020B0604020202020204" pitchFamily="34" charset="0"/>
              <a:buChar char="•"/>
            </a:pPr>
            <a:r>
              <a:rPr lang="en-US" sz="2000" b="1" dirty="0">
                <a:solidFill>
                  <a:schemeClr val="bg1"/>
                </a:solidFill>
              </a:rPr>
              <a:t>Support custom rule types</a:t>
            </a:r>
          </a:p>
          <a:p>
            <a:pPr marL="342900" indent="-342900">
              <a:lnSpc>
                <a:spcPct val="150000"/>
              </a:lnSpc>
              <a:buFont typeface="Arial" panose="020B0604020202020204" pitchFamily="34" charset="0"/>
              <a:buChar char="•"/>
            </a:pPr>
            <a:r>
              <a:rPr lang="en-US" sz="2000" b="1" dirty="0">
                <a:solidFill>
                  <a:schemeClr val="bg1"/>
                </a:solidFill>
              </a:rPr>
              <a:t>Persist rules to a database</a:t>
            </a:r>
            <a:endParaRPr lang="en-US" sz="2000" dirty="0">
              <a:solidFill>
                <a:schemeClr val="bg1"/>
              </a:solidFill>
            </a:endParaRPr>
          </a:p>
        </p:txBody>
      </p:sp>
    </p:spTree>
    <p:extLst>
      <p:ext uri="{BB962C8B-B14F-4D97-AF65-F5344CB8AC3E}">
        <p14:creationId xmlns:p14="http://schemas.microsoft.com/office/powerpoint/2010/main" val="647085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45FF-6F61-6E17-638C-0E6AD69C3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7E9BE69A-6547-7190-FB1B-B1A1581B4B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FDF67CE9-66CC-A23D-988D-623E6DD44F8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Outcome of This Week</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E4B8C0A-4FE1-E4A4-F27A-0A8ABCFE0999}"/>
              </a:ext>
            </a:extLst>
          </p:cNvPr>
          <p:cNvSpPr txBox="1"/>
          <p:nvPr/>
        </p:nvSpPr>
        <p:spPr>
          <a:xfrm>
            <a:off x="2304366" y="1845238"/>
            <a:ext cx="8137236" cy="18953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Built support for config-based rules</a:t>
            </a:r>
          </a:p>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Parsed and executed JSON-defined rule logic</a:t>
            </a:r>
          </a:p>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Reduced reliance on code for logic changes</a:t>
            </a:r>
          </a:p>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Opened door for business-owned rules</a:t>
            </a:r>
          </a:p>
        </p:txBody>
      </p:sp>
    </p:spTree>
    <p:extLst>
      <p:ext uri="{BB962C8B-B14F-4D97-AF65-F5344CB8AC3E}">
        <p14:creationId xmlns:p14="http://schemas.microsoft.com/office/powerpoint/2010/main" val="1250869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E69F-1990-8DB9-0784-69CE583B1BBD}"/>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D5D01F97-A7D4-70FF-35D6-29CBB74092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A8C3ABFF-2146-4EC5-1C86-8C3C7CCED00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Thank You</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D561E40-6D0F-8796-0F95-26C00EF40776}"/>
              </a:ext>
            </a:extLst>
          </p:cNvPr>
          <p:cNvSpPr txBox="1"/>
          <p:nvPr/>
        </p:nvSpPr>
        <p:spPr>
          <a:xfrm>
            <a:off x="2318326" y="1866179"/>
            <a:ext cx="8137236" cy="23570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Congrats on reaching Week 4!</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Next step: validation flows, grouping, and maybe score interpretation</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Open discussion: how would you use this in your own systems?</a:t>
            </a:r>
          </a:p>
        </p:txBody>
      </p:sp>
    </p:spTree>
    <p:extLst>
      <p:ext uri="{BB962C8B-B14F-4D97-AF65-F5344CB8AC3E}">
        <p14:creationId xmlns:p14="http://schemas.microsoft.com/office/powerpoint/2010/main" val="360728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TotalTime>
  <Words>653</Words>
  <Application>Microsoft Office PowerPoint</Application>
  <PresentationFormat>Widescreen</PresentationFormat>
  <Paragraphs>72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Poppins</vt:lpstr>
      <vt:lpstr>Office Theme</vt:lpstr>
      <vt:lpstr>Externalizing &amp; Managing Rules</vt:lpstr>
      <vt:lpstr>Welcome </vt:lpstr>
      <vt:lpstr>Why Externalize Rules?</vt:lpstr>
      <vt:lpstr>Common Rule Sources</vt:lpstr>
      <vt:lpstr>JSON Rule Format (Example)</vt:lpstr>
      <vt:lpstr>Dynamic Rule Parsing Process</vt:lpstr>
      <vt:lpstr>Exercise Instructions</vt:lpstr>
      <vt:lpstr>Optional Enhancements</vt:lpstr>
      <vt:lpstr>Outcome of This Week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Treveshan Naidoo</dc:creator>
  <cp:lastModifiedBy>Treveshan Naidoo</cp:lastModifiedBy>
  <cp:revision>14</cp:revision>
  <dcterms:created xsi:type="dcterms:W3CDTF">2025-07-02T19:02:41Z</dcterms:created>
  <dcterms:modified xsi:type="dcterms:W3CDTF">2025-08-14T22:17:04Z</dcterms:modified>
</cp:coreProperties>
</file>