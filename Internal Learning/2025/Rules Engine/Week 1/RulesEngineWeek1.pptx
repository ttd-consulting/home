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4" autoAdjust="0"/>
    <p:restoredTop sz="94660"/>
  </p:normalViewPr>
  <p:slideViewPr>
    <p:cSldViewPr snapToGrid="0">
      <p:cViewPr varScale="1">
        <p:scale>
          <a:sx n="104" d="100"/>
          <a:sy n="104" d="100"/>
        </p:scale>
        <p:origin x="86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CA5E8E-8205-4621-ACFE-68395A0DA0A2}" type="datetimeFigureOut">
              <a:rPr lang="en-ZA" smtClean="0"/>
              <a:t>2025/07/02</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212B91-E0CD-4A27-8E94-3FFCFB4FB363}" type="slidenum">
              <a:rPr lang="en-ZA" smtClean="0"/>
              <a:t>‹#›</a:t>
            </a:fld>
            <a:endParaRPr lang="en-ZA"/>
          </a:p>
        </p:txBody>
      </p:sp>
    </p:spTree>
    <p:extLst>
      <p:ext uri="{BB962C8B-B14F-4D97-AF65-F5344CB8AC3E}">
        <p14:creationId xmlns:p14="http://schemas.microsoft.com/office/powerpoint/2010/main" val="770348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Welcome everyone to the TTD Internal Learning Series! This week we’re diving into the world of rule engines, especially how they apply to insurance underwriting. This session is meant to be interactive, simple, and practical. Let’s get started.</a:t>
            </a:r>
          </a:p>
          <a:p>
            <a:endParaRPr lang="en-ZA" dirty="0"/>
          </a:p>
        </p:txBody>
      </p:sp>
      <p:sp>
        <p:nvSpPr>
          <p:cNvPr id="4" name="Slide Number Placeholder 3"/>
          <p:cNvSpPr>
            <a:spLocks noGrp="1"/>
          </p:cNvSpPr>
          <p:nvPr>
            <p:ph type="sldNum" sz="quarter" idx="5"/>
          </p:nvPr>
        </p:nvSpPr>
        <p:spPr/>
        <p:txBody>
          <a:bodyPr/>
          <a:lstStyle/>
          <a:p>
            <a:fld id="{B8212B91-E0CD-4A27-8E94-3FFCFB4FB363}" type="slidenum">
              <a:rPr lang="en-ZA" smtClean="0"/>
              <a:t>1</a:t>
            </a:fld>
            <a:endParaRPr lang="en-ZA"/>
          </a:p>
        </p:txBody>
      </p:sp>
    </p:spTree>
    <p:extLst>
      <p:ext uri="{BB962C8B-B14F-4D97-AF65-F5344CB8AC3E}">
        <p14:creationId xmlns:p14="http://schemas.microsoft.com/office/powerpoint/2010/main" val="39292358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this series is about levelling up our shared technical and domain knowledge. Emphasize that rule engines sound fancy but are actually quite straightforward. Share why you’re excited to learn with the team.</a:t>
            </a:r>
          </a:p>
        </p:txBody>
      </p:sp>
      <p:sp>
        <p:nvSpPr>
          <p:cNvPr id="4" name="Slide Number Placeholder 3"/>
          <p:cNvSpPr>
            <a:spLocks noGrp="1"/>
          </p:cNvSpPr>
          <p:nvPr>
            <p:ph type="sldNum" sz="quarter" idx="5"/>
          </p:nvPr>
        </p:nvSpPr>
        <p:spPr/>
        <p:txBody>
          <a:bodyPr/>
          <a:lstStyle/>
          <a:p>
            <a:fld id="{B8212B91-E0CD-4A27-8E94-3FFCFB4FB363}" type="slidenum">
              <a:rPr lang="en-ZA" smtClean="0"/>
              <a:t>2</a:t>
            </a:fld>
            <a:endParaRPr lang="en-ZA"/>
          </a:p>
        </p:txBody>
      </p:sp>
    </p:spTree>
    <p:extLst>
      <p:ext uri="{BB962C8B-B14F-4D97-AF65-F5344CB8AC3E}">
        <p14:creationId xmlns:p14="http://schemas.microsoft.com/office/powerpoint/2010/main" val="279587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AE2E4-28F8-ADD3-DD24-DBEA5FE52A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AEC7AE-DD74-C484-DB2D-00559D0F31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757B24-29EA-4E97-C9B7-323D73FCE367}"/>
              </a:ext>
            </a:extLst>
          </p:cNvPr>
          <p:cNvSpPr>
            <a:spLocks noGrp="1"/>
          </p:cNvSpPr>
          <p:nvPr>
            <p:ph type="body" idx="1"/>
          </p:nvPr>
        </p:nvSpPr>
        <p:spPr/>
        <p:txBody>
          <a:bodyPr/>
          <a:lstStyle/>
          <a:p>
            <a:r>
              <a:rPr lang="en-US" dirty="0"/>
              <a:t>Give an analogy : like a vending machine: if you put in R10 and select a snack, it checks the rules and gives you the right result. A rule engine works the same way: input comes in, rules are evaluated, and a decision is returned.</a:t>
            </a:r>
          </a:p>
        </p:txBody>
      </p:sp>
      <p:sp>
        <p:nvSpPr>
          <p:cNvPr id="4" name="Slide Number Placeholder 3">
            <a:extLst>
              <a:ext uri="{FF2B5EF4-FFF2-40B4-BE49-F238E27FC236}">
                <a16:creationId xmlns:a16="http://schemas.microsoft.com/office/drawing/2014/main" id="{C1E74477-1EE3-5B35-CD19-11396B362C92}"/>
              </a:ext>
            </a:extLst>
          </p:cNvPr>
          <p:cNvSpPr>
            <a:spLocks noGrp="1"/>
          </p:cNvSpPr>
          <p:nvPr>
            <p:ph type="sldNum" sz="quarter" idx="5"/>
          </p:nvPr>
        </p:nvSpPr>
        <p:spPr/>
        <p:txBody>
          <a:bodyPr/>
          <a:lstStyle/>
          <a:p>
            <a:fld id="{B8212B91-E0CD-4A27-8E94-3FFCFB4FB363}" type="slidenum">
              <a:rPr lang="en-ZA" smtClean="0"/>
              <a:t>3</a:t>
            </a:fld>
            <a:endParaRPr lang="en-ZA"/>
          </a:p>
        </p:txBody>
      </p:sp>
    </p:spTree>
    <p:extLst>
      <p:ext uri="{BB962C8B-B14F-4D97-AF65-F5344CB8AC3E}">
        <p14:creationId xmlns:p14="http://schemas.microsoft.com/office/powerpoint/2010/main" val="2853415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37F2D-099B-010F-23B4-34A6E86EB6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91688-002C-DD1A-B948-7014D04F7C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09BFDB-721C-CBFC-3382-AD25145BF94A}"/>
              </a:ext>
            </a:extLst>
          </p:cNvPr>
          <p:cNvSpPr>
            <a:spLocks noGrp="1"/>
          </p:cNvSpPr>
          <p:nvPr>
            <p:ph type="body" idx="1"/>
          </p:nvPr>
        </p:nvSpPr>
        <p:spPr/>
        <p:txBody>
          <a:bodyPr/>
          <a:lstStyle/>
          <a:p>
            <a:r>
              <a:rPr lang="en-US" dirty="0"/>
              <a:t>Use a relatable example: imagine needing to change smoker pricing would you rather search through code, or just update a rule in a file or dashboard? Emphasize that these benefits grow as the number of rules grows.</a:t>
            </a:r>
          </a:p>
        </p:txBody>
      </p:sp>
      <p:sp>
        <p:nvSpPr>
          <p:cNvPr id="4" name="Slide Number Placeholder 3">
            <a:extLst>
              <a:ext uri="{FF2B5EF4-FFF2-40B4-BE49-F238E27FC236}">
                <a16:creationId xmlns:a16="http://schemas.microsoft.com/office/drawing/2014/main" id="{2AAD47B5-5EF0-5279-0F41-03724FDC961B}"/>
              </a:ext>
            </a:extLst>
          </p:cNvPr>
          <p:cNvSpPr>
            <a:spLocks noGrp="1"/>
          </p:cNvSpPr>
          <p:nvPr>
            <p:ph type="sldNum" sz="quarter" idx="5"/>
          </p:nvPr>
        </p:nvSpPr>
        <p:spPr/>
        <p:txBody>
          <a:bodyPr/>
          <a:lstStyle/>
          <a:p>
            <a:fld id="{B8212B91-E0CD-4A27-8E94-3FFCFB4FB363}" type="slidenum">
              <a:rPr lang="en-ZA" smtClean="0"/>
              <a:t>4</a:t>
            </a:fld>
            <a:endParaRPr lang="en-ZA"/>
          </a:p>
        </p:txBody>
      </p:sp>
    </p:spTree>
    <p:extLst>
      <p:ext uri="{BB962C8B-B14F-4D97-AF65-F5344CB8AC3E}">
        <p14:creationId xmlns:p14="http://schemas.microsoft.com/office/powerpoint/2010/main" val="3141254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17198-D964-CC3C-EDB7-581CD778F1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221EA-1306-3A2E-6814-12CB337D9B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FD1FCE-0B30-0159-96B9-46903B2615E5}"/>
              </a:ext>
            </a:extLst>
          </p:cNvPr>
          <p:cNvSpPr>
            <a:spLocks noGrp="1"/>
          </p:cNvSpPr>
          <p:nvPr>
            <p:ph type="body" idx="1"/>
          </p:nvPr>
        </p:nvSpPr>
        <p:spPr/>
        <p:txBody>
          <a:bodyPr/>
          <a:lstStyle/>
          <a:p>
            <a:r>
              <a:rPr lang="en-US" dirty="0"/>
              <a:t>Explain that the rule engine lets you remove logic from code and store it in a readable format. This helps reduce bugs and gives business users a chance to read or suggest changes without needing a developer.</a:t>
            </a:r>
          </a:p>
        </p:txBody>
      </p:sp>
      <p:sp>
        <p:nvSpPr>
          <p:cNvPr id="4" name="Slide Number Placeholder 3">
            <a:extLst>
              <a:ext uri="{FF2B5EF4-FFF2-40B4-BE49-F238E27FC236}">
                <a16:creationId xmlns:a16="http://schemas.microsoft.com/office/drawing/2014/main" id="{587E8817-F39E-3AE1-FAA1-2CA8424EA92B}"/>
              </a:ext>
            </a:extLst>
          </p:cNvPr>
          <p:cNvSpPr>
            <a:spLocks noGrp="1"/>
          </p:cNvSpPr>
          <p:nvPr>
            <p:ph type="sldNum" sz="quarter" idx="5"/>
          </p:nvPr>
        </p:nvSpPr>
        <p:spPr/>
        <p:txBody>
          <a:bodyPr/>
          <a:lstStyle/>
          <a:p>
            <a:fld id="{B8212B91-E0CD-4A27-8E94-3FFCFB4FB363}" type="slidenum">
              <a:rPr lang="en-ZA" smtClean="0"/>
              <a:t>5</a:t>
            </a:fld>
            <a:endParaRPr lang="en-ZA"/>
          </a:p>
        </p:txBody>
      </p:sp>
    </p:spTree>
    <p:extLst>
      <p:ext uri="{BB962C8B-B14F-4D97-AF65-F5344CB8AC3E}">
        <p14:creationId xmlns:p14="http://schemas.microsoft.com/office/powerpoint/2010/main" val="30607463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35439-133F-4CAD-1EB9-A35D2A3806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9432C7-0862-CBFB-39E6-D695B0E23A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612581-224D-E66E-8EF7-9784C61481B0}"/>
              </a:ext>
            </a:extLst>
          </p:cNvPr>
          <p:cNvSpPr>
            <a:spLocks noGrp="1"/>
          </p:cNvSpPr>
          <p:nvPr>
            <p:ph type="body" idx="1"/>
          </p:nvPr>
        </p:nvSpPr>
        <p:spPr/>
        <p:txBody>
          <a:bodyPr/>
          <a:lstStyle/>
          <a:p>
            <a:r>
              <a:rPr lang="en-US" dirty="0"/>
              <a:t>Walk through the table row by row with examples. For instance, testing a rule in isolation vs. testing it through a full web app flow. Highlight how rule engines enable better collaboration.</a:t>
            </a:r>
          </a:p>
        </p:txBody>
      </p:sp>
      <p:sp>
        <p:nvSpPr>
          <p:cNvPr id="4" name="Slide Number Placeholder 3">
            <a:extLst>
              <a:ext uri="{FF2B5EF4-FFF2-40B4-BE49-F238E27FC236}">
                <a16:creationId xmlns:a16="http://schemas.microsoft.com/office/drawing/2014/main" id="{41EE0918-CC63-7869-EB72-BB0756F1D95D}"/>
              </a:ext>
            </a:extLst>
          </p:cNvPr>
          <p:cNvSpPr>
            <a:spLocks noGrp="1"/>
          </p:cNvSpPr>
          <p:nvPr>
            <p:ph type="sldNum" sz="quarter" idx="5"/>
          </p:nvPr>
        </p:nvSpPr>
        <p:spPr/>
        <p:txBody>
          <a:bodyPr/>
          <a:lstStyle/>
          <a:p>
            <a:fld id="{B8212B91-E0CD-4A27-8E94-3FFCFB4FB363}" type="slidenum">
              <a:rPr lang="en-ZA" smtClean="0"/>
              <a:t>6</a:t>
            </a:fld>
            <a:endParaRPr lang="en-ZA"/>
          </a:p>
        </p:txBody>
      </p:sp>
    </p:spTree>
    <p:extLst>
      <p:ext uri="{BB962C8B-B14F-4D97-AF65-F5344CB8AC3E}">
        <p14:creationId xmlns:p14="http://schemas.microsoft.com/office/powerpoint/2010/main" val="1590154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27470-3922-06EF-EC43-7FD6E589B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B44167-2351-9D36-A94E-E7714EC851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A49B12-511A-32DC-36A5-5280BC0C9D10}"/>
              </a:ext>
            </a:extLst>
          </p:cNvPr>
          <p:cNvSpPr>
            <a:spLocks noGrp="1"/>
          </p:cNvSpPr>
          <p:nvPr>
            <p:ph type="body" idx="1"/>
          </p:nvPr>
        </p:nvSpPr>
        <p:spPr/>
        <p:txBody>
          <a:bodyPr/>
          <a:lstStyle/>
          <a:p>
            <a:r>
              <a:rPr lang="en-US" dirty="0"/>
              <a:t>You don’t need to go deep into the technical side here just give high-level definitions. Forward chaining is most common in business apps. Mention that we’ll work with simpler forward-chaining logic in upcoming sessions.</a:t>
            </a:r>
          </a:p>
        </p:txBody>
      </p:sp>
      <p:sp>
        <p:nvSpPr>
          <p:cNvPr id="4" name="Slide Number Placeholder 3">
            <a:extLst>
              <a:ext uri="{FF2B5EF4-FFF2-40B4-BE49-F238E27FC236}">
                <a16:creationId xmlns:a16="http://schemas.microsoft.com/office/drawing/2014/main" id="{4548E829-9B2D-8129-3921-3C7BD339A383}"/>
              </a:ext>
            </a:extLst>
          </p:cNvPr>
          <p:cNvSpPr>
            <a:spLocks noGrp="1"/>
          </p:cNvSpPr>
          <p:nvPr>
            <p:ph type="sldNum" sz="quarter" idx="5"/>
          </p:nvPr>
        </p:nvSpPr>
        <p:spPr/>
        <p:txBody>
          <a:bodyPr/>
          <a:lstStyle/>
          <a:p>
            <a:fld id="{B8212B91-E0CD-4A27-8E94-3FFCFB4FB363}" type="slidenum">
              <a:rPr lang="en-ZA" smtClean="0"/>
              <a:t>7</a:t>
            </a:fld>
            <a:endParaRPr lang="en-ZA"/>
          </a:p>
        </p:txBody>
      </p:sp>
    </p:spTree>
    <p:extLst>
      <p:ext uri="{BB962C8B-B14F-4D97-AF65-F5344CB8AC3E}">
        <p14:creationId xmlns:p14="http://schemas.microsoft.com/office/powerpoint/2010/main" val="267533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7DDBB-0869-3A55-6954-22909F041C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A5358-69A2-5E0D-9949-289F01DB8B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878A1C-7BD3-8A65-3575-C2BB88B45ED0}"/>
              </a:ext>
            </a:extLst>
          </p:cNvPr>
          <p:cNvSpPr>
            <a:spLocks noGrp="1"/>
          </p:cNvSpPr>
          <p:nvPr>
            <p:ph type="body" idx="1"/>
          </p:nvPr>
        </p:nvSpPr>
        <p:spPr/>
        <p:txBody>
          <a:bodyPr/>
          <a:lstStyle/>
          <a:p>
            <a:r>
              <a:rPr lang="en-US" dirty="0"/>
              <a:t>Use a real example if possible — like a rule that changed recently in one of your apps. Reinforce that underwriting decisions are rule-heavy, repetitive, and perfect for automation.</a:t>
            </a:r>
          </a:p>
        </p:txBody>
      </p:sp>
      <p:sp>
        <p:nvSpPr>
          <p:cNvPr id="4" name="Slide Number Placeholder 3">
            <a:extLst>
              <a:ext uri="{FF2B5EF4-FFF2-40B4-BE49-F238E27FC236}">
                <a16:creationId xmlns:a16="http://schemas.microsoft.com/office/drawing/2014/main" id="{170291D3-8068-CCA4-30D7-5D2025BF2FAF}"/>
              </a:ext>
            </a:extLst>
          </p:cNvPr>
          <p:cNvSpPr>
            <a:spLocks noGrp="1"/>
          </p:cNvSpPr>
          <p:nvPr>
            <p:ph type="sldNum" sz="quarter" idx="5"/>
          </p:nvPr>
        </p:nvSpPr>
        <p:spPr/>
        <p:txBody>
          <a:bodyPr/>
          <a:lstStyle/>
          <a:p>
            <a:fld id="{B8212B91-E0CD-4A27-8E94-3FFCFB4FB363}" type="slidenum">
              <a:rPr lang="en-ZA" smtClean="0"/>
              <a:t>8</a:t>
            </a:fld>
            <a:endParaRPr lang="en-ZA"/>
          </a:p>
        </p:txBody>
      </p:sp>
    </p:spTree>
    <p:extLst>
      <p:ext uri="{BB962C8B-B14F-4D97-AF65-F5344CB8AC3E}">
        <p14:creationId xmlns:p14="http://schemas.microsoft.com/office/powerpoint/2010/main" val="17464013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E86BC-6037-048B-11F6-6B3D1BB052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5E9E0-5B05-D9E8-35E0-DB521F8C5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81C51A-4404-809A-D7A5-A36744DCE61C}"/>
              </a:ext>
            </a:extLst>
          </p:cNvPr>
          <p:cNvSpPr>
            <a:spLocks noGrp="1"/>
          </p:cNvSpPr>
          <p:nvPr>
            <p:ph type="body" idx="1"/>
          </p:nvPr>
        </p:nvSpPr>
        <p:spPr/>
        <p:txBody>
          <a:bodyPr/>
          <a:lstStyle/>
          <a:p>
            <a:r>
              <a:rPr lang="en-US" dirty="0"/>
              <a:t>Ask: “Have you implemented any of these rules before?” Let the team contribute examples they’ve worked on. Build familiarity and connect this to their day-to-day experience.</a:t>
            </a:r>
          </a:p>
        </p:txBody>
      </p:sp>
      <p:sp>
        <p:nvSpPr>
          <p:cNvPr id="4" name="Slide Number Placeholder 3">
            <a:extLst>
              <a:ext uri="{FF2B5EF4-FFF2-40B4-BE49-F238E27FC236}">
                <a16:creationId xmlns:a16="http://schemas.microsoft.com/office/drawing/2014/main" id="{E458EED5-BF28-40E4-F54A-D2F23CC343B2}"/>
              </a:ext>
            </a:extLst>
          </p:cNvPr>
          <p:cNvSpPr>
            <a:spLocks noGrp="1"/>
          </p:cNvSpPr>
          <p:nvPr>
            <p:ph type="sldNum" sz="quarter" idx="5"/>
          </p:nvPr>
        </p:nvSpPr>
        <p:spPr/>
        <p:txBody>
          <a:bodyPr/>
          <a:lstStyle/>
          <a:p>
            <a:fld id="{B8212B91-E0CD-4A27-8E94-3FFCFB4FB363}" type="slidenum">
              <a:rPr lang="en-ZA" smtClean="0"/>
              <a:t>9</a:t>
            </a:fld>
            <a:endParaRPr lang="en-ZA"/>
          </a:p>
        </p:txBody>
      </p:sp>
    </p:spTree>
    <p:extLst>
      <p:ext uri="{BB962C8B-B14F-4D97-AF65-F5344CB8AC3E}">
        <p14:creationId xmlns:p14="http://schemas.microsoft.com/office/powerpoint/2010/main" val="7494000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D7B3F-AE65-55C5-F799-D59348487A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9F62A3-27BD-DA2A-15CC-78FE32C9D6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C62450-8EC1-3AA3-6BA2-39A7F5DF8664}"/>
              </a:ext>
            </a:extLst>
          </p:cNvPr>
          <p:cNvSpPr>
            <a:spLocks noGrp="1"/>
          </p:cNvSpPr>
          <p:nvPr>
            <p:ph type="body" idx="1"/>
          </p:nvPr>
        </p:nvSpPr>
        <p:spPr/>
        <p:txBody>
          <a:bodyPr/>
          <a:lstStyle/>
          <a:p>
            <a:r>
              <a:rPr lang="en-US" dirty="0"/>
              <a:t>Write down 2–3 underwriting rules you know are hardcoded in your current system</a:t>
            </a:r>
          </a:p>
          <a:p>
            <a:r>
              <a:rPr lang="en-US" b="1" dirty="0"/>
              <a:t>Slide Notes:</a:t>
            </a:r>
            <a:r>
              <a:rPr lang="en-US" dirty="0"/>
              <a:t> Guide everyone through the task. Make it collaborative. If possible, show an example live. Encourage people to share interesting or tricky rule combinations they’ve seen.</a:t>
            </a:r>
          </a:p>
        </p:txBody>
      </p:sp>
      <p:sp>
        <p:nvSpPr>
          <p:cNvPr id="4" name="Slide Number Placeholder 3">
            <a:extLst>
              <a:ext uri="{FF2B5EF4-FFF2-40B4-BE49-F238E27FC236}">
                <a16:creationId xmlns:a16="http://schemas.microsoft.com/office/drawing/2014/main" id="{DAF958B3-2E5F-2025-A0FF-B4612B54A3DE}"/>
              </a:ext>
            </a:extLst>
          </p:cNvPr>
          <p:cNvSpPr>
            <a:spLocks noGrp="1"/>
          </p:cNvSpPr>
          <p:nvPr>
            <p:ph type="sldNum" sz="quarter" idx="5"/>
          </p:nvPr>
        </p:nvSpPr>
        <p:spPr/>
        <p:txBody>
          <a:bodyPr/>
          <a:lstStyle/>
          <a:p>
            <a:fld id="{B8212B91-E0CD-4A27-8E94-3FFCFB4FB363}" type="slidenum">
              <a:rPr lang="en-ZA" smtClean="0"/>
              <a:t>10</a:t>
            </a:fld>
            <a:endParaRPr lang="en-ZA"/>
          </a:p>
        </p:txBody>
      </p:sp>
    </p:spTree>
    <p:extLst>
      <p:ext uri="{BB962C8B-B14F-4D97-AF65-F5344CB8AC3E}">
        <p14:creationId xmlns:p14="http://schemas.microsoft.com/office/powerpoint/2010/main" val="1159729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E6810-EFB9-4555-717D-1893737A9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F6445-905C-7053-CBF1-E167857EB4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121574-55CB-A89C-6DCB-FA8751CDF412}"/>
              </a:ext>
            </a:extLst>
          </p:cNvPr>
          <p:cNvSpPr>
            <a:spLocks noGrp="1"/>
          </p:cNvSpPr>
          <p:nvPr>
            <p:ph type="body" idx="1"/>
          </p:nvPr>
        </p:nvSpPr>
        <p:spPr/>
        <p:txBody>
          <a:bodyPr/>
          <a:lstStyle/>
          <a:p>
            <a:r>
              <a:rPr lang="en-US" dirty="0"/>
              <a:t>This is an open conversation. Let people vent about confusing logic or hard-to-find rules. The goal is to surface pain points and show how a rule engine could help.</a:t>
            </a:r>
          </a:p>
        </p:txBody>
      </p:sp>
      <p:sp>
        <p:nvSpPr>
          <p:cNvPr id="4" name="Slide Number Placeholder 3">
            <a:extLst>
              <a:ext uri="{FF2B5EF4-FFF2-40B4-BE49-F238E27FC236}">
                <a16:creationId xmlns:a16="http://schemas.microsoft.com/office/drawing/2014/main" id="{E4FE55B6-3492-7BC2-C2BA-4D2667D1FF2F}"/>
              </a:ext>
            </a:extLst>
          </p:cNvPr>
          <p:cNvSpPr>
            <a:spLocks noGrp="1"/>
          </p:cNvSpPr>
          <p:nvPr>
            <p:ph type="sldNum" sz="quarter" idx="5"/>
          </p:nvPr>
        </p:nvSpPr>
        <p:spPr/>
        <p:txBody>
          <a:bodyPr/>
          <a:lstStyle/>
          <a:p>
            <a:fld id="{B8212B91-E0CD-4A27-8E94-3FFCFB4FB363}" type="slidenum">
              <a:rPr lang="en-ZA" smtClean="0"/>
              <a:t>11</a:t>
            </a:fld>
            <a:endParaRPr lang="en-ZA"/>
          </a:p>
        </p:txBody>
      </p:sp>
    </p:spTree>
    <p:extLst>
      <p:ext uri="{BB962C8B-B14F-4D97-AF65-F5344CB8AC3E}">
        <p14:creationId xmlns:p14="http://schemas.microsoft.com/office/powerpoint/2010/main" val="36027422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DEC6B-51F4-4FF9-47C2-565FC50E5A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D979231B-DB68-CB14-4E16-A7EF202B0B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B0C10DA5-D6F3-7578-2E72-3965043F5A5D}"/>
              </a:ext>
            </a:extLst>
          </p:cNvPr>
          <p:cNvSpPr>
            <a:spLocks noGrp="1"/>
          </p:cNvSpPr>
          <p:nvPr>
            <p:ph type="dt" sz="half" idx="10"/>
          </p:nvPr>
        </p:nvSpPr>
        <p:spPr/>
        <p:txBody>
          <a:bodyPr/>
          <a:lstStyle/>
          <a:p>
            <a:fld id="{3B8C6FD3-9AEF-4591-AA33-12F3540D81C2}" type="datetimeFigureOut">
              <a:rPr lang="en-ZA" smtClean="0"/>
              <a:t>2025/07/02</a:t>
            </a:fld>
            <a:endParaRPr lang="en-ZA"/>
          </a:p>
        </p:txBody>
      </p:sp>
      <p:sp>
        <p:nvSpPr>
          <p:cNvPr id="5" name="Footer Placeholder 4">
            <a:extLst>
              <a:ext uri="{FF2B5EF4-FFF2-40B4-BE49-F238E27FC236}">
                <a16:creationId xmlns:a16="http://schemas.microsoft.com/office/drawing/2014/main" id="{293BD34E-A9F1-77BD-44F5-8818770B6BD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E7F4395-185D-503B-7277-093D411D5D01}"/>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1753737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4D767-2B47-B282-A8B9-1F5E69641604}"/>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836C5871-97CC-F6B9-D959-C8DB66B94B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5131384-9E0B-55CC-56E7-7F4C3D2B7457}"/>
              </a:ext>
            </a:extLst>
          </p:cNvPr>
          <p:cNvSpPr>
            <a:spLocks noGrp="1"/>
          </p:cNvSpPr>
          <p:nvPr>
            <p:ph type="dt" sz="half" idx="10"/>
          </p:nvPr>
        </p:nvSpPr>
        <p:spPr/>
        <p:txBody>
          <a:bodyPr/>
          <a:lstStyle/>
          <a:p>
            <a:fld id="{3B8C6FD3-9AEF-4591-AA33-12F3540D81C2}" type="datetimeFigureOut">
              <a:rPr lang="en-ZA" smtClean="0"/>
              <a:t>2025/07/02</a:t>
            </a:fld>
            <a:endParaRPr lang="en-ZA"/>
          </a:p>
        </p:txBody>
      </p:sp>
      <p:sp>
        <p:nvSpPr>
          <p:cNvPr id="5" name="Footer Placeholder 4">
            <a:extLst>
              <a:ext uri="{FF2B5EF4-FFF2-40B4-BE49-F238E27FC236}">
                <a16:creationId xmlns:a16="http://schemas.microsoft.com/office/drawing/2014/main" id="{32890C63-8765-5319-BAB0-903EC275A39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887F71D-BB84-EE4C-BC9C-042F5651AB80}"/>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2841708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DE4A4-9C0F-29EC-4935-65F4167115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ECF069B1-1F34-E629-5C9A-621EEA42BD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3E68CA-2DF5-9A0B-2EC5-6F4FB1C17E5C}"/>
              </a:ext>
            </a:extLst>
          </p:cNvPr>
          <p:cNvSpPr>
            <a:spLocks noGrp="1"/>
          </p:cNvSpPr>
          <p:nvPr>
            <p:ph type="dt" sz="half" idx="10"/>
          </p:nvPr>
        </p:nvSpPr>
        <p:spPr/>
        <p:txBody>
          <a:bodyPr/>
          <a:lstStyle/>
          <a:p>
            <a:fld id="{3B8C6FD3-9AEF-4591-AA33-12F3540D81C2}" type="datetimeFigureOut">
              <a:rPr lang="en-ZA" smtClean="0"/>
              <a:t>2025/07/02</a:t>
            </a:fld>
            <a:endParaRPr lang="en-ZA"/>
          </a:p>
        </p:txBody>
      </p:sp>
      <p:sp>
        <p:nvSpPr>
          <p:cNvPr id="5" name="Footer Placeholder 4">
            <a:extLst>
              <a:ext uri="{FF2B5EF4-FFF2-40B4-BE49-F238E27FC236}">
                <a16:creationId xmlns:a16="http://schemas.microsoft.com/office/drawing/2014/main" id="{242D83BC-BB2E-9230-4D43-BDC2ADEE96C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6E090AA-3974-9778-9BF6-D2DFC13481BB}"/>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369255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54727-80C2-BED7-C8D4-AEAEA8447794}"/>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1BCE4CD0-7BD8-D1C4-8B1E-DE811BA11D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3EE87D7E-E8E5-5253-2A73-9607063585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3D477266-2181-DA59-B14A-D01CB1659567}"/>
              </a:ext>
            </a:extLst>
          </p:cNvPr>
          <p:cNvSpPr>
            <a:spLocks noGrp="1"/>
          </p:cNvSpPr>
          <p:nvPr>
            <p:ph type="dt" sz="half" idx="10"/>
          </p:nvPr>
        </p:nvSpPr>
        <p:spPr/>
        <p:txBody>
          <a:bodyPr/>
          <a:lstStyle/>
          <a:p>
            <a:fld id="{3B8C6FD3-9AEF-4591-AA33-12F3540D81C2}" type="datetimeFigureOut">
              <a:rPr lang="en-ZA" smtClean="0"/>
              <a:t>2025/07/02</a:t>
            </a:fld>
            <a:endParaRPr lang="en-ZA"/>
          </a:p>
        </p:txBody>
      </p:sp>
      <p:sp>
        <p:nvSpPr>
          <p:cNvPr id="6" name="Footer Placeholder 5">
            <a:extLst>
              <a:ext uri="{FF2B5EF4-FFF2-40B4-BE49-F238E27FC236}">
                <a16:creationId xmlns:a16="http://schemas.microsoft.com/office/drawing/2014/main" id="{64A7795A-0AE7-FFE4-6224-73D4FB8886BF}"/>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8AF49741-CFB3-DB77-88F4-DED6635A8AAD}"/>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2157810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152FC-CB4B-9CA1-68D0-D8527AC78780}"/>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535C2772-07E5-2ABF-8A41-2E3901F253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4444A3-7553-92CF-B0D3-F91CB46519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576C2217-21D6-176C-4864-E5F282DABB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B6A42B-F292-1689-AA7A-7585C7D8DE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95EB90E5-2DDB-D3DC-1E65-A0B75FCD1B85}"/>
              </a:ext>
            </a:extLst>
          </p:cNvPr>
          <p:cNvSpPr>
            <a:spLocks noGrp="1"/>
          </p:cNvSpPr>
          <p:nvPr>
            <p:ph type="dt" sz="half" idx="10"/>
          </p:nvPr>
        </p:nvSpPr>
        <p:spPr/>
        <p:txBody>
          <a:bodyPr/>
          <a:lstStyle/>
          <a:p>
            <a:fld id="{3B8C6FD3-9AEF-4591-AA33-12F3540D81C2}" type="datetimeFigureOut">
              <a:rPr lang="en-ZA" smtClean="0"/>
              <a:t>2025/07/02</a:t>
            </a:fld>
            <a:endParaRPr lang="en-ZA"/>
          </a:p>
        </p:txBody>
      </p:sp>
      <p:sp>
        <p:nvSpPr>
          <p:cNvPr id="8" name="Footer Placeholder 7">
            <a:extLst>
              <a:ext uri="{FF2B5EF4-FFF2-40B4-BE49-F238E27FC236}">
                <a16:creationId xmlns:a16="http://schemas.microsoft.com/office/drawing/2014/main" id="{5C776851-E153-0573-0579-5992BFFE5EC4}"/>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27141AD5-01CA-B5AA-56B3-27C0E3B1E862}"/>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1289696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7409D-B102-75AC-89F5-3CC282348267}"/>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C311B483-142A-40A5-6A3E-898810667210}"/>
              </a:ext>
            </a:extLst>
          </p:cNvPr>
          <p:cNvSpPr>
            <a:spLocks noGrp="1"/>
          </p:cNvSpPr>
          <p:nvPr>
            <p:ph type="dt" sz="half" idx="10"/>
          </p:nvPr>
        </p:nvSpPr>
        <p:spPr/>
        <p:txBody>
          <a:bodyPr/>
          <a:lstStyle/>
          <a:p>
            <a:fld id="{3B8C6FD3-9AEF-4591-AA33-12F3540D81C2}" type="datetimeFigureOut">
              <a:rPr lang="en-ZA" smtClean="0"/>
              <a:t>2025/07/02</a:t>
            </a:fld>
            <a:endParaRPr lang="en-ZA"/>
          </a:p>
        </p:txBody>
      </p:sp>
      <p:sp>
        <p:nvSpPr>
          <p:cNvPr id="4" name="Footer Placeholder 3">
            <a:extLst>
              <a:ext uri="{FF2B5EF4-FFF2-40B4-BE49-F238E27FC236}">
                <a16:creationId xmlns:a16="http://schemas.microsoft.com/office/drawing/2014/main" id="{E91FDABD-E7DF-E6DA-2D79-1E7AD21EE544}"/>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CC94D975-D1D0-74A6-E73F-CC233B37CA01}"/>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1086888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044AA2-800A-8BAD-D379-03DC0F21C470}"/>
              </a:ext>
            </a:extLst>
          </p:cNvPr>
          <p:cNvSpPr>
            <a:spLocks noGrp="1"/>
          </p:cNvSpPr>
          <p:nvPr>
            <p:ph type="dt" sz="half" idx="10"/>
          </p:nvPr>
        </p:nvSpPr>
        <p:spPr/>
        <p:txBody>
          <a:bodyPr/>
          <a:lstStyle/>
          <a:p>
            <a:fld id="{3B8C6FD3-9AEF-4591-AA33-12F3540D81C2}" type="datetimeFigureOut">
              <a:rPr lang="en-ZA" smtClean="0"/>
              <a:t>2025/07/02</a:t>
            </a:fld>
            <a:endParaRPr lang="en-ZA"/>
          </a:p>
        </p:txBody>
      </p:sp>
      <p:sp>
        <p:nvSpPr>
          <p:cNvPr id="3" name="Footer Placeholder 2">
            <a:extLst>
              <a:ext uri="{FF2B5EF4-FFF2-40B4-BE49-F238E27FC236}">
                <a16:creationId xmlns:a16="http://schemas.microsoft.com/office/drawing/2014/main" id="{3183BC7E-212D-468F-EC74-16C538058B5D}"/>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4531A678-9598-7B12-6EF9-E6402DA4C5CD}"/>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1356186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1B115-3753-9B70-1000-B0E3BA0D74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F3F3BE9C-3C59-E0B4-ACE9-0933CB7461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2D0962F6-AA24-DB8D-ACD8-68980426B6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E8CFFE-3845-DCA9-EE47-705C065E1E5F}"/>
              </a:ext>
            </a:extLst>
          </p:cNvPr>
          <p:cNvSpPr>
            <a:spLocks noGrp="1"/>
          </p:cNvSpPr>
          <p:nvPr>
            <p:ph type="dt" sz="half" idx="10"/>
          </p:nvPr>
        </p:nvSpPr>
        <p:spPr/>
        <p:txBody>
          <a:bodyPr/>
          <a:lstStyle/>
          <a:p>
            <a:fld id="{3B8C6FD3-9AEF-4591-AA33-12F3540D81C2}" type="datetimeFigureOut">
              <a:rPr lang="en-ZA" smtClean="0"/>
              <a:t>2025/07/02</a:t>
            </a:fld>
            <a:endParaRPr lang="en-ZA"/>
          </a:p>
        </p:txBody>
      </p:sp>
      <p:sp>
        <p:nvSpPr>
          <p:cNvPr id="6" name="Footer Placeholder 5">
            <a:extLst>
              <a:ext uri="{FF2B5EF4-FFF2-40B4-BE49-F238E27FC236}">
                <a16:creationId xmlns:a16="http://schemas.microsoft.com/office/drawing/2014/main" id="{6665DC10-6B3F-F801-4823-9DC0433570CD}"/>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0AD75250-3DCC-75D5-5D6C-A4A93A270441}"/>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2411968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902DB-D175-012C-D30B-E1E23FA7AA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F93B14E2-EF9B-F841-D3F1-ABCCE473BC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4A026016-0990-F592-1329-94D10BEDD0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4AC5CC-7A99-CDD9-8A80-BB30C9FDD6AA}"/>
              </a:ext>
            </a:extLst>
          </p:cNvPr>
          <p:cNvSpPr>
            <a:spLocks noGrp="1"/>
          </p:cNvSpPr>
          <p:nvPr>
            <p:ph type="dt" sz="half" idx="10"/>
          </p:nvPr>
        </p:nvSpPr>
        <p:spPr/>
        <p:txBody>
          <a:bodyPr/>
          <a:lstStyle/>
          <a:p>
            <a:fld id="{3B8C6FD3-9AEF-4591-AA33-12F3540D81C2}" type="datetimeFigureOut">
              <a:rPr lang="en-ZA" smtClean="0"/>
              <a:t>2025/07/02</a:t>
            </a:fld>
            <a:endParaRPr lang="en-ZA"/>
          </a:p>
        </p:txBody>
      </p:sp>
      <p:sp>
        <p:nvSpPr>
          <p:cNvPr id="6" name="Footer Placeholder 5">
            <a:extLst>
              <a:ext uri="{FF2B5EF4-FFF2-40B4-BE49-F238E27FC236}">
                <a16:creationId xmlns:a16="http://schemas.microsoft.com/office/drawing/2014/main" id="{56F668BB-AE8F-35EA-9EAB-F3C2CE0E2A4A}"/>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8659BD69-9A43-FB29-1FF9-E6ADA5C20B9E}"/>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85662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BD91D-6FA8-B086-FAC9-D37B78CF60C3}"/>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31AE85E3-0653-2F13-18DA-37E00B6A80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F4CBFF1-676D-A90A-5655-F014B6B563FC}"/>
              </a:ext>
            </a:extLst>
          </p:cNvPr>
          <p:cNvSpPr>
            <a:spLocks noGrp="1"/>
          </p:cNvSpPr>
          <p:nvPr>
            <p:ph type="dt" sz="half" idx="10"/>
          </p:nvPr>
        </p:nvSpPr>
        <p:spPr/>
        <p:txBody>
          <a:bodyPr/>
          <a:lstStyle/>
          <a:p>
            <a:fld id="{3B8C6FD3-9AEF-4591-AA33-12F3540D81C2}" type="datetimeFigureOut">
              <a:rPr lang="en-ZA" smtClean="0"/>
              <a:t>2025/07/02</a:t>
            </a:fld>
            <a:endParaRPr lang="en-ZA"/>
          </a:p>
        </p:txBody>
      </p:sp>
      <p:sp>
        <p:nvSpPr>
          <p:cNvPr id="5" name="Footer Placeholder 4">
            <a:extLst>
              <a:ext uri="{FF2B5EF4-FFF2-40B4-BE49-F238E27FC236}">
                <a16:creationId xmlns:a16="http://schemas.microsoft.com/office/drawing/2014/main" id="{F140DD1F-CAF5-CAF2-FCC0-7D29A277C66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6816151-6BB1-4A97-CE1F-39BDF2AEC9DF}"/>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2780692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80E4AA-BA27-A354-9027-D8B84ED024D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BF15BDF4-E085-AAB4-4598-F30989F495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CB4D25C-2F6C-A3EF-0BEE-14F378288D18}"/>
              </a:ext>
            </a:extLst>
          </p:cNvPr>
          <p:cNvSpPr>
            <a:spLocks noGrp="1"/>
          </p:cNvSpPr>
          <p:nvPr>
            <p:ph type="dt" sz="half" idx="10"/>
          </p:nvPr>
        </p:nvSpPr>
        <p:spPr/>
        <p:txBody>
          <a:bodyPr/>
          <a:lstStyle/>
          <a:p>
            <a:fld id="{3B8C6FD3-9AEF-4591-AA33-12F3540D81C2}" type="datetimeFigureOut">
              <a:rPr lang="en-ZA" smtClean="0"/>
              <a:t>2025/07/02</a:t>
            </a:fld>
            <a:endParaRPr lang="en-ZA"/>
          </a:p>
        </p:txBody>
      </p:sp>
      <p:sp>
        <p:nvSpPr>
          <p:cNvPr id="5" name="Footer Placeholder 4">
            <a:extLst>
              <a:ext uri="{FF2B5EF4-FFF2-40B4-BE49-F238E27FC236}">
                <a16:creationId xmlns:a16="http://schemas.microsoft.com/office/drawing/2014/main" id="{02C14CC2-42E0-0E6A-2C49-08D8AD68A13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8CD19D3-2B19-A2F0-A925-00914345AF44}"/>
              </a:ext>
            </a:extLst>
          </p:cNvPr>
          <p:cNvSpPr>
            <a:spLocks noGrp="1"/>
          </p:cNvSpPr>
          <p:nvPr>
            <p:ph type="sldNum" sz="quarter" idx="12"/>
          </p:nvPr>
        </p:nvSpPr>
        <p:spPr/>
        <p:txBody>
          <a:bodyPr/>
          <a:lstStyle/>
          <a:p>
            <a:fld id="{01935617-4959-484E-BC71-FED80877E89F}" type="slidenum">
              <a:rPr lang="en-ZA" smtClean="0"/>
              <a:t>‹#›</a:t>
            </a:fld>
            <a:endParaRPr lang="en-ZA"/>
          </a:p>
        </p:txBody>
      </p:sp>
    </p:spTree>
    <p:extLst>
      <p:ext uri="{BB962C8B-B14F-4D97-AF65-F5344CB8AC3E}">
        <p14:creationId xmlns:p14="http://schemas.microsoft.com/office/powerpoint/2010/main" val="444121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608699-866E-CE2C-CB1C-234155D5D5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A278DD56-2CB8-D24A-462F-F8B614A930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D44AF630-9B69-1DE1-E313-F502CEF2AC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8C6FD3-9AEF-4591-AA33-12F3540D81C2}" type="datetimeFigureOut">
              <a:rPr lang="en-ZA" smtClean="0"/>
              <a:t>2025/07/02</a:t>
            </a:fld>
            <a:endParaRPr lang="en-ZA"/>
          </a:p>
        </p:txBody>
      </p:sp>
      <p:sp>
        <p:nvSpPr>
          <p:cNvPr id="5" name="Footer Placeholder 4">
            <a:extLst>
              <a:ext uri="{FF2B5EF4-FFF2-40B4-BE49-F238E27FC236}">
                <a16:creationId xmlns:a16="http://schemas.microsoft.com/office/drawing/2014/main" id="{1EAA3D92-27E5-2D80-6474-2C3609CA90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42237CB4-F86D-A0BA-3390-73157797A2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1935617-4959-484E-BC71-FED80877E89F}" type="slidenum">
              <a:rPr lang="en-ZA" smtClean="0"/>
              <a:t>‹#›</a:t>
            </a:fld>
            <a:endParaRPr lang="en-ZA"/>
          </a:p>
        </p:txBody>
      </p:sp>
    </p:spTree>
    <p:extLst>
      <p:ext uri="{BB962C8B-B14F-4D97-AF65-F5344CB8AC3E}">
        <p14:creationId xmlns:p14="http://schemas.microsoft.com/office/powerpoint/2010/main" val="36887412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ack background with a white and yellow figure">
            <a:extLst>
              <a:ext uri="{FF2B5EF4-FFF2-40B4-BE49-F238E27FC236}">
                <a16:creationId xmlns:a16="http://schemas.microsoft.com/office/drawing/2014/main" id="{F3BE0D3B-FC64-310E-653C-F39820C85A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E66624A-B6AD-8129-7B6B-1843C085BA3A}"/>
              </a:ext>
            </a:extLst>
          </p:cNvPr>
          <p:cNvSpPr>
            <a:spLocks noGrp="1"/>
          </p:cNvSpPr>
          <p:nvPr>
            <p:ph type="ctrTitle"/>
          </p:nvPr>
        </p:nvSpPr>
        <p:spPr>
          <a:xfrm>
            <a:off x="1524000" y="1122363"/>
            <a:ext cx="9828362" cy="2387600"/>
          </a:xfrm>
        </p:spPr>
        <p:txBody>
          <a:bodyPr>
            <a:normAutofit fontScale="90000"/>
          </a:bodyPr>
          <a:lstStyle/>
          <a:p>
            <a:r>
              <a:rPr lang="en-ZA" dirty="0">
                <a:solidFill>
                  <a:schemeClr val="bg1"/>
                </a:solidFill>
                <a:latin typeface="Poppins" panose="00000500000000000000" pitchFamily="2" charset="0"/>
                <a:cs typeface="Poppins" panose="00000500000000000000" pitchFamily="2" charset="0"/>
              </a:rPr>
              <a:t>Introduction to Rule Engines</a:t>
            </a:r>
            <a:br>
              <a:rPr lang="en-ZA" dirty="0">
                <a:solidFill>
                  <a:schemeClr val="bg1"/>
                </a:solidFill>
                <a:latin typeface="Poppins" panose="00000500000000000000" pitchFamily="2" charset="0"/>
                <a:cs typeface="Poppins" panose="00000500000000000000" pitchFamily="2" charset="0"/>
              </a:rPr>
            </a:br>
            <a:endParaRPr lang="en-ZA" dirty="0">
              <a:solidFill>
                <a:schemeClr val="bg1"/>
              </a:solidFill>
              <a:latin typeface="Poppins" panose="00000500000000000000" pitchFamily="2" charset="0"/>
              <a:cs typeface="Poppins" panose="00000500000000000000" pitchFamily="2" charset="0"/>
            </a:endParaRPr>
          </a:p>
        </p:txBody>
      </p:sp>
      <p:sp>
        <p:nvSpPr>
          <p:cNvPr id="3" name="Subtitle 2">
            <a:extLst>
              <a:ext uri="{FF2B5EF4-FFF2-40B4-BE49-F238E27FC236}">
                <a16:creationId xmlns:a16="http://schemas.microsoft.com/office/drawing/2014/main" id="{F3CC2D5F-E6E6-C6BB-3A84-004F82806BA0}"/>
              </a:ext>
            </a:extLst>
          </p:cNvPr>
          <p:cNvSpPr>
            <a:spLocks noGrp="1"/>
          </p:cNvSpPr>
          <p:nvPr>
            <p:ph type="subTitle" idx="1"/>
          </p:nvPr>
        </p:nvSpPr>
        <p:spPr>
          <a:xfrm>
            <a:off x="1679275" y="2976564"/>
            <a:ext cx="9144000" cy="1655762"/>
          </a:xfrm>
        </p:spPr>
        <p:txBody>
          <a:bodyPr/>
          <a:lstStyle/>
          <a:p>
            <a:r>
              <a:rPr lang="en-US" dirty="0">
                <a:solidFill>
                  <a:schemeClr val="bg1"/>
                </a:solidFill>
                <a:latin typeface="Poppins" panose="00000500000000000000" pitchFamily="2" charset="0"/>
                <a:cs typeface="Poppins" panose="00000500000000000000" pitchFamily="2" charset="0"/>
              </a:rPr>
              <a:t>What is a Rule Engine and Why Use One?</a:t>
            </a:r>
          </a:p>
        </p:txBody>
      </p:sp>
      <p:sp>
        <p:nvSpPr>
          <p:cNvPr id="4" name="TextBox 3">
            <a:extLst>
              <a:ext uri="{FF2B5EF4-FFF2-40B4-BE49-F238E27FC236}">
                <a16:creationId xmlns:a16="http://schemas.microsoft.com/office/drawing/2014/main" id="{F873CE58-2129-5518-7F9A-79256045C0F4}"/>
              </a:ext>
            </a:extLst>
          </p:cNvPr>
          <p:cNvSpPr txBox="1"/>
          <p:nvPr/>
        </p:nvSpPr>
        <p:spPr>
          <a:xfrm>
            <a:off x="203199" y="5040998"/>
            <a:ext cx="5172364" cy="646331"/>
          </a:xfrm>
          <a:prstGeom prst="rect">
            <a:avLst/>
          </a:prstGeom>
          <a:noFill/>
        </p:spPr>
        <p:txBody>
          <a:bodyPr wrap="square" rtlCol="0">
            <a:spAutoFit/>
          </a:bodyPr>
          <a:lstStyle/>
          <a:p>
            <a:r>
              <a:rPr lang="en-ZA" dirty="0">
                <a:solidFill>
                  <a:schemeClr val="bg1"/>
                </a:solidFill>
                <a:latin typeface="Poppins" panose="00000500000000000000" pitchFamily="2" charset="0"/>
                <a:cs typeface="Poppins" panose="00000500000000000000" pitchFamily="2" charset="0"/>
              </a:rPr>
              <a:t>Presented by: Treveshan Naidoo</a:t>
            </a:r>
          </a:p>
          <a:p>
            <a:r>
              <a:rPr lang="en-ZA" dirty="0">
                <a:solidFill>
                  <a:schemeClr val="bg1"/>
                </a:solidFill>
                <a:latin typeface="Poppins" panose="00000500000000000000" pitchFamily="2" charset="0"/>
                <a:cs typeface="Poppins" panose="00000500000000000000" pitchFamily="2" charset="0"/>
              </a:rPr>
              <a:t>TTD Consulting Internal Learning Series</a:t>
            </a:r>
          </a:p>
        </p:txBody>
      </p:sp>
    </p:spTree>
    <p:extLst>
      <p:ext uri="{BB962C8B-B14F-4D97-AF65-F5344CB8AC3E}">
        <p14:creationId xmlns:p14="http://schemas.microsoft.com/office/powerpoint/2010/main" val="3388848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047716FF-D1BD-070F-70DB-BAE97CACD19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55613BBD-DD38-678C-3AD4-8B25D546ED41}"/>
              </a:ext>
            </a:extLst>
          </p:cNvPr>
          <p:cNvSpPr>
            <a:spLocks noGrp="1"/>
          </p:cNvSpPr>
          <p:nvPr>
            <p:ph type="title"/>
          </p:nvPr>
        </p:nvSpPr>
        <p:spPr/>
        <p:txBody>
          <a:bodyPr/>
          <a:lstStyle/>
          <a:p>
            <a:pPr algn="ctr"/>
            <a:r>
              <a:rPr lang="en-ZA" b="1" dirty="0">
                <a:solidFill>
                  <a:schemeClr val="bg1"/>
                </a:solidFill>
              </a:rPr>
              <a:t>Welcome</a:t>
            </a:r>
            <a:br>
              <a:rPr lang="en-ZA" dirty="0">
                <a:solidFill>
                  <a:schemeClr val="bg1"/>
                </a:solidFill>
              </a:rPr>
            </a:b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5B4022B9-C514-A496-F3BB-2CE6DB4BDB28}"/>
              </a:ext>
            </a:extLst>
          </p:cNvPr>
          <p:cNvSpPr txBox="1"/>
          <p:nvPr/>
        </p:nvSpPr>
        <p:spPr>
          <a:xfrm>
            <a:off x="1838036" y="1468582"/>
            <a:ext cx="8137236" cy="221599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solidFill>
                  <a:schemeClr val="bg1"/>
                </a:solidFill>
              </a:rPr>
              <a:t>Welcome to Week 1 of our Learning Series</a:t>
            </a:r>
          </a:p>
          <a:p>
            <a:pPr marL="285750" indent="-285750">
              <a:lnSpc>
                <a:spcPct val="150000"/>
              </a:lnSpc>
              <a:buFont typeface="Arial" panose="020B0604020202020204" pitchFamily="34" charset="0"/>
              <a:buChar char="•"/>
            </a:pPr>
            <a:r>
              <a:rPr lang="en-US" sz="2000" dirty="0">
                <a:solidFill>
                  <a:schemeClr val="bg1"/>
                </a:solidFill>
              </a:rPr>
              <a:t>Today's topic: Rule Engines in the context of Insurance Underwriting</a:t>
            </a:r>
          </a:p>
          <a:p>
            <a:pPr marL="285750" indent="-285750">
              <a:lnSpc>
                <a:spcPct val="150000"/>
              </a:lnSpc>
              <a:buFont typeface="Arial" panose="020B0604020202020204" pitchFamily="34" charset="0"/>
              <a:buChar char="•"/>
            </a:pPr>
            <a:r>
              <a:rPr lang="en-US" sz="2000" dirty="0">
                <a:solidFill>
                  <a:schemeClr val="bg1"/>
                </a:solidFill>
              </a:rPr>
              <a:t>Goal: Understand what rule engines are, why they matter, and where we use them</a:t>
            </a:r>
          </a:p>
          <a:p>
            <a:endParaRPr lang="en-ZA"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616994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CED7F-A8A6-79D1-04A3-34F95F11E97E}"/>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82B8C6FC-4673-453F-839C-9A8585DC4EE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16177148-7AD3-5F9C-583F-FBBCEA2083A9}"/>
              </a:ext>
            </a:extLst>
          </p:cNvPr>
          <p:cNvSpPr>
            <a:spLocks noGrp="1"/>
          </p:cNvSpPr>
          <p:nvPr>
            <p:ph type="title"/>
          </p:nvPr>
        </p:nvSpPr>
        <p:spPr/>
        <p:txBody>
          <a:bodyPr/>
          <a:lstStyle/>
          <a:p>
            <a:pPr algn="ctr"/>
            <a:r>
              <a:rPr lang="en-US" b="1" dirty="0">
                <a:solidFill>
                  <a:schemeClr val="bg1"/>
                </a:solidFill>
              </a:rPr>
              <a:t>What is a Rule Engine?</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E6FED14A-E585-90EC-19CC-4C053F3E9BD9}"/>
              </a:ext>
            </a:extLst>
          </p:cNvPr>
          <p:cNvSpPr txBox="1"/>
          <p:nvPr/>
        </p:nvSpPr>
        <p:spPr>
          <a:xfrm>
            <a:off x="1930400" y="2109152"/>
            <a:ext cx="8137236" cy="221599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solidFill>
                  <a:schemeClr val="bg1"/>
                </a:solidFill>
              </a:rPr>
              <a:t>A tool that separates business rules from application code</a:t>
            </a:r>
          </a:p>
          <a:p>
            <a:pPr marL="342900" indent="-342900">
              <a:lnSpc>
                <a:spcPct val="150000"/>
              </a:lnSpc>
              <a:buFont typeface="Arial" panose="020B0604020202020204" pitchFamily="34" charset="0"/>
              <a:buChar char="•"/>
            </a:pPr>
            <a:r>
              <a:rPr lang="en-US" sz="2000" dirty="0">
                <a:solidFill>
                  <a:schemeClr val="bg1"/>
                </a:solidFill>
              </a:rPr>
              <a:t>Evaluates rules at runtime based on input data ("facts")</a:t>
            </a:r>
          </a:p>
          <a:p>
            <a:pPr marL="342900" indent="-342900">
              <a:lnSpc>
                <a:spcPct val="150000"/>
              </a:lnSpc>
              <a:buFont typeface="Arial" panose="020B0604020202020204" pitchFamily="34" charset="0"/>
              <a:buChar char="•"/>
            </a:pPr>
            <a:r>
              <a:rPr lang="en-US" sz="2000" dirty="0">
                <a:solidFill>
                  <a:schemeClr val="bg1"/>
                </a:solidFill>
              </a:rPr>
              <a:t>Helps define logic like "If condition, then action" outside of regular code</a:t>
            </a:r>
          </a:p>
          <a:p>
            <a:endParaRPr lang="en-ZA"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926798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38BED-B058-2782-12F9-3F44A49D0E1B}"/>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15D07048-FA3E-C9DB-67E1-2D6CA6C3D0B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A228670F-2B9C-8280-337B-FB2C8450F134}"/>
              </a:ext>
            </a:extLst>
          </p:cNvPr>
          <p:cNvSpPr>
            <a:spLocks noGrp="1"/>
          </p:cNvSpPr>
          <p:nvPr>
            <p:ph type="title"/>
          </p:nvPr>
        </p:nvSpPr>
        <p:spPr/>
        <p:txBody>
          <a:bodyPr/>
          <a:lstStyle/>
          <a:p>
            <a:pPr algn="ctr"/>
            <a:r>
              <a:rPr lang="en-US" b="1" dirty="0">
                <a:solidFill>
                  <a:schemeClr val="bg1"/>
                </a:solidFill>
              </a:rPr>
              <a:t>Why Use a Rule Engine?</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09F365C7-1E09-629B-F8C0-2EBBF03FBB0C}"/>
              </a:ext>
            </a:extLst>
          </p:cNvPr>
          <p:cNvSpPr txBox="1"/>
          <p:nvPr/>
        </p:nvSpPr>
        <p:spPr>
          <a:xfrm>
            <a:off x="1930400" y="2109152"/>
            <a:ext cx="8137236" cy="189462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a:solidFill>
                  <a:schemeClr val="bg1"/>
                </a:solidFill>
              </a:rPr>
              <a:t>Flexibility:</a:t>
            </a:r>
            <a:r>
              <a:rPr lang="en-US" sz="2000" dirty="0">
                <a:solidFill>
                  <a:schemeClr val="bg1"/>
                </a:solidFill>
              </a:rPr>
              <a:t> Change rules without redeploying code</a:t>
            </a:r>
          </a:p>
          <a:p>
            <a:pPr marL="342900" indent="-342900">
              <a:lnSpc>
                <a:spcPct val="150000"/>
              </a:lnSpc>
              <a:buFont typeface="Arial" panose="020B0604020202020204" pitchFamily="34" charset="0"/>
              <a:buChar char="•"/>
            </a:pPr>
            <a:r>
              <a:rPr lang="en-US" sz="2000" b="1" dirty="0">
                <a:solidFill>
                  <a:schemeClr val="bg1"/>
                </a:solidFill>
              </a:rPr>
              <a:t>Reusability:</a:t>
            </a:r>
            <a:r>
              <a:rPr lang="en-US" sz="2000" dirty="0">
                <a:solidFill>
                  <a:schemeClr val="bg1"/>
                </a:solidFill>
              </a:rPr>
              <a:t> Share rules across multiple features or systems</a:t>
            </a:r>
          </a:p>
          <a:p>
            <a:pPr marL="342900" indent="-342900">
              <a:lnSpc>
                <a:spcPct val="150000"/>
              </a:lnSpc>
              <a:buFont typeface="Arial" panose="020B0604020202020204" pitchFamily="34" charset="0"/>
              <a:buChar char="•"/>
            </a:pPr>
            <a:r>
              <a:rPr lang="en-US" sz="2000" b="1" dirty="0">
                <a:solidFill>
                  <a:schemeClr val="bg1"/>
                </a:solidFill>
              </a:rPr>
              <a:t>Maintainability:</a:t>
            </a:r>
            <a:r>
              <a:rPr lang="en-US" sz="2000" dirty="0">
                <a:solidFill>
                  <a:schemeClr val="bg1"/>
                </a:solidFill>
              </a:rPr>
              <a:t> Debug and test rules independently</a:t>
            </a:r>
          </a:p>
          <a:p>
            <a:pPr marL="342900" indent="-342900">
              <a:lnSpc>
                <a:spcPct val="150000"/>
              </a:lnSpc>
              <a:buFont typeface="Arial" panose="020B0604020202020204" pitchFamily="34" charset="0"/>
              <a:buChar char="•"/>
            </a:pPr>
            <a:r>
              <a:rPr lang="en-US" sz="2000" b="1" dirty="0">
                <a:solidFill>
                  <a:schemeClr val="bg1"/>
                </a:solidFill>
              </a:rPr>
              <a:t>Transparency:</a:t>
            </a:r>
            <a:r>
              <a:rPr lang="en-US" sz="2000" dirty="0">
                <a:solidFill>
                  <a:schemeClr val="bg1"/>
                </a:solidFill>
              </a:rPr>
              <a:t> Non-</a:t>
            </a:r>
            <a:r>
              <a:rPr lang="en-US" sz="2000" dirty="0" err="1">
                <a:solidFill>
                  <a:schemeClr val="bg1"/>
                </a:solidFill>
              </a:rPr>
              <a:t>devs</a:t>
            </a:r>
            <a:r>
              <a:rPr lang="en-US" sz="2000" dirty="0">
                <a:solidFill>
                  <a:schemeClr val="bg1"/>
                </a:solidFill>
              </a:rPr>
              <a:t> can understand and help define logic</a:t>
            </a:r>
          </a:p>
        </p:txBody>
      </p:sp>
    </p:spTree>
    <p:extLst>
      <p:ext uri="{BB962C8B-B14F-4D97-AF65-F5344CB8AC3E}">
        <p14:creationId xmlns:p14="http://schemas.microsoft.com/office/powerpoint/2010/main" val="1351588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869A-01D1-9910-C294-A5D0F43D8717}"/>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C5CD25D5-7E15-AD8B-E3E4-3DE34647FCE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8A05FF6F-AD08-C132-73F3-4ECAD0B9441E}"/>
              </a:ext>
            </a:extLst>
          </p:cNvPr>
          <p:cNvSpPr>
            <a:spLocks noGrp="1"/>
          </p:cNvSpPr>
          <p:nvPr>
            <p:ph type="title"/>
          </p:nvPr>
        </p:nvSpPr>
        <p:spPr/>
        <p:txBody>
          <a:bodyPr/>
          <a:lstStyle/>
          <a:p>
            <a:pPr algn="ctr"/>
            <a:r>
              <a:rPr lang="en-US" b="1" dirty="0">
                <a:solidFill>
                  <a:schemeClr val="bg1"/>
                </a:solidFill>
                <a:latin typeface="Poppins" panose="00000500000000000000" pitchFamily="2" charset="0"/>
                <a:cs typeface="Poppins" panose="00000500000000000000" pitchFamily="2" charset="0"/>
              </a:rPr>
              <a:t>Real-World Example</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A2795766-5F4B-2F34-5E97-9716EFB6BA69}"/>
              </a:ext>
            </a:extLst>
          </p:cNvPr>
          <p:cNvSpPr txBox="1"/>
          <p:nvPr/>
        </p:nvSpPr>
        <p:spPr>
          <a:xfrm>
            <a:off x="1265382" y="2109152"/>
            <a:ext cx="10631054" cy="189539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Example of hardcoded rule: </a:t>
            </a:r>
            <a:r>
              <a:rPr lang="en-US" sz="2000" i="1" dirty="0">
                <a:solidFill>
                  <a:schemeClr val="bg1"/>
                </a:solidFill>
                <a:latin typeface="Poppins" panose="00000500000000000000" pitchFamily="2" charset="0"/>
                <a:cs typeface="Poppins" panose="00000500000000000000" pitchFamily="2" charset="0"/>
              </a:rPr>
              <a:t>if (age &lt; 25 &amp;&amp; </a:t>
            </a:r>
            <a:r>
              <a:rPr lang="en-US" sz="2000" i="1" dirty="0" err="1">
                <a:solidFill>
                  <a:schemeClr val="bg1"/>
                </a:solidFill>
                <a:latin typeface="Poppins" panose="00000500000000000000" pitchFamily="2" charset="0"/>
                <a:cs typeface="Poppins" panose="00000500000000000000" pitchFamily="2" charset="0"/>
              </a:rPr>
              <a:t>isSmoker</a:t>
            </a:r>
            <a:r>
              <a:rPr lang="en-US" sz="2000" i="1" dirty="0">
                <a:solidFill>
                  <a:schemeClr val="bg1"/>
                </a:solidFill>
                <a:latin typeface="Poppins" panose="00000500000000000000" pitchFamily="2" charset="0"/>
                <a:cs typeface="Poppins" panose="00000500000000000000" pitchFamily="2" charset="0"/>
              </a:rPr>
              <a:t>) premium = base * 1.5;</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Rule Engine version:</a:t>
            </a:r>
          </a:p>
          <a:p>
            <a:pPr marL="800100" lvl="1"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Rule: </a:t>
            </a:r>
            <a:r>
              <a:rPr lang="en-US" sz="2000" i="1" dirty="0">
                <a:solidFill>
                  <a:schemeClr val="bg1"/>
                </a:solidFill>
                <a:latin typeface="Poppins" panose="00000500000000000000" pitchFamily="2" charset="0"/>
                <a:cs typeface="Poppins" panose="00000500000000000000" pitchFamily="2" charset="0"/>
              </a:rPr>
              <a:t>IF age &lt; 25 AND smoker = true THEN </a:t>
            </a:r>
            <a:r>
              <a:rPr lang="en-US" sz="2000" i="1" dirty="0" err="1">
                <a:solidFill>
                  <a:schemeClr val="bg1"/>
                </a:solidFill>
                <a:latin typeface="Poppins" panose="00000500000000000000" pitchFamily="2" charset="0"/>
                <a:cs typeface="Poppins" panose="00000500000000000000" pitchFamily="2" charset="0"/>
              </a:rPr>
              <a:t>premiumMultiplier</a:t>
            </a:r>
            <a:r>
              <a:rPr lang="en-US" sz="2000" i="1" dirty="0">
                <a:solidFill>
                  <a:schemeClr val="bg1"/>
                </a:solidFill>
                <a:latin typeface="Poppins" panose="00000500000000000000" pitchFamily="2" charset="0"/>
                <a:cs typeface="Poppins" panose="00000500000000000000" pitchFamily="2" charset="0"/>
              </a:rPr>
              <a:t> = 1.5</a:t>
            </a:r>
          </a:p>
          <a:p>
            <a:pPr marL="800100" lvl="1"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Defined in config, DB, or rule file</a:t>
            </a:r>
            <a:endParaRPr lang="en-US" sz="2000"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717459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6151D-6E20-3DBB-1AB2-EFAF9ED8A68E}"/>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738C5673-F72B-081F-C772-0BFC3B70BD9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D0B70432-7E18-9D00-DB76-9D796FF0C2BE}"/>
              </a:ext>
            </a:extLst>
          </p:cNvPr>
          <p:cNvSpPr>
            <a:spLocks noGrp="1"/>
          </p:cNvSpPr>
          <p:nvPr>
            <p:ph type="title"/>
          </p:nvPr>
        </p:nvSpPr>
        <p:spPr/>
        <p:txBody>
          <a:bodyPr/>
          <a:lstStyle/>
          <a:p>
            <a:pPr algn="ctr"/>
            <a:r>
              <a:rPr lang="en-US" b="1" dirty="0">
                <a:solidFill>
                  <a:schemeClr val="bg1"/>
                </a:solidFill>
                <a:latin typeface="Poppins" panose="00000500000000000000" pitchFamily="2" charset="0"/>
                <a:cs typeface="Poppins" panose="00000500000000000000" pitchFamily="2" charset="0"/>
              </a:rPr>
              <a:t>Rule Engine vs. Hardcoded Logic</a:t>
            </a:r>
            <a:endParaRPr lang="en-ZA" dirty="0">
              <a:solidFill>
                <a:schemeClr val="bg1"/>
              </a:solidFill>
              <a:latin typeface="Poppins" panose="00000500000000000000" pitchFamily="2" charset="0"/>
              <a:cs typeface="Poppins" panose="00000500000000000000" pitchFamily="2" charset="0"/>
            </a:endParaRPr>
          </a:p>
        </p:txBody>
      </p:sp>
      <p:graphicFrame>
        <p:nvGraphicFramePr>
          <p:cNvPr id="4" name="Table 3">
            <a:extLst>
              <a:ext uri="{FF2B5EF4-FFF2-40B4-BE49-F238E27FC236}">
                <a16:creationId xmlns:a16="http://schemas.microsoft.com/office/drawing/2014/main" id="{672D5672-C9D9-7235-5ABF-F18396157B4D}"/>
              </a:ext>
            </a:extLst>
          </p:cNvPr>
          <p:cNvGraphicFramePr>
            <a:graphicFrameLocks noGrp="1"/>
          </p:cNvGraphicFramePr>
          <p:nvPr>
            <p:extLst>
              <p:ext uri="{D42A27DB-BD31-4B8C-83A1-F6EECF244321}">
                <p14:modId xmlns:p14="http://schemas.microsoft.com/office/powerpoint/2010/main" val="1623584152"/>
              </p:ext>
            </p:extLst>
          </p:nvPr>
        </p:nvGraphicFramePr>
        <p:xfrm>
          <a:off x="1339272" y="2105120"/>
          <a:ext cx="9513456" cy="2799387"/>
        </p:xfrm>
        <a:graphic>
          <a:graphicData uri="http://schemas.openxmlformats.org/drawingml/2006/table">
            <a:tbl>
              <a:tblPr firstRow="1" bandRow="1">
                <a:tableStyleId>{5202B0CA-FC54-4496-8BCA-5EF66A818D29}</a:tableStyleId>
              </a:tblPr>
              <a:tblGrid>
                <a:gridCol w="3171152">
                  <a:extLst>
                    <a:ext uri="{9D8B030D-6E8A-4147-A177-3AD203B41FA5}">
                      <a16:colId xmlns:a16="http://schemas.microsoft.com/office/drawing/2014/main" val="1384066881"/>
                    </a:ext>
                  </a:extLst>
                </a:gridCol>
                <a:gridCol w="3171152">
                  <a:extLst>
                    <a:ext uri="{9D8B030D-6E8A-4147-A177-3AD203B41FA5}">
                      <a16:colId xmlns:a16="http://schemas.microsoft.com/office/drawing/2014/main" val="2603818028"/>
                    </a:ext>
                  </a:extLst>
                </a:gridCol>
                <a:gridCol w="3171152">
                  <a:extLst>
                    <a:ext uri="{9D8B030D-6E8A-4147-A177-3AD203B41FA5}">
                      <a16:colId xmlns:a16="http://schemas.microsoft.com/office/drawing/2014/main" val="1858126036"/>
                    </a:ext>
                  </a:extLst>
                </a:gridCol>
              </a:tblGrid>
              <a:tr h="389991">
                <a:tc>
                  <a:txBody>
                    <a:bodyPr/>
                    <a:lstStyle/>
                    <a:p>
                      <a:r>
                        <a:rPr lang="en-ZA" dirty="0">
                          <a:solidFill>
                            <a:schemeClr val="bg1"/>
                          </a:solidFill>
                        </a:rPr>
                        <a:t>Feature</a:t>
                      </a:r>
                      <a:endParaRPr lang="en-ZA" dirty="0">
                        <a:solidFill>
                          <a:schemeClr val="bg1"/>
                        </a:solidFill>
                        <a:latin typeface="Poppins" panose="00000500000000000000" pitchFamily="2" charset="0"/>
                        <a:cs typeface="Poppins" panose="00000500000000000000" pitchFamily="2" charset="0"/>
                      </a:endParaRPr>
                    </a:p>
                  </a:txBody>
                  <a:tcPr anchor="ctr"/>
                </a:tc>
                <a:tc>
                  <a:txBody>
                    <a:bodyPr/>
                    <a:lstStyle/>
                    <a:p>
                      <a:r>
                        <a:rPr lang="en-ZA">
                          <a:solidFill>
                            <a:schemeClr val="bg1"/>
                          </a:solidFill>
                        </a:rPr>
                        <a:t>Hardcoded Logic</a:t>
                      </a:r>
                      <a:endParaRPr lang="en-ZA">
                        <a:solidFill>
                          <a:schemeClr val="bg1"/>
                        </a:solidFill>
                        <a:latin typeface="Poppins" panose="00000500000000000000" pitchFamily="2" charset="0"/>
                        <a:cs typeface="Poppins" panose="00000500000000000000" pitchFamily="2" charset="0"/>
                      </a:endParaRPr>
                    </a:p>
                  </a:txBody>
                  <a:tcPr anchor="ctr"/>
                </a:tc>
                <a:tc>
                  <a:txBody>
                    <a:bodyPr/>
                    <a:lstStyle/>
                    <a:p>
                      <a:r>
                        <a:rPr lang="en-ZA">
                          <a:solidFill>
                            <a:schemeClr val="bg1"/>
                          </a:solidFill>
                        </a:rPr>
                        <a:t>Rule Engine</a:t>
                      </a:r>
                      <a:endParaRPr lang="en-ZA">
                        <a:solidFill>
                          <a:schemeClr val="bg1"/>
                        </a:solidFill>
                        <a:latin typeface="Poppins" panose="00000500000000000000" pitchFamily="2" charset="0"/>
                        <a:cs typeface="Poppins" panose="00000500000000000000" pitchFamily="2" charset="0"/>
                      </a:endParaRPr>
                    </a:p>
                  </a:txBody>
                  <a:tcPr anchor="ctr"/>
                </a:tc>
                <a:extLst>
                  <a:ext uri="{0D108BD9-81ED-4DB2-BD59-A6C34878D82A}">
                    <a16:rowId xmlns:a16="http://schemas.microsoft.com/office/drawing/2014/main" val="4256835327"/>
                  </a:ext>
                </a:extLst>
              </a:tr>
              <a:tr h="673135">
                <a:tc>
                  <a:txBody>
                    <a:bodyPr/>
                    <a:lstStyle/>
                    <a:p>
                      <a:r>
                        <a:rPr lang="en-ZA">
                          <a:solidFill>
                            <a:schemeClr val="tx1"/>
                          </a:solidFill>
                        </a:rPr>
                        <a:t>Rule Updates</a:t>
                      </a:r>
                      <a:endParaRPr lang="en-ZA">
                        <a:solidFill>
                          <a:schemeClr val="tx1"/>
                        </a:solidFill>
                        <a:latin typeface="Poppins" panose="00000500000000000000" pitchFamily="2" charset="0"/>
                        <a:cs typeface="Poppins" panose="00000500000000000000" pitchFamily="2" charset="0"/>
                      </a:endParaRPr>
                    </a:p>
                  </a:txBody>
                  <a:tcPr anchor="ctr"/>
                </a:tc>
                <a:tc>
                  <a:txBody>
                    <a:bodyPr/>
                    <a:lstStyle/>
                    <a:p>
                      <a:r>
                        <a:rPr lang="en-ZA">
                          <a:solidFill>
                            <a:schemeClr val="tx1"/>
                          </a:solidFill>
                        </a:rPr>
                        <a:t>Requires redeploy</a:t>
                      </a:r>
                      <a:endParaRPr lang="en-ZA">
                        <a:solidFill>
                          <a:schemeClr val="tx1"/>
                        </a:solidFill>
                        <a:latin typeface="Poppins" panose="00000500000000000000" pitchFamily="2" charset="0"/>
                        <a:cs typeface="Poppins" panose="00000500000000000000" pitchFamily="2" charset="0"/>
                      </a:endParaRPr>
                    </a:p>
                  </a:txBody>
                  <a:tcPr anchor="ctr"/>
                </a:tc>
                <a:tc>
                  <a:txBody>
                    <a:bodyPr/>
                    <a:lstStyle/>
                    <a:p>
                      <a:r>
                        <a:rPr lang="en-ZA">
                          <a:solidFill>
                            <a:schemeClr val="tx1"/>
                          </a:solidFill>
                        </a:rPr>
                        <a:t>Configurable at runtime</a:t>
                      </a:r>
                      <a:endParaRPr lang="en-ZA">
                        <a:solidFill>
                          <a:schemeClr val="tx1"/>
                        </a:solidFill>
                        <a:latin typeface="Poppins" panose="00000500000000000000" pitchFamily="2" charset="0"/>
                        <a:cs typeface="Poppins" panose="00000500000000000000" pitchFamily="2" charset="0"/>
                      </a:endParaRPr>
                    </a:p>
                  </a:txBody>
                  <a:tcPr anchor="ctr"/>
                </a:tc>
                <a:extLst>
                  <a:ext uri="{0D108BD9-81ED-4DB2-BD59-A6C34878D82A}">
                    <a16:rowId xmlns:a16="http://schemas.microsoft.com/office/drawing/2014/main" val="2130167141"/>
                  </a:ext>
                </a:extLst>
              </a:tr>
              <a:tr h="673135">
                <a:tc>
                  <a:txBody>
                    <a:bodyPr/>
                    <a:lstStyle/>
                    <a:p>
                      <a:r>
                        <a:rPr lang="en-ZA" dirty="0">
                          <a:solidFill>
                            <a:schemeClr val="tx1"/>
                          </a:solidFill>
                        </a:rPr>
                        <a:t>Readability</a:t>
                      </a:r>
                      <a:endParaRPr lang="en-ZA" dirty="0">
                        <a:solidFill>
                          <a:schemeClr val="tx1"/>
                        </a:solidFill>
                        <a:latin typeface="Poppins" panose="00000500000000000000" pitchFamily="2" charset="0"/>
                        <a:cs typeface="Poppins" panose="00000500000000000000" pitchFamily="2" charset="0"/>
                      </a:endParaRPr>
                    </a:p>
                  </a:txBody>
                  <a:tcPr anchor="ctr"/>
                </a:tc>
                <a:tc>
                  <a:txBody>
                    <a:bodyPr/>
                    <a:lstStyle/>
                    <a:p>
                      <a:r>
                        <a:rPr lang="en-ZA">
                          <a:solidFill>
                            <a:schemeClr val="tx1"/>
                          </a:solidFill>
                        </a:rPr>
                        <a:t>Needs dev to interpret</a:t>
                      </a:r>
                      <a:endParaRPr lang="en-ZA">
                        <a:solidFill>
                          <a:schemeClr val="tx1"/>
                        </a:solidFill>
                        <a:latin typeface="Poppins" panose="00000500000000000000" pitchFamily="2" charset="0"/>
                        <a:cs typeface="Poppins" panose="00000500000000000000" pitchFamily="2" charset="0"/>
                      </a:endParaRPr>
                    </a:p>
                  </a:txBody>
                  <a:tcPr anchor="ctr"/>
                </a:tc>
                <a:tc>
                  <a:txBody>
                    <a:bodyPr/>
                    <a:lstStyle/>
                    <a:p>
                      <a:r>
                        <a:rPr lang="en-ZA">
                          <a:solidFill>
                            <a:schemeClr val="tx1"/>
                          </a:solidFill>
                        </a:rPr>
                        <a:t>Often business-readable</a:t>
                      </a:r>
                      <a:endParaRPr lang="en-ZA">
                        <a:solidFill>
                          <a:schemeClr val="tx1"/>
                        </a:solidFill>
                        <a:latin typeface="Poppins" panose="00000500000000000000" pitchFamily="2" charset="0"/>
                        <a:cs typeface="Poppins" panose="00000500000000000000" pitchFamily="2" charset="0"/>
                      </a:endParaRPr>
                    </a:p>
                  </a:txBody>
                  <a:tcPr anchor="ctr"/>
                </a:tc>
                <a:extLst>
                  <a:ext uri="{0D108BD9-81ED-4DB2-BD59-A6C34878D82A}">
                    <a16:rowId xmlns:a16="http://schemas.microsoft.com/office/drawing/2014/main" val="2904498564"/>
                  </a:ext>
                </a:extLst>
              </a:tr>
              <a:tr h="389991">
                <a:tc>
                  <a:txBody>
                    <a:bodyPr/>
                    <a:lstStyle/>
                    <a:p>
                      <a:r>
                        <a:rPr lang="en-ZA">
                          <a:solidFill>
                            <a:schemeClr val="tx1"/>
                          </a:solidFill>
                        </a:rPr>
                        <a:t>Testability</a:t>
                      </a:r>
                      <a:endParaRPr lang="en-ZA">
                        <a:solidFill>
                          <a:schemeClr val="tx1"/>
                        </a:solidFill>
                        <a:latin typeface="Poppins" panose="00000500000000000000" pitchFamily="2" charset="0"/>
                        <a:cs typeface="Poppins" panose="00000500000000000000" pitchFamily="2" charset="0"/>
                      </a:endParaRPr>
                    </a:p>
                  </a:txBody>
                  <a:tcPr anchor="ctr"/>
                </a:tc>
                <a:tc>
                  <a:txBody>
                    <a:bodyPr/>
                    <a:lstStyle/>
                    <a:p>
                      <a:r>
                        <a:rPr lang="en-ZA">
                          <a:solidFill>
                            <a:schemeClr val="tx1"/>
                          </a:solidFill>
                        </a:rPr>
                        <a:t>Tied to services</a:t>
                      </a:r>
                      <a:endParaRPr lang="en-ZA">
                        <a:solidFill>
                          <a:schemeClr val="tx1"/>
                        </a:solidFill>
                        <a:latin typeface="Poppins" panose="00000500000000000000" pitchFamily="2" charset="0"/>
                        <a:cs typeface="Poppins" panose="00000500000000000000" pitchFamily="2" charset="0"/>
                      </a:endParaRPr>
                    </a:p>
                  </a:txBody>
                  <a:tcPr anchor="ctr"/>
                </a:tc>
                <a:tc>
                  <a:txBody>
                    <a:bodyPr/>
                    <a:lstStyle/>
                    <a:p>
                      <a:r>
                        <a:rPr lang="en-ZA">
                          <a:solidFill>
                            <a:schemeClr val="tx1"/>
                          </a:solidFill>
                        </a:rPr>
                        <a:t>Testable in isolation</a:t>
                      </a:r>
                      <a:endParaRPr lang="en-ZA">
                        <a:solidFill>
                          <a:schemeClr val="tx1"/>
                        </a:solidFill>
                        <a:latin typeface="Poppins" panose="00000500000000000000" pitchFamily="2" charset="0"/>
                        <a:cs typeface="Poppins" panose="00000500000000000000" pitchFamily="2" charset="0"/>
                      </a:endParaRPr>
                    </a:p>
                  </a:txBody>
                  <a:tcPr anchor="ctr"/>
                </a:tc>
                <a:extLst>
                  <a:ext uri="{0D108BD9-81ED-4DB2-BD59-A6C34878D82A}">
                    <a16:rowId xmlns:a16="http://schemas.microsoft.com/office/drawing/2014/main" val="2248605703"/>
                  </a:ext>
                </a:extLst>
              </a:tr>
              <a:tr h="673135">
                <a:tc>
                  <a:txBody>
                    <a:bodyPr/>
                    <a:lstStyle/>
                    <a:p>
                      <a:r>
                        <a:rPr lang="en-ZA">
                          <a:solidFill>
                            <a:schemeClr val="tx1"/>
                          </a:solidFill>
                        </a:rPr>
                        <a:t>Collaboration</a:t>
                      </a:r>
                      <a:endParaRPr lang="en-ZA">
                        <a:solidFill>
                          <a:schemeClr val="tx1"/>
                        </a:solidFill>
                        <a:latin typeface="Poppins" panose="00000500000000000000" pitchFamily="2" charset="0"/>
                        <a:cs typeface="Poppins" panose="00000500000000000000" pitchFamily="2" charset="0"/>
                      </a:endParaRPr>
                    </a:p>
                  </a:txBody>
                  <a:tcPr anchor="ctr"/>
                </a:tc>
                <a:tc>
                  <a:txBody>
                    <a:bodyPr/>
                    <a:lstStyle/>
                    <a:p>
                      <a:r>
                        <a:rPr lang="en-ZA" dirty="0">
                          <a:solidFill>
                            <a:schemeClr val="tx1"/>
                          </a:solidFill>
                        </a:rPr>
                        <a:t>Dev-only</a:t>
                      </a:r>
                      <a:endParaRPr lang="en-ZA" dirty="0">
                        <a:solidFill>
                          <a:schemeClr val="tx1"/>
                        </a:solidFill>
                        <a:latin typeface="Poppins" panose="00000500000000000000" pitchFamily="2" charset="0"/>
                        <a:cs typeface="Poppins" panose="00000500000000000000" pitchFamily="2" charset="0"/>
                      </a:endParaRPr>
                    </a:p>
                  </a:txBody>
                  <a:tcPr anchor="ctr"/>
                </a:tc>
                <a:tc>
                  <a:txBody>
                    <a:bodyPr/>
                    <a:lstStyle/>
                    <a:p>
                      <a:r>
                        <a:rPr lang="en-ZA" dirty="0">
                          <a:solidFill>
                            <a:schemeClr val="tx1"/>
                          </a:solidFill>
                        </a:rPr>
                        <a:t>Business + Dev friendly</a:t>
                      </a:r>
                      <a:endParaRPr lang="en-ZA" dirty="0">
                        <a:solidFill>
                          <a:schemeClr val="tx1"/>
                        </a:solidFill>
                        <a:latin typeface="Poppins" panose="00000500000000000000" pitchFamily="2" charset="0"/>
                        <a:cs typeface="Poppins" panose="00000500000000000000" pitchFamily="2" charset="0"/>
                      </a:endParaRPr>
                    </a:p>
                  </a:txBody>
                  <a:tcPr anchor="ctr"/>
                </a:tc>
                <a:extLst>
                  <a:ext uri="{0D108BD9-81ED-4DB2-BD59-A6C34878D82A}">
                    <a16:rowId xmlns:a16="http://schemas.microsoft.com/office/drawing/2014/main" val="2309425826"/>
                  </a:ext>
                </a:extLst>
              </a:tr>
            </a:tbl>
          </a:graphicData>
        </a:graphic>
      </p:graphicFrame>
    </p:spTree>
    <p:extLst>
      <p:ext uri="{BB962C8B-B14F-4D97-AF65-F5344CB8AC3E}">
        <p14:creationId xmlns:p14="http://schemas.microsoft.com/office/powerpoint/2010/main" val="2156560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B15E6-5CBA-74CA-2E36-8B6EBBE5DEB8}"/>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67586DED-250B-B7FD-4254-4346A27F6D1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6EE23DF0-BAE0-E730-08E6-3A19C6C38145}"/>
              </a:ext>
            </a:extLst>
          </p:cNvPr>
          <p:cNvSpPr>
            <a:spLocks noGrp="1"/>
          </p:cNvSpPr>
          <p:nvPr>
            <p:ph type="title"/>
          </p:nvPr>
        </p:nvSpPr>
        <p:spPr/>
        <p:txBody>
          <a:bodyPr/>
          <a:lstStyle/>
          <a:p>
            <a:pPr algn="ctr"/>
            <a:r>
              <a:rPr lang="en-US" b="1" dirty="0">
                <a:solidFill>
                  <a:schemeClr val="bg1"/>
                </a:solidFill>
                <a:latin typeface="Poppins" panose="00000500000000000000" pitchFamily="2" charset="0"/>
                <a:cs typeface="Poppins" panose="00000500000000000000" pitchFamily="2" charset="0"/>
              </a:rPr>
              <a:t>Types of Rule Engines</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5CE5A48C-8E3D-1382-B9C3-8D64D6B952D3}"/>
              </a:ext>
            </a:extLst>
          </p:cNvPr>
          <p:cNvSpPr txBox="1"/>
          <p:nvPr/>
        </p:nvSpPr>
        <p:spPr>
          <a:xfrm>
            <a:off x="2733963" y="2174555"/>
            <a:ext cx="8137236" cy="143372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Forward Chaining:</a:t>
            </a:r>
            <a:r>
              <a:rPr lang="en-US" sz="2000" dirty="0">
                <a:solidFill>
                  <a:schemeClr val="bg1"/>
                </a:solidFill>
                <a:latin typeface="Poppins" panose="00000500000000000000" pitchFamily="2" charset="0"/>
                <a:cs typeface="Poppins" panose="00000500000000000000" pitchFamily="2" charset="0"/>
              </a:rPr>
              <a:t> Data triggers matching rules </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Backward Chaining:</a:t>
            </a:r>
            <a:r>
              <a:rPr lang="en-US" sz="2000" dirty="0">
                <a:solidFill>
                  <a:schemeClr val="bg1"/>
                </a:solidFill>
                <a:latin typeface="Poppins" panose="00000500000000000000" pitchFamily="2" charset="0"/>
                <a:cs typeface="Poppins" panose="00000500000000000000" pitchFamily="2" charset="0"/>
              </a:rPr>
              <a:t> Goal-driven evaluation </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Others</a:t>
            </a:r>
            <a:r>
              <a:rPr lang="en-US" sz="2000" dirty="0">
                <a:solidFill>
                  <a:schemeClr val="bg1"/>
                </a:solidFill>
                <a:latin typeface="Poppins" panose="00000500000000000000" pitchFamily="2" charset="0"/>
                <a:cs typeface="Poppins" panose="00000500000000000000" pitchFamily="2" charset="0"/>
              </a:rPr>
              <a:t>: Decision tables, DSLs, expression trees</a:t>
            </a:r>
          </a:p>
        </p:txBody>
      </p:sp>
    </p:spTree>
    <p:extLst>
      <p:ext uri="{BB962C8B-B14F-4D97-AF65-F5344CB8AC3E}">
        <p14:creationId xmlns:p14="http://schemas.microsoft.com/office/powerpoint/2010/main" val="2658864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DD027-7539-766B-5692-26BED8863215}"/>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A3D464FE-F14B-E1EC-5D99-861895A6DC0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6858000"/>
          </a:xfrm>
        </p:spPr>
      </p:pic>
      <p:sp>
        <p:nvSpPr>
          <p:cNvPr id="2" name="Title 1">
            <a:extLst>
              <a:ext uri="{FF2B5EF4-FFF2-40B4-BE49-F238E27FC236}">
                <a16:creationId xmlns:a16="http://schemas.microsoft.com/office/drawing/2014/main" id="{4D14E133-9ABE-116D-FE4D-893FAA1FCD06}"/>
              </a:ext>
            </a:extLst>
          </p:cNvPr>
          <p:cNvSpPr>
            <a:spLocks noGrp="1"/>
          </p:cNvSpPr>
          <p:nvPr>
            <p:ph type="title"/>
          </p:nvPr>
        </p:nvSpPr>
        <p:spPr/>
        <p:txBody>
          <a:bodyPr/>
          <a:lstStyle/>
          <a:p>
            <a:pPr algn="ctr"/>
            <a:r>
              <a:rPr lang="en-US" b="1" dirty="0">
                <a:solidFill>
                  <a:schemeClr val="bg1"/>
                </a:solidFill>
                <a:latin typeface="Poppins" panose="00000500000000000000" pitchFamily="2" charset="0"/>
                <a:cs typeface="Poppins" panose="00000500000000000000" pitchFamily="2" charset="0"/>
              </a:rPr>
              <a:t>Why This Matters for Underwriting</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294D01FD-925B-1A65-DDD3-DBF17C770941}"/>
              </a:ext>
            </a:extLst>
          </p:cNvPr>
          <p:cNvSpPr txBox="1"/>
          <p:nvPr/>
        </p:nvSpPr>
        <p:spPr>
          <a:xfrm>
            <a:off x="1884217" y="1690688"/>
            <a:ext cx="8137236" cy="374205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Underwriting = making consistent decisions based on applicant info</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Lots of rules like:</a:t>
            </a:r>
          </a:p>
          <a:p>
            <a:pPr marL="800100" lvl="1"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Age-based logic</a:t>
            </a:r>
          </a:p>
          <a:p>
            <a:pPr marL="800100" lvl="1"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Smoker status</a:t>
            </a:r>
          </a:p>
          <a:p>
            <a:pPr marL="800100" lvl="1"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Cover amount limits</a:t>
            </a:r>
          </a:p>
          <a:p>
            <a:pPr marL="800100" lvl="1"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Medical condition exclusions</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These rules change often!</a:t>
            </a:r>
            <a:endParaRPr lang="en-US" sz="2000"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557024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2B754-A8DB-5E1E-F763-082A83012218}"/>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A368F376-C949-2536-ADD1-C470CFFD79C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30515808-D051-BC5C-B0AD-B9485EB78E64}"/>
              </a:ext>
            </a:extLst>
          </p:cNvPr>
          <p:cNvSpPr>
            <a:spLocks noGrp="1"/>
          </p:cNvSpPr>
          <p:nvPr>
            <p:ph type="title"/>
          </p:nvPr>
        </p:nvSpPr>
        <p:spPr/>
        <p:txBody>
          <a:bodyPr/>
          <a:lstStyle/>
          <a:p>
            <a:pPr algn="ctr"/>
            <a:r>
              <a:rPr lang="en-US" b="1" dirty="0">
                <a:solidFill>
                  <a:schemeClr val="bg1"/>
                </a:solidFill>
                <a:latin typeface="Poppins" panose="00000500000000000000" pitchFamily="2" charset="0"/>
                <a:cs typeface="Poppins" panose="00000500000000000000" pitchFamily="2" charset="0"/>
              </a:rPr>
              <a:t>Common Underwriting Rules</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33F86B45-0E58-B668-A57D-831904EB7660}"/>
              </a:ext>
            </a:extLst>
          </p:cNvPr>
          <p:cNvSpPr txBox="1"/>
          <p:nvPr/>
        </p:nvSpPr>
        <p:spPr>
          <a:xfrm>
            <a:off x="2318326" y="1866179"/>
            <a:ext cx="8137236" cy="143372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Applicants under 25 require manual review</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Cover must not exceed 10x income</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Smoker? Add loading to premium</a:t>
            </a:r>
            <a:endParaRPr lang="en-US" sz="2000"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174389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9BF4-A786-5814-5800-A540471FC4B0}"/>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F8A07509-0697-AE98-F962-7AA8FD695CD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D6BC2A1B-45AD-6AD1-AD6E-887376166C9D}"/>
              </a:ext>
            </a:extLst>
          </p:cNvPr>
          <p:cNvSpPr>
            <a:spLocks noGrp="1"/>
          </p:cNvSpPr>
          <p:nvPr>
            <p:ph type="title"/>
          </p:nvPr>
        </p:nvSpPr>
        <p:spPr/>
        <p:txBody>
          <a:bodyPr/>
          <a:lstStyle/>
          <a:p>
            <a:pPr algn="ctr"/>
            <a:r>
              <a:rPr lang="en-US" b="1" dirty="0">
                <a:solidFill>
                  <a:schemeClr val="bg1"/>
                </a:solidFill>
                <a:latin typeface="Poppins" panose="00000500000000000000" pitchFamily="2" charset="0"/>
                <a:cs typeface="Poppins" panose="00000500000000000000" pitchFamily="2" charset="0"/>
              </a:rPr>
              <a:t>Exercise</a:t>
            </a:r>
            <a:r>
              <a:rPr lang="en-US" b="1" dirty="0">
                <a:solidFill>
                  <a:schemeClr val="bg1"/>
                </a:solidFill>
              </a:rPr>
              <a:t> </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22ECDB01-7DBE-1263-DCAD-531FF55B1CD2}"/>
              </a:ext>
            </a:extLst>
          </p:cNvPr>
          <p:cNvSpPr txBox="1"/>
          <p:nvPr/>
        </p:nvSpPr>
        <p:spPr>
          <a:xfrm>
            <a:off x="2318326" y="1866179"/>
            <a:ext cx="8137236" cy="189539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Columns: Age, Smoker, Income, Medical Condition, Max Cover, Outcome</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Add 4–5 fictional applicants</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Sample Outcomes: Approve, Decline, Refer</a:t>
            </a:r>
            <a:endParaRPr lang="en-US" sz="2000"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733364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845FF-6F61-6E17-638C-0E6AD69C3218}"/>
            </a:ext>
          </a:extLst>
        </p:cNvPr>
        <p:cNvGrpSpPr/>
        <p:nvPr/>
      </p:nvGrpSpPr>
      <p:grpSpPr>
        <a:xfrm>
          <a:off x="0" y="0"/>
          <a:ext cx="0" cy="0"/>
          <a:chOff x="0" y="0"/>
          <a:chExt cx="0" cy="0"/>
        </a:xfrm>
      </p:grpSpPr>
      <p:pic>
        <p:nvPicPr>
          <p:cNvPr id="5" name="Content Placeholder 4" descr="A black background with white and yellow figures">
            <a:extLst>
              <a:ext uri="{FF2B5EF4-FFF2-40B4-BE49-F238E27FC236}">
                <a16:creationId xmlns:a16="http://schemas.microsoft.com/office/drawing/2014/main" id="{7E9BE69A-6547-7190-FB1B-B1A1581B4BA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600"/>
            <a:ext cx="12192000" cy="6858000"/>
          </a:xfrm>
        </p:spPr>
      </p:pic>
      <p:sp>
        <p:nvSpPr>
          <p:cNvPr id="2" name="Title 1">
            <a:extLst>
              <a:ext uri="{FF2B5EF4-FFF2-40B4-BE49-F238E27FC236}">
                <a16:creationId xmlns:a16="http://schemas.microsoft.com/office/drawing/2014/main" id="{FDF67CE9-66CC-A23D-988D-623E6DD44F8F}"/>
              </a:ext>
            </a:extLst>
          </p:cNvPr>
          <p:cNvSpPr>
            <a:spLocks noGrp="1"/>
          </p:cNvSpPr>
          <p:nvPr>
            <p:ph type="title"/>
          </p:nvPr>
        </p:nvSpPr>
        <p:spPr/>
        <p:txBody>
          <a:bodyPr/>
          <a:lstStyle/>
          <a:p>
            <a:pPr algn="ctr"/>
            <a:r>
              <a:rPr lang="en-ZA" b="1" dirty="0">
                <a:solidFill>
                  <a:schemeClr val="bg1"/>
                </a:solidFill>
                <a:latin typeface="Poppins" panose="00000500000000000000" pitchFamily="2" charset="0"/>
                <a:cs typeface="Poppins" panose="00000500000000000000" pitchFamily="2" charset="0"/>
              </a:rPr>
              <a:t>Group Discussion</a:t>
            </a:r>
            <a:br>
              <a:rPr lang="en-ZA" dirty="0">
                <a:solidFill>
                  <a:schemeClr val="bg1"/>
                </a:solidFill>
                <a:latin typeface="Poppins" panose="00000500000000000000" pitchFamily="2" charset="0"/>
                <a:cs typeface="Poppins" panose="00000500000000000000" pitchFamily="2" charset="0"/>
              </a:rPr>
            </a:br>
            <a:r>
              <a:rPr lang="en-US" b="1" dirty="0">
                <a:solidFill>
                  <a:schemeClr val="bg1"/>
                </a:solidFill>
                <a:latin typeface="Poppins" panose="00000500000000000000" pitchFamily="2" charset="0"/>
                <a:cs typeface="Poppins" panose="00000500000000000000" pitchFamily="2" charset="0"/>
              </a:rPr>
              <a:t> </a:t>
            </a:r>
            <a:endParaRPr lang="en-ZA" dirty="0">
              <a:solidFill>
                <a:schemeClr val="bg1"/>
              </a:solidFill>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FE4B8C0A-4FE1-E4A4-F27A-0A8ABCFE0999}"/>
              </a:ext>
            </a:extLst>
          </p:cNvPr>
          <p:cNvSpPr txBox="1"/>
          <p:nvPr/>
        </p:nvSpPr>
        <p:spPr>
          <a:xfrm>
            <a:off x="2318326" y="1866179"/>
            <a:ext cx="8137236" cy="235705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Where are our current rules defined?</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What happens when business rules change?</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How easy is it to understand them today?</a:t>
            </a:r>
          </a:p>
          <a:p>
            <a:pPr marL="342900" indent="-342900">
              <a:lnSpc>
                <a:spcPct val="150000"/>
              </a:lnSpc>
              <a:buFont typeface="Arial" panose="020B0604020202020204" pitchFamily="34" charset="0"/>
              <a:buChar char="•"/>
            </a:pPr>
            <a:r>
              <a:rPr lang="en-US" sz="2000" b="1" dirty="0">
                <a:solidFill>
                  <a:schemeClr val="bg1"/>
                </a:solidFill>
                <a:latin typeface="Poppins" panose="00000500000000000000" pitchFamily="2" charset="0"/>
                <a:cs typeface="Poppins" panose="00000500000000000000" pitchFamily="2" charset="0"/>
              </a:rPr>
              <a:t>Would our non-</a:t>
            </a:r>
            <a:r>
              <a:rPr lang="en-US" sz="2000" b="1" dirty="0" err="1">
                <a:solidFill>
                  <a:schemeClr val="bg1"/>
                </a:solidFill>
                <a:latin typeface="Poppins" panose="00000500000000000000" pitchFamily="2" charset="0"/>
                <a:cs typeface="Poppins" panose="00000500000000000000" pitchFamily="2" charset="0"/>
              </a:rPr>
              <a:t>devs</a:t>
            </a:r>
            <a:r>
              <a:rPr lang="en-US" sz="2000" b="1" dirty="0">
                <a:solidFill>
                  <a:schemeClr val="bg1"/>
                </a:solidFill>
                <a:latin typeface="Poppins" panose="00000500000000000000" pitchFamily="2" charset="0"/>
                <a:cs typeface="Poppins" panose="00000500000000000000" pitchFamily="2" charset="0"/>
              </a:rPr>
              <a:t> benefit from seeing rule logic clearly?</a:t>
            </a:r>
            <a:endParaRPr lang="en-US" sz="2000"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2508698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814</Words>
  <Application>Microsoft Office PowerPoint</Application>
  <PresentationFormat>Widescreen</PresentationFormat>
  <Paragraphs>86</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Poppins</vt:lpstr>
      <vt:lpstr>Office Theme</vt:lpstr>
      <vt:lpstr>Introduction to Rule Engines </vt:lpstr>
      <vt:lpstr>Welcome </vt:lpstr>
      <vt:lpstr>What is a Rule Engine?</vt:lpstr>
      <vt:lpstr>Why Use a Rule Engine?</vt:lpstr>
      <vt:lpstr>Real-World Example</vt:lpstr>
      <vt:lpstr>Rule Engine vs. Hardcoded Logic</vt:lpstr>
      <vt:lpstr>Types of Rule Engines</vt:lpstr>
      <vt:lpstr>Why This Matters for Underwriting</vt:lpstr>
      <vt:lpstr>Common Underwriting Rules</vt:lpstr>
      <vt:lpstr>Exercise </vt:lpstr>
      <vt:lpstr>Group Discussion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Treveshan Naidoo</dc:creator>
  <cp:lastModifiedBy>Treveshan Naidoo</cp:lastModifiedBy>
  <cp:revision>7</cp:revision>
  <dcterms:created xsi:type="dcterms:W3CDTF">2025-07-02T19:02:41Z</dcterms:created>
  <dcterms:modified xsi:type="dcterms:W3CDTF">2025-07-02T19:42:31Z</dcterms:modified>
</cp:coreProperties>
</file>