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70" r:id="rId6"/>
    <p:sldId id="274" r:id="rId7"/>
    <p:sldId id="273" r:id="rId8"/>
    <p:sldId id="267" r:id="rId9"/>
    <p:sldId id="27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4" autoAdjust="0"/>
    <p:restoredTop sz="87382" autoAdjust="0"/>
  </p:normalViewPr>
  <p:slideViewPr>
    <p:cSldViewPr snapToGrid="0">
      <p:cViewPr varScale="1">
        <p:scale>
          <a:sx n="84" d="100"/>
          <a:sy n="84" d="100"/>
        </p:scale>
        <p:origin x="108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CA5E8E-8205-4621-ACFE-68395A0DA0A2}" type="datetimeFigureOut">
              <a:rPr lang="en-ZA" smtClean="0"/>
              <a:t>2025/10/09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212B91-E0CD-4A27-8E94-3FFCFB4FB36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70348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212B91-E0CD-4A27-8E94-3FFCFB4FB363}" type="slidenum">
              <a:rPr lang="en-ZA" smtClean="0"/>
              <a:t>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292358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 week, we introduced outcomes like Approve or Reject. Now, we focus on </a:t>
            </a:r>
            <a:r>
              <a:rPr lang="en-US" b="1" dirty="0"/>
              <a:t>organizing rules</a:t>
            </a:r>
            <a:r>
              <a:rPr lang="en-US" dirty="0"/>
              <a:t> into groups for different products, scenarios, or dependencies.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212B91-E0CD-4A27-8E94-3FFCFB4FB363}" type="slidenum">
              <a:rPr lang="en-ZA" smtClean="0"/>
              <a:t>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95873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AE2E4-28F8-ADD3-DD24-DBEA5FE52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AEC7AE-DD74-C484-DB2D-00559D0F31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757B24-29EA-4E97-C9B7-323D73FCE3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of underwriting for 3 products. You don’t want to run every rule for every application  just the relevant ones. That’s what grouping lets us do.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E74477-1EE3-5B35-CD19-11396B362C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212B91-E0CD-4A27-8E94-3FFCFB4FB363}" type="slidenum">
              <a:rPr lang="en-ZA" smtClean="0"/>
              <a:t>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534157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37F2D-099B-010F-23B4-34A6E86EB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391688-002C-DD1A-B948-7014D04F7C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09BFDB-721C-CBFC-3382-AD25145BF9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RuleSet</a:t>
            </a:r>
            <a:r>
              <a:rPr lang="en-US" dirty="0"/>
              <a:t> has a name, rules, and a mode </a:t>
            </a:r>
            <a:r>
              <a:rPr lang="en-US" dirty="0" err="1"/>
              <a:t>AllPass</a:t>
            </a:r>
            <a:r>
              <a:rPr lang="en-US" dirty="0"/>
              <a:t>, </a:t>
            </a:r>
            <a:r>
              <a:rPr lang="en-US" dirty="0" err="1"/>
              <a:t>FirstFail</a:t>
            </a:r>
            <a:r>
              <a:rPr lang="en-US" dirty="0"/>
              <a:t>, or Scored.</a:t>
            </a:r>
            <a:br>
              <a:rPr lang="en-US" dirty="0"/>
            </a:br>
            <a:r>
              <a:rPr lang="en-US" dirty="0"/>
              <a:t>You can define a set for each product, policy type, or region.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AD47B5-5EF0-5279-0F41-03724FDC96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212B91-E0CD-4A27-8E94-3FFCFB4FB363}" type="slidenum">
              <a:rPr lang="en-ZA" smtClean="0"/>
              <a:t>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412541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AD5BF-23A6-D985-DA00-5697525FA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E75DDB-E227-3303-DB30-61A35E23CB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ACF5CE-AE15-4C59-BD14-A19DD8CC8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allows you to evaluate related sets of rules independently  then decide based on combined results. Useful for layering e.g. product rules + fraud checks + compliance.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B8B27-9FEB-C953-4B29-D9960341EA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212B91-E0CD-4A27-8E94-3FFCFB4FB363}" type="slidenum">
              <a:rPr lang="en-ZA" smtClean="0"/>
              <a:t>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738354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AE663-4667-6C6D-56A8-94B0B71B7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285970-6411-B425-016E-CC71E55BAE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314F25-3A8D-28CB-854D-6345BDB20C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might load </a:t>
            </a:r>
            <a:r>
              <a:rPr lang="en-US" dirty="0" err="1"/>
              <a:t>RuleSets</a:t>
            </a:r>
            <a:r>
              <a:rPr lang="en-US" dirty="0"/>
              <a:t> by product ID, region, or plan type. The registry pattern allows this cleanly and keeps rule loading dynamic.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3BF73C-38EB-FCC6-B0D3-4D8BE51AF3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212B91-E0CD-4A27-8E94-3FFCFB4FB363}" type="slidenum">
              <a:rPr lang="en-ZA" smtClean="0"/>
              <a:t>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088858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2AF93-D887-8F6C-E499-3455E2B00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A5B570-8BF2-CDE1-779A-343FA75A8B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DE7661-D964-3737-55D1-F33538293F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You’ll create grouped rules and see how different combinations produce different results. Great for multi-product logic!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1B86C2-3B9B-6906-922E-29EC113BB6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212B91-E0CD-4A27-8E94-3FFCFB4FB363}" type="slidenum">
              <a:rPr lang="en-ZA" smtClean="0"/>
              <a:t>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253447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7246D-AA53-489A-7521-C6DF8DBE8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83001E-0D17-93B5-CC24-D6F7AA654D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1932DA-FAB6-7441-639D-57F8DFDE7F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You’re now thinking at a higher level rules are no longer one giant list. They’re grouped, modular, and reusable.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9B320-2F99-C21B-DC4B-462EA04901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212B91-E0CD-4A27-8E94-3FFCFB4FB363}" type="slidenum">
              <a:rPr lang="en-ZA" smtClean="0"/>
              <a:t>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659762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56B5B-F5DD-48D0-9DDE-12DBFA514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D0518E-0FF0-1F55-8081-BC859E3385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6C459D-371D-18AF-41B1-3557F9671E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BB31CB-ED35-3074-9BAF-91848DDEDF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212B91-E0CD-4A27-8E94-3FFCFB4FB363}" type="slidenum">
              <a:rPr lang="en-ZA" smtClean="0"/>
              <a:t>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711581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DEC6B-51F4-4FF9-47C2-565FC50E5A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9231B-DB68-CB14-4E16-A7EF202B0B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C10DA5-D6F3-7578-2E72-3965043F5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C6FD3-9AEF-4591-AA33-12F3540D81C2}" type="datetimeFigureOut">
              <a:rPr lang="en-ZA" smtClean="0"/>
              <a:t>2025/10/09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3BD34E-A9F1-77BD-44F5-8818770B6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7F4395-185D-503B-7277-093D411D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35617-4959-484E-BC71-FED80877E89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53737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4D767-2B47-B282-A8B9-1F5E69641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C5871-97CC-F6B9-D959-C8DB66B94B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131384-9E0B-55CC-56E7-7F4C3D2B7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C6FD3-9AEF-4591-AA33-12F3540D81C2}" type="datetimeFigureOut">
              <a:rPr lang="en-ZA" smtClean="0"/>
              <a:t>2025/10/09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90C63-8765-5319-BAB0-903EC275A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7F71D-BB84-EE4C-BC9C-042F5651A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35617-4959-484E-BC71-FED80877E89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41708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DE4A4-9C0F-29EC-4935-65F416711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F069B1-1F34-E629-5C9A-621EEA42BD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E68CA-2DF5-9A0B-2EC5-6F4FB1C17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C6FD3-9AEF-4591-AA33-12F3540D81C2}" type="datetimeFigureOut">
              <a:rPr lang="en-ZA" smtClean="0"/>
              <a:t>2025/10/09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D83BC-BB2E-9230-4D43-BDC2ADEE9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E090AA-3974-9778-9BF6-D2DFC1348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35617-4959-484E-BC71-FED80877E89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92554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54727-80C2-BED7-C8D4-AEAEA8447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E4CD0-7BD8-D1C4-8B1E-DE811BA11D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E87D7E-E8E5-5253-2A73-9607063585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77266-2181-DA59-B14A-D01CB1659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C6FD3-9AEF-4591-AA33-12F3540D81C2}" type="datetimeFigureOut">
              <a:rPr lang="en-ZA" smtClean="0"/>
              <a:t>2025/10/09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A7795A-0AE7-FFE4-6224-73D4FB888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F49741-CFB3-DB77-88F4-DED6635A8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35617-4959-484E-BC71-FED80877E89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57810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152FC-CB4B-9CA1-68D0-D8527AC78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5C2772-07E5-2ABF-8A41-2E3901F253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4444A3-7553-92CF-B0D3-F91CB46519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6C2217-21D6-176C-4864-E5F282DABB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B6A42B-F292-1689-AA7A-7585C7D8DE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EB90E5-2DDB-D3DC-1E65-A0B75FCD1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C6FD3-9AEF-4591-AA33-12F3540D81C2}" type="datetimeFigureOut">
              <a:rPr lang="en-ZA" smtClean="0"/>
              <a:t>2025/10/09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776851-E153-0573-0579-5992BFFE5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141AD5-01CA-B5AA-56B3-27C0E3B1E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35617-4959-484E-BC71-FED80877E89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89696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7409D-B102-75AC-89F5-3CC282348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11B483-142A-40A5-6A3E-898810667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C6FD3-9AEF-4591-AA33-12F3540D81C2}" type="datetimeFigureOut">
              <a:rPr lang="en-ZA" smtClean="0"/>
              <a:t>2025/10/09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1FDABD-E7DF-E6DA-2D79-1E7AD21EE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94D975-D1D0-74A6-E73F-CC233B37C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35617-4959-484E-BC71-FED80877E89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86888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044AA2-800A-8BAD-D379-03DC0F21C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C6FD3-9AEF-4591-AA33-12F3540D81C2}" type="datetimeFigureOut">
              <a:rPr lang="en-ZA" smtClean="0"/>
              <a:t>2025/10/09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83BC7E-212D-468F-EC74-16C538058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31A678-9598-7B12-6EF9-E6402DA4C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35617-4959-484E-BC71-FED80877E89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56186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1B115-3753-9B70-1000-B0E3BA0D7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3BE9C-3C59-E0B4-ACE9-0933CB746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0962F6-AA24-DB8D-ACD8-68980426B6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E8CFFE-3845-DCA9-EE47-705C065E1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C6FD3-9AEF-4591-AA33-12F3540D81C2}" type="datetimeFigureOut">
              <a:rPr lang="en-ZA" smtClean="0"/>
              <a:t>2025/10/09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65DC10-6B3F-F801-4823-9DC043357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D75250-3DCC-75D5-5D6C-A4A93A270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35617-4959-484E-BC71-FED80877E89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11968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902DB-D175-012C-D30B-E1E23FA7A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3B14E2-EF9B-F841-D3F1-ABCCE473BC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026016-0990-F592-1329-94D10BEDD0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4AC5CC-7A99-CDD9-8A80-BB30C9FDD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C6FD3-9AEF-4591-AA33-12F3540D81C2}" type="datetimeFigureOut">
              <a:rPr lang="en-ZA" smtClean="0"/>
              <a:t>2025/10/09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F668BB-AE8F-35EA-9EAB-F3C2CE0E2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59BD69-9A43-FB29-1FF9-E6ADA5C20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35617-4959-484E-BC71-FED80877E89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5662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BD91D-6FA8-B086-FAC9-D37B78CF6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AE85E3-0653-2F13-18DA-37E00B6A80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CBFF1-676D-A90A-5655-F014B6B56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C6FD3-9AEF-4591-AA33-12F3540D81C2}" type="datetimeFigureOut">
              <a:rPr lang="en-ZA" smtClean="0"/>
              <a:t>2025/10/09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0DD1F-CAF5-CAF2-FCC0-7D29A277C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16151-6BB1-4A97-CE1F-39BDF2AEC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35617-4959-484E-BC71-FED80877E89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80692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80E4AA-BA27-A354-9027-D8B84ED024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15BDF4-E085-AAB4-4598-F30989F495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B4D25C-2F6C-A3EF-0BEE-14F378288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C6FD3-9AEF-4591-AA33-12F3540D81C2}" type="datetimeFigureOut">
              <a:rPr lang="en-ZA" smtClean="0"/>
              <a:t>2025/10/09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C14CC2-42E0-0E6A-2C49-08D8AD68A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CD19D3-2B19-A2F0-A925-00914345A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35617-4959-484E-BC71-FED80877E89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44121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608699-866E-CE2C-CB1C-234155D5D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8DD56-2CB8-D24A-462F-F8B614A930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4AF630-9B69-1DE1-E313-F502CEF2AC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8C6FD3-9AEF-4591-AA33-12F3540D81C2}" type="datetimeFigureOut">
              <a:rPr lang="en-ZA" smtClean="0"/>
              <a:t>2025/10/09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AA3D92-27E5-2D80-6474-2C3609CA90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237CB4-F86D-A0BA-3390-73157797A2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935617-4959-484E-BC71-FED80877E89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88741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background with a white and yellow figure">
            <a:extLst>
              <a:ext uri="{FF2B5EF4-FFF2-40B4-BE49-F238E27FC236}">
                <a16:creationId xmlns:a16="http://schemas.microsoft.com/office/drawing/2014/main" id="{F3BE0D3B-FC64-310E-653C-F39820C85A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E66624A-B6AD-8129-7B6B-1843C085B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848" y="750891"/>
            <a:ext cx="12026303" cy="1256814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Grouped &amp; Composite Rules</a:t>
            </a:r>
            <a:endParaRPr lang="en-ZA" sz="4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CC2D5F-E6E6-C6BB-3A84-004F82806B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9640" y="2214565"/>
            <a:ext cx="9144000" cy="1655762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Scaling Rules with Sets, Groups &amp; Dependencies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73CE58-2129-5518-7F9A-79256045C0F4}"/>
              </a:ext>
            </a:extLst>
          </p:cNvPr>
          <p:cNvSpPr txBox="1"/>
          <p:nvPr/>
        </p:nvSpPr>
        <p:spPr>
          <a:xfrm>
            <a:off x="203199" y="5040998"/>
            <a:ext cx="51723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Presented by: Treveshan Naidoo</a:t>
            </a:r>
          </a:p>
          <a:p>
            <a:r>
              <a:rPr lang="en-ZA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TTD Consulting Internal Learning Series</a:t>
            </a:r>
          </a:p>
        </p:txBody>
      </p:sp>
    </p:spTree>
    <p:extLst>
      <p:ext uri="{BB962C8B-B14F-4D97-AF65-F5344CB8AC3E}">
        <p14:creationId xmlns:p14="http://schemas.microsoft.com/office/powerpoint/2010/main" val="3388848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black background with white and yellow figures">
            <a:extLst>
              <a:ext uri="{FF2B5EF4-FFF2-40B4-BE49-F238E27FC236}">
                <a16:creationId xmlns:a16="http://schemas.microsoft.com/office/drawing/2014/main" id="{047716FF-D1BD-070F-70DB-BAE97CACD1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5028"/>
            <a:ext cx="12307604" cy="6923027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5613BBD-DD38-678C-3AD4-8B25D546E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b="1" dirty="0">
                <a:solidFill>
                  <a:schemeClr val="bg1"/>
                </a:solidFill>
              </a:rPr>
              <a:t>Welcome</a:t>
            </a:r>
            <a:br>
              <a:rPr lang="en-ZA" dirty="0">
                <a:solidFill>
                  <a:schemeClr val="bg1"/>
                </a:solidFill>
              </a:rPr>
            </a:br>
            <a:endParaRPr lang="en-ZA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4022B9-C514-A496-F3BB-2CE6DB4BDB28}"/>
              </a:ext>
            </a:extLst>
          </p:cNvPr>
          <p:cNvSpPr txBox="1"/>
          <p:nvPr/>
        </p:nvSpPr>
        <p:spPr>
          <a:xfrm>
            <a:off x="2310476" y="1690688"/>
            <a:ext cx="8137236" cy="14337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Quick recap of Week 5: decisions, severity, and testing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This week: grouping rules, composite sets, and scenario-based evaluation</a:t>
            </a:r>
            <a:endParaRPr lang="en-ZA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6994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CED7F-A8A6-79D1-04A3-34F95F11E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black background with white and yellow figures">
            <a:extLst>
              <a:ext uri="{FF2B5EF4-FFF2-40B4-BE49-F238E27FC236}">
                <a16:creationId xmlns:a16="http://schemas.microsoft.com/office/drawing/2014/main" id="{82B8C6FC-4673-453F-839C-9A8585DC4E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6177148-7AD3-5F9C-583F-FBBCEA208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Why Group Rules?</a:t>
            </a:r>
            <a:endParaRPr lang="en-ZA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FED14A-E585-90EC-19CC-4C053F3E9BD9}"/>
              </a:ext>
            </a:extLst>
          </p:cNvPr>
          <p:cNvSpPr txBox="1"/>
          <p:nvPr/>
        </p:nvSpPr>
        <p:spPr>
          <a:xfrm>
            <a:off x="1832678" y="2109152"/>
            <a:ext cx="8137236" cy="2818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Real systems = hundreds of rules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Not all rules apply to all products/users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Improves performance and clarity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Rule sets give context: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Life Insurance Rules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Funeral Cover Rules</a:t>
            </a:r>
          </a:p>
        </p:txBody>
      </p:sp>
    </p:spTree>
    <p:extLst>
      <p:ext uri="{BB962C8B-B14F-4D97-AF65-F5344CB8AC3E}">
        <p14:creationId xmlns:p14="http://schemas.microsoft.com/office/powerpoint/2010/main" val="2926798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38BED-B058-2782-12F9-3F44A49D0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black background with white and yellow figures">
            <a:extLst>
              <a:ext uri="{FF2B5EF4-FFF2-40B4-BE49-F238E27FC236}">
                <a16:creationId xmlns:a16="http://schemas.microsoft.com/office/drawing/2014/main" id="{15D07048-FA3E-C9DB-67E1-2D6CA6C3D0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28670F-2B9C-8280-337B-FB2C8450F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Introducing </a:t>
            </a:r>
            <a:r>
              <a:rPr lang="en-US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RuleSet</a:t>
            </a:r>
            <a:r>
              <a:rPr lang="en-US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&lt;T&gt;</a:t>
            </a:r>
            <a:endParaRPr lang="en-ZA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369B06-2DB9-86B3-087C-3B80846E13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6731" y="1399860"/>
            <a:ext cx="6618537" cy="3682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588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3A26E-C1C1-326C-99B7-3948A7E77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black background with white and yellow figures">
            <a:extLst>
              <a:ext uri="{FF2B5EF4-FFF2-40B4-BE49-F238E27FC236}">
                <a16:creationId xmlns:a16="http://schemas.microsoft.com/office/drawing/2014/main" id="{364DECBB-FF0D-0706-B9F1-2D2F437C50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9385D6-6BA4-D453-224A-028D4F72E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Composite Execution Logic</a:t>
            </a:r>
            <a:endParaRPr lang="en-ZA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43ED7F-2E03-D299-6880-21323240E4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7026" y="2830917"/>
            <a:ext cx="6001588" cy="19147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7A2ABC5-4B3F-160E-A769-ADD1D97B2263}"/>
              </a:ext>
            </a:extLst>
          </p:cNvPr>
          <p:cNvSpPr txBox="1"/>
          <p:nvPr/>
        </p:nvSpPr>
        <p:spPr>
          <a:xfrm>
            <a:off x="2310476" y="1690688"/>
            <a:ext cx="8137236" cy="972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You can execute multiple </a:t>
            </a:r>
            <a:r>
              <a:rPr lang="en-US" sz="20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RuleSets</a:t>
            </a:r>
            <a:endParaRPr lang="en-US" sz="20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Attach them to business flows:</a:t>
            </a:r>
            <a:endParaRPr lang="en-ZA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97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06229-CD25-BB54-414C-3FF7EA8FE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black background with white and yellow figures">
            <a:extLst>
              <a:ext uri="{FF2B5EF4-FFF2-40B4-BE49-F238E27FC236}">
                <a16:creationId xmlns:a16="http://schemas.microsoft.com/office/drawing/2014/main" id="{6E7DDB53-E910-BACC-8995-A9504B4672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2DDAFA-6CDC-FC7F-875F-2F9103F6C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RuleSet</a:t>
            </a:r>
            <a:r>
              <a:rPr lang="en-US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Registry</a:t>
            </a:r>
            <a:endParaRPr lang="en-ZA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79C4EF-353C-C609-2007-5D36ED99C9AD}"/>
              </a:ext>
            </a:extLst>
          </p:cNvPr>
          <p:cNvSpPr txBox="1"/>
          <p:nvPr/>
        </p:nvSpPr>
        <p:spPr>
          <a:xfrm>
            <a:off x="2310476" y="1690688"/>
            <a:ext cx="8137236" cy="972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Register rule sets centrally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Lookup by name, product type, etc.</a:t>
            </a:r>
            <a:endParaRPr lang="en-ZA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6388C1-EACD-1EFD-6CCF-E685259BED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0476" y="2842079"/>
            <a:ext cx="7243540" cy="2118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821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83B08-15A6-DD72-6399-81A8169BE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black background with white and yellow figures">
            <a:extLst>
              <a:ext uri="{FF2B5EF4-FFF2-40B4-BE49-F238E27FC236}">
                <a16:creationId xmlns:a16="http://schemas.microsoft.com/office/drawing/2014/main" id="{200CDCC5-7F57-38CF-D2C3-1D838E9EA9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4412F6-96F0-B12A-6D27-3C36D5132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Exercise Instructions</a:t>
            </a:r>
            <a:endParaRPr lang="en-ZA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31D5AF-161A-8E08-263B-0B4689ADF174}"/>
              </a:ext>
            </a:extLst>
          </p:cNvPr>
          <p:cNvSpPr txBox="1"/>
          <p:nvPr/>
        </p:nvSpPr>
        <p:spPr>
          <a:xfrm>
            <a:off x="2318326" y="1866179"/>
            <a:ext cx="8137236" cy="2818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Goal: Group and execute rules by product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Create 2 </a:t>
            </a:r>
            <a:r>
              <a:rPr lang="en-US" sz="2000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RuleSet</a:t>
            </a:r>
            <a:r>
              <a: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&lt;</a:t>
            </a:r>
            <a:r>
              <a:rPr lang="en-US" sz="2000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UnderwritingInput</a:t>
            </a:r>
            <a:r>
              <a: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&gt; groups: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LifeCoverRules</a:t>
            </a:r>
            <a:endParaRPr lang="en-US" sz="20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FuneralCoverRules</a:t>
            </a:r>
            <a:endParaRPr lang="en-US" sz="20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Each with different rule combinations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Run both and compare results</a:t>
            </a:r>
          </a:p>
        </p:txBody>
      </p:sp>
    </p:spTree>
    <p:extLst>
      <p:ext uri="{BB962C8B-B14F-4D97-AF65-F5344CB8AC3E}">
        <p14:creationId xmlns:p14="http://schemas.microsoft.com/office/powerpoint/2010/main" val="1502862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8E69F-1990-8DB9-0784-69CE583B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black background with white and yellow figures">
            <a:extLst>
              <a:ext uri="{FF2B5EF4-FFF2-40B4-BE49-F238E27FC236}">
                <a16:creationId xmlns:a16="http://schemas.microsoft.com/office/drawing/2014/main" id="{D5D01F97-A7D4-70FF-35D6-29CBB74092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8C3ABFF-2146-4EC5-1C86-8C3C7CCED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Outcome of This Week</a:t>
            </a:r>
            <a:endParaRPr lang="en-ZA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561E40-6D0F-8796-0F95-26C00EF40776}"/>
              </a:ext>
            </a:extLst>
          </p:cNvPr>
          <p:cNvSpPr txBox="1"/>
          <p:nvPr/>
        </p:nvSpPr>
        <p:spPr>
          <a:xfrm>
            <a:off x="2318326" y="1866179"/>
            <a:ext cx="8137236" cy="1895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You now group rules into named </a:t>
            </a:r>
            <a:r>
              <a:rPr lang="en-US" sz="2000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RuleSets</a:t>
            </a:r>
            <a:endParaRPr lang="en-US" sz="20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You can execute multiple sets per flow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You can register and lookup </a:t>
            </a:r>
            <a:r>
              <a:rPr lang="en-US" sz="2000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RuleSets</a:t>
            </a:r>
            <a:r>
              <a: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dynamically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Foundation laid for scenario-based evaluation</a:t>
            </a:r>
          </a:p>
        </p:txBody>
      </p:sp>
    </p:spTree>
    <p:extLst>
      <p:ext uri="{BB962C8B-B14F-4D97-AF65-F5344CB8AC3E}">
        <p14:creationId xmlns:p14="http://schemas.microsoft.com/office/powerpoint/2010/main" val="3607287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D5362-8A46-8739-C288-99599D61C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black background with white and yellow figures">
            <a:extLst>
              <a:ext uri="{FF2B5EF4-FFF2-40B4-BE49-F238E27FC236}">
                <a16:creationId xmlns:a16="http://schemas.microsoft.com/office/drawing/2014/main" id="{C5697588-1428-B0E7-7255-2F0AE4D0AE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0B54737-4F5A-2131-0886-4E4712336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Thank You</a:t>
            </a:r>
            <a:endParaRPr lang="en-ZA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916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171</TotalTime>
  <Words>378</Words>
  <Application>Microsoft Office PowerPoint</Application>
  <PresentationFormat>Widescreen</PresentationFormat>
  <Paragraphs>50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Poppins</vt:lpstr>
      <vt:lpstr>Office Theme</vt:lpstr>
      <vt:lpstr>Grouped &amp; Composite Rules</vt:lpstr>
      <vt:lpstr>Welcome </vt:lpstr>
      <vt:lpstr>Why Group Rules?</vt:lpstr>
      <vt:lpstr>Introducing RuleSet&lt;T&gt;</vt:lpstr>
      <vt:lpstr>Composite Execution Logic</vt:lpstr>
      <vt:lpstr>RuleSet Registry</vt:lpstr>
      <vt:lpstr>Exercise Instructions</vt:lpstr>
      <vt:lpstr>Outcome of This Week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Treveshan Naidoo</dc:creator>
  <cp:lastModifiedBy>Treveshan Naidoo</cp:lastModifiedBy>
  <cp:revision>22</cp:revision>
  <dcterms:created xsi:type="dcterms:W3CDTF">2025-07-02T19:02:41Z</dcterms:created>
  <dcterms:modified xsi:type="dcterms:W3CDTF">2025-10-09T12:23:58Z</dcterms:modified>
</cp:coreProperties>
</file>