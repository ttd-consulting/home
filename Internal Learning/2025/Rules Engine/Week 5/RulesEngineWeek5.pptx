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0" r:id="rId7"/>
    <p:sldId id="268" r:id="rId8"/>
    <p:sldId id="263" r:id="rId9"/>
    <p:sldId id="269" r:id="rId10"/>
    <p:sldId id="266" r:id="rId11"/>
    <p:sldId id="271" r:id="rId12"/>
    <p:sldId id="273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87382" autoAdjust="0"/>
  </p:normalViewPr>
  <p:slideViewPr>
    <p:cSldViewPr snapToGrid="0">
      <p:cViewPr varScale="1">
        <p:scale>
          <a:sx n="96" d="100"/>
          <a:sy n="96" d="100"/>
        </p:scale>
        <p:origin x="11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A5E8E-8205-4621-ACFE-68395A0DA0A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12B91-E0CD-4A27-8E94-3FFCFB4FB3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034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923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combining two crucial topics today. First, how to make meaningful business decisions from rule outcomes. Then, we’ll ensure those outcomes are correct through unit testing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587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E2E4-28F8-ADD3-DD24-DBEA5FE5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EC7AE-DD74-C484-DB2D-00559D0F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57B24-29EA-4E97-C9B7-323D73FCE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saying ‘3 rules passed’ is meaningless to a business user. We need to interpret the result — can we approve the person, or escalate for review, or outright reject?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74477-1EE3-5B35-CD19-11396B362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415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7F2D-099B-010F-23B4-34A6E86E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91688-002C-DD1A-B948-7014D04F7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9BFDB-721C-CBFC-3382-AD25145BF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formalizing this.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DecisionOutcome</a:t>
            </a:r>
            <a:r>
              <a:rPr lang="en-US" dirty="0"/>
              <a:t> tells us what action to take.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RuleSeverity</a:t>
            </a:r>
            <a:r>
              <a:rPr lang="en-US" dirty="0"/>
              <a:t> adds context to each rule soft failures may be tolerated, critical ones may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D47B5-5EF0-5279-0F41-03724FDC9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1254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D5BF-23A6-D985-DA00-5697525F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75DDB-E227-3303-DB30-61A35E23C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CF5CE-AE15-4C59-BD14-A19DD8CC8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mapping logic. We’ll feed the logs into a resolver class that applies this logic.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B8B27-9FEB-C953-4B29-D9960341E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383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7198-D964-CC3C-EDB7-581CD778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221EA-1306-3A2E-6814-12CB337D9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D1FCE-0B30-0159-96B9-46903B261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add severity here so the outcome resolver knows which failures are critical. This log is also perfect for audits.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E8817-F39E-3AE1-FAA1-2CA8424E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0746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CE6B-8AA9-3CA9-6A64-D3ACB2AE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BDF00-AF6A-4ADB-B988-F94205A87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9B8D6-FF14-0A9F-8BF7-512DFD28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class abstracts the logic of turning low-level failures into meaningful outcomes. You can swap this easily if business needs change.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E982F-A7C3-27D2-0B1D-80353EE57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0220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DDBB-0869-3A55-6954-22909F04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A5358-69A2-5E0D-9949-289F01DB8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78A1C-7BD3-8A65-3575-C2BB88B45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the logic of each rule in isolation. You can do this with any test framework — we’re using </a:t>
            </a:r>
            <a:r>
              <a:rPr lang="en-US" dirty="0" err="1"/>
              <a:t>NUnit</a:t>
            </a:r>
            <a:r>
              <a:rPr lang="en-US" dirty="0"/>
              <a:t>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291D3-8068-CCA4-30D7-5D2025BF2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6401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A2D2-FEF2-E875-C445-27296F7B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C56C6-9BB3-D419-8E75-015D0A69E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A1A3E-32E0-4D87-6897-EBFA8B974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the behavior of the engine, especially when using different execution modes. In this case, we expect it to stop after the first failure.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84CA3-3896-B8E1-C2EF-013DA662B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2931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6810-EFB9-4555-717D-1893737A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F6445-905C-7053-CBF1-E167857EB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21574-55CB-A89C-6DCB-FA8751CDF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like the engine and rules, we need confidence in the resolver logic. This test proves that critical failures lead to rejection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E55B6-3492-7BC2-C2BA-4D2667D1F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2742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A249-EC59-0435-52D2-CBD753BF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30B1D-59FC-452F-A924-5C363ADD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54294-BA41-536C-958A-E99411C44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blindly trust external JSON. Validate each rule’s field, type, and operator before using it. This protects against config errors or security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2BAF2-FF4D-7CD3-CF23-3B197C67A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2583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AF93-D887-8F6C-E499-3455E2B0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5B570-8BF2-CDE1-779A-343FA75A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E7661-D964-3737-55D1-F33538293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to take it further, these are great next steps especially for real-world integration and traceability.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86C2-3B9B-6906-922E-29EC113BB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5344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246D-AA53-489A-7521-C6DF8DBE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001E-0D17-93B5-CC24-D6F7AA654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32DA-FAB6-7441-639D-57F8DFDE7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to take it further, these are great next steps especially for real-world integration and traceability.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B320-2F99-C21B-DC4B-462EA0490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976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6B5B-F5DD-48D0-9DDE-12DBFA51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0518E-0FF0-1F55-8081-BC859E3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C459D-371D-18AF-41B1-3557F9671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31CB-ED35-3074-9BAF-91848DDED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158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EC6B-51F4-4FF9-47C2-565FC50E5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9231B-DB68-CB14-4E16-A7EF202B0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0DA5-D6F3-7578-2E72-3965043F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BD34E-A9F1-77BD-44F5-8818770B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F4395-185D-503B-7277-093D411D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373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D767-2B47-B282-A8B9-1F5E6964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5871-97CC-F6B9-D959-C8DB66B94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31384-9E0B-55CC-56E7-7F4C3D2B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0C63-8765-5319-BAB0-903EC275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F71D-BB84-EE4C-BC9C-042F5651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170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E4A4-9C0F-29EC-4935-65F41671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69B1-1F34-E629-5C9A-621EEA42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68CA-2DF5-9A0B-2EC5-6F4FB1C1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D83BC-BB2E-9230-4D43-BDC2ADEE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90AA-3974-9778-9BF6-D2DFC134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255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4727-80C2-BED7-C8D4-AEAEA844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4CD0-7BD8-D1C4-8B1E-DE811BA11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87D7E-E8E5-5253-2A73-960706358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77266-2181-DA59-B14A-D01CB165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7795A-0AE7-FFE4-6224-73D4FB88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9741-CFB3-DB77-88F4-DED6635A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81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52FC-CB4B-9CA1-68D0-D8527AC7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C2772-07E5-2ABF-8A41-2E3901F25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444A3-7553-92CF-B0D3-F91CB4651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C2217-21D6-176C-4864-E5F282DAB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6A42B-F292-1689-AA7A-7585C7D8D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B90E5-2DDB-D3DC-1E65-A0B75FCD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76851-E153-0573-0579-5992BFFE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41AD5-01CA-B5AA-56B3-27C0E3B1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969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409D-B102-75AC-89F5-3CC28234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1B483-142A-40A5-6A3E-89881066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FDABD-E7DF-E6DA-2D79-1E7AD21E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4D975-D1D0-74A6-E73F-CC233B37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88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44AA2-800A-8BAD-D379-03DC0F21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3BC7E-212D-468F-EC74-16C53805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1A678-9598-7B12-6EF9-E6402DA4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18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B115-3753-9B70-1000-B0E3BA0D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3BE9C-3C59-E0B4-ACE9-0933CB74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962F6-AA24-DB8D-ACD8-68980426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8CFFE-3845-DCA9-EE47-705C065E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5DC10-6B3F-F801-4823-9DC04335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5250-3DCC-75D5-5D6C-A4A93A27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196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02DB-D175-012C-D30B-E1E23FA7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14E2-EF9B-F841-D3F1-ABCCE473B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26016-0990-F592-1329-94D10BEDD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AC5CC-7A99-CDD9-8A80-BB30C9FDD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668BB-AE8F-35EA-9EAB-F3C2CE0E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9BD69-9A43-FB29-1FF9-E6ADA5C2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6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D91D-6FA8-B086-FAC9-D37B78CF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E85E3-0653-2F13-18DA-37E00B6A8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BFF1-676D-A90A-5655-F014B6B5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DD1F-CAF5-CAF2-FCC0-7D29A277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16151-6BB1-4A97-CE1F-39BDF2AEC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069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0E4AA-BA27-A354-9027-D8B84ED02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5BDF4-E085-AAB4-4598-F30989F49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D25C-2F6C-A3EF-0BEE-14F37828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14CC2-42E0-0E6A-2C49-08D8AD68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19D3-2B19-A2F0-A925-00914345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412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08699-866E-CE2C-CB1C-234155D5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8DD56-2CB8-D24A-462F-F8B614A9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F630-9B69-1DE1-E313-F502CEF2A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C6FD3-9AEF-4591-AA33-12F3540D81C2}" type="datetimeFigureOut">
              <a:rPr lang="en-ZA" smtClean="0"/>
              <a:t>2025/09/25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3D92-27E5-2D80-6474-2C3609CA9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7CB4-F86D-A0BA-3390-73157797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7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white and yellow figure">
            <a:extLst>
              <a:ext uri="{FF2B5EF4-FFF2-40B4-BE49-F238E27FC236}">
                <a16:creationId xmlns:a16="http://schemas.microsoft.com/office/drawing/2014/main" id="{F3BE0D3B-FC64-310E-653C-F39820C85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66624A-B6AD-8129-7B6B-1843C085B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48" y="750891"/>
            <a:ext cx="12026303" cy="125681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Decisions, Testing &amp; Validation</a:t>
            </a:r>
            <a:endParaRPr lang="en-ZA" sz="4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C2D5F-E6E6-C6BB-3A84-004F82806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40" y="2214565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 Outcome to Confidence – Interpreting Results &amp; Ensuring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3CE58-2129-5518-7F9A-79256045C0F4}"/>
              </a:ext>
            </a:extLst>
          </p:cNvPr>
          <p:cNvSpPr txBox="1"/>
          <p:nvPr/>
        </p:nvSpPr>
        <p:spPr>
          <a:xfrm>
            <a:off x="203199" y="5040998"/>
            <a:ext cx="5172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Presented by: Treveshan Naidoo</a:t>
            </a:r>
          </a:p>
          <a:p>
            <a:r>
              <a:rPr lang="en-ZA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TTD Consulting Internal Learning Series</a:t>
            </a:r>
          </a:p>
        </p:txBody>
      </p:sp>
    </p:spTree>
    <p:extLst>
      <p:ext uri="{BB962C8B-B14F-4D97-AF65-F5344CB8AC3E}">
        <p14:creationId xmlns:p14="http://schemas.microsoft.com/office/powerpoint/2010/main" val="338884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047716FF-D1BD-070F-70DB-BAE97CACD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028"/>
            <a:ext cx="12307604" cy="69230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613BBD-DD38-678C-3AD4-8B25D546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</a:rPr>
              <a:t>Welcome</a:t>
            </a:r>
            <a:br>
              <a:rPr lang="en-ZA" dirty="0">
                <a:solidFill>
                  <a:schemeClr val="bg1"/>
                </a:solidFill>
              </a:rPr>
            </a:b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022B9-C514-A496-F3BB-2CE6DB4BDB28}"/>
              </a:ext>
            </a:extLst>
          </p:cNvPr>
          <p:cNvSpPr txBox="1"/>
          <p:nvPr/>
        </p:nvSpPr>
        <p:spPr>
          <a:xfrm>
            <a:off x="1838036" y="1468582"/>
            <a:ext cx="8137236" cy="14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week, we go from rule results → decisions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Then we move into testing and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Today is all about trusting your rule engine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99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ED7F-A8A6-79D1-04A3-34F95F1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82B8C6FC-4673-453F-839C-9A8585DC4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177148-7AD3-5F9C-583F-FBBCEA20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Outcomes, </a:t>
            </a:r>
            <a:b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 Just Rule Results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ED14A-E585-90EC-19CC-4C053F3E9BD9}"/>
              </a:ext>
            </a:extLst>
          </p:cNvPr>
          <p:cNvSpPr txBox="1"/>
          <p:nvPr/>
        </p:nvSpPr>
        <p:spPr>
          <a:xfrm>
            <a:off x="1832678" y="2109152"/>
            <a:ext cx="8137236" cy="235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 results are technical (true/false, messages)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 business needs clear outcomes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Approve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Reject</a:t>
            </a:r>
            <a:endParaRPr lang="en-U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9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8BED-B058-2782-12F9-3F44A49D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15D07048-FA3E-C9DB-67E1-2D6CA6C3D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28670F-2B9C-8280-337B-FB2C8450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Define </a:t>
            </a:r>
            <a:b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 Outcome &amp; Rule Severity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FC701-7E12-76E4-0ED7-2032EDC6F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047" y="2814552"/>
            <a:ext cx="683990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8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A26E-C1C1-326C-99B7-3948A7E7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364DECBB-FF0D-0706-B9F1-2D2F437C5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9385D6-6BA4-D453-224A-028D4F72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Mapping Rule Logs to Decisions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7D9CC6C-C0DB-A553-A6FB-99D62EEA7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303251"/>
              </p:ext>
            </p:extLst>
          </p:nvPr>
        </p:nvGraphicFramePr>
        <p:xfrm>
          <a:off x="2226365" y="1812971"/>
          <a:ext cx="807278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8783">
                  <a:extLst>
                    <a:ext uri="{9D8B030D-6E8A-4147-A177-3AD203B41FA5}">
                      <a16:colId xmlns:a16="http://schemas.microsoft.com/office/drawing/2014/main" val="19093032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52324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Condition</a:t>
                      </a:r>
                      <a:endParaRPr lang="en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Outcome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07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All rules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Approve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48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Some </a:t>
                      </a:r>
                      <a:r>
                        <a:rPr lang="en-ZA" b="1"/>
                        <a:t>soft</a:t>
                      </a:r>
                      <a:r>
                        <a:rPr lang="en-ZA"/>
                        <a:t> rules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Refer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9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Any </a:t>
                      </a:r>
                      <a:r>
                        <a:rPr lang="en-ZA" b="1"/>
                        <a:t>critical</a:t>
                      </a:r>
                      <a:r>
                        <a:rPr lang="en-ZA"/>
                        <a:t> rule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Reject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16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869A-01D1-9910-C294-A5D0F43D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C5CD25D5-7E15-AD8B-E3E4-3DE34647F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05FF6F-AD08-C132-73F3-4ECAD0B9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RuleExecutionLog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17D79-CABC-F89D-8311-6E93453FA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593" y="1635138"/>
            <a:ext cx="6784703" cy="32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5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FF8-9639-A579-C657-9519687C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5D4958A2-838D-FA8A-7C04-373F5D015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76A434-D430-7485-9F06-7D4796BD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RuleOutcomeResolver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6434A-F7CF-8E25-35CD-D25881B16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588" y="1495023"/>
            <a:ext cx="6867551" cy="347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6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D027-7539-766B-5692-26BED886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A3D464FE-F14B-E1EC-5D99-861895A6D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14E133-9ABE-116D-FE4D-893FAA1F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Unit Testing Rules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83C82-7B5D-0768-3A0D-77546CF39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416" y="2028629"/>
            <a:ext cx="6573167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2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384B-7B53-B9C9-3751-080966FC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03DC0D1F-725F-7AE3-0C3F-636C05C4F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EDB71-AB29-6C5C-0EA9-CD3054F7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Testing the </a:t>
            </a:r>
            <a:r>
              <a:rPr lang="en-US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RuleEngine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98FDD-76EA-8054-FB75-F56CF8C14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862" y="1520902"/>
            <a:ext cx="7463295" cy="335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85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45FF-6F61-6E17-638C-0E6AD69C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7E9BE69A-6547-7190-FB1B-B1A1581B4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67CE9-66CC-A23D-988D-623E6DD44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Testing the Resolver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C849F-89A9-91E9-6868-208FF6B7B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392" y="1518113"/>
            <a:ext cx="6437215" cy="321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6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6E33-84B1-2691-3AF3-2CACB727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F847D2A4-8A78-9F20-B161-9195D3D40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4F829E-EEA0-EA89-D8DD-F09AB828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Validating JSON Rules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F80C9-056D-5149-83DF-762637057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239" y="2300638"/>
            <a:ext cx="9545382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3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3B08-15A6-DD72-6399-81A8169B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200CDCC5-7F57-38CF-D2C3-1D838E9EA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4412F6-96F0-B12A-6D27-3C36D51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Outcome of Today’s Session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1D5AF-161A-8E08-263B-0B4689ADF174}"/>
              </a:ext>
            </a:extLst>
          </p:cNvPr>
          <p:cNvSpPr txBox="1"/>
          <p:nvPr/>
        </p:nvSpPr>
        <p:spPr>
          <a:xfrm>
            <a:off x="2318326" y="1866179"/>
            <a:ext cx="8137236" cy="235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Created 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DecisionOutcome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layer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Attached severity to rules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Resolved business decisions from rule logs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Wrote unit tests for: Rules ,Engine ,Resolver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Validated external JSON inputs</a:t>
            </a:r>
          </a:p>
        </p:txBody>
      </p:sp>
    </p:spTree>
    <p:extLst>
      <p:ext uri="{BB962C8B-B14F-4D97-AF65-F5344CB8AC3E}">
        <p14:creationId xmlns:p14="http://schemas.microsoft.com/office/powerpoint/2010/main" val="150286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E69F-1990-8DB9-0784-69CE583B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D5D01F97-A7D4-70FF-35D6-29CBB7409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3ABFF-2146-4EC5-1C86-8C3C7CCE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Optional Stretch Goals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61E40-6D0F-8796-0F95-26C00EF40776}"/>
              </a:ext>
            </a:extLst>
          </p:cNvPr>
          <p:cNvSpPr txBox="1"/>
          <p:nvPr/>
        </p:nvSpPr>
        <p:spPr>
          <a:xfrm>
            <a:off x="2318326" y="1866179"/>
            <a:ext cx="8137236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score-based decision thresholds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 final 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DecisionOutcome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DB or audit trail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 a rule validation report for JSON config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an integration test that runs full scenarios</a:t>
            </a:r>
          </a:p>
        </p:txBody>
      </p:sp>
    </p:spTree>
    <p:extLst>
      <p:ext uri="{BB962C8B-B14F-4D97-AF65-F5344CB8AC3E}">
        <p14:creationId xmlns:p14="http://schemas.microsoft.com/office/powerpoint/2010/main" val="3607287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5362-8A46-8739-C288-99599D61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C5697588-1428-B0E7-7255-2F0AE4D0A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B54737-4F5A-2131-0886-4E471233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A1F63-0C5F-4501-2E46-41F6F13DB529}"/>
              </a:ext>
            </a:extLst>
          </p:cNvPr>
          <p:cNvSpPr txBox="1"/>
          <p:nvPr/>
        </p:nvSpPr>
        <p:spPr>
          <a:xfrm>
            <a:off x="2318326" y="1866179"/>
            <a:ext cx="8137236" cy="235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Congrats on reaching Week 5!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Next step: rule grouping, composite logic, and real-world scenarios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Open discussion: how confident are you in using this for approvals, scoring, or escalation?</a:t>
            </a:r>
          </a:p>
        </p:txBody>
      </p:sp>
    </p:spTree>
    <p:extLst>
      <p:ext uri="{BB962C8B-B14F-4D97-AF65-F5344CB8AC3E}">
        <p14:creationId xmlns:p14="http://schemas.microsoft.com/office/powerpoint/2010/main" val="1259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540</Words>
  <Application>Microsoft Office PowerPoint</Application>
  <PresentationFormat>Widescreen</PresentationFormat>
  <Paragraphs>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Poppins</vt:lpstr>
      <vt:lpstr>Office Theme</vt:lpstr>
      <vt:lpstr>Decisions, Testing &amp; Validation</vt:lpstr>
      <vt:lpstr>Welcome </vt:lpstr>
      <vt:lpstr>Business Outcomes,  Not Just Rule Results</vt:lpstr>
      <vt:lpstr>Define  Decision Outcome &amp; Rule Severity</vt:lpstr>
      <vt:lpstr>Mapping Rule Logs to Decisions</vt:lpstr>
      <vt:lpstr>RuleExecutionLog</vt:lpstr>
      <vt:lpstr>RuleOutcomeResolver</vt:lpstr>
      <vt:lpstr>Unit Testing Rules</vt:lpstr>
      <vt:lpstr>Testing the RuleEngine</vt:lpstr>
      <vt:lpstr>Testing the Resolver</vt:lpstr>
      <vt:lpstr>Validating JSON Rules</vt:lpstr>
      <vt:lpstr>Outcome of Today’s Session</vt:lpstr>
      <vt:lpstr>Optional Stretch Goals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Treveshan Naidoo</dc:creator>
  <cp:lastModifiedBy>Treveshan Naidoo</cp:lastModifiedBy>
  <cp:revision>16</cp:revision>
  <dcterms:created xsi:type="dcterms:W3CDTF">2025-07-02T19:02:41Z</dcterms:created>
  <dcterms:modified xsi:type="dcterms:W3CDTF">2025-09-25T21:27:00Z</dcterms:modified>
</cp:coreProperties>
</file>